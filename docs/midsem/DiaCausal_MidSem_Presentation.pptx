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328"/>
                </a:solidFill>
                <a:latin typeface="Calibri"/>
              </a:defRPr>
            </a:pPr>
            <a:r>
              <a:rPr sz="1200" b="0" i="0" u="none" strike="noStrike">
                <a:solidFill>
                  <a:srgbClr val="1F2328"/>
                </a:solidFill>
                <a:latin typeface="Calibri"/>
              </a:rPr>
              <a:t>Bias vs truth, SGLT2i minus DPP-4i (HbA1c points)</a:t>
            </a:r>
          </a:p>
        </c:rich>
      </c:tx>
      <c:layout/>
      <c:overlay val="0"/>
    </c:title>
    <c:autoTitleDeleted val="0"/>
    <c:plotArea>
      <c:layout/>
      <c:barChart>
        <c:barDir val="col"/>
        <c:grouping val="clustered"/>
        <c:varyColors val="0"/>
        <c:ser>
          <c:idx val="0"/>
          <c:order val="0"/>
          <c:tx>
            <c:strRef>
              <c:f>Sheet1!$B$1</c:f>
              <c:strCache>
                <c:ptCount val="1"/>
                <c:pt idx="0">
                  <c:v>Bias</c:v>
                </c:pt>
              </c:strCache>
            </c:strRef>
          </c:tx>
          <c:spPr>
            <a:solidFill>
              <a:srgbClr val="1F4E9A"/>
            </a:solidFill>
            <a:effectLst/>
          </c:spPr>
          <c:invertIfNegative val="0"/>
          <c:dLbls>
            <c:numFmt formatCode="0.0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Sheet1!$A$2:$A$5</c:f>
              <c:multiLvlStrCache>
                <c:ptCount val="4"/>
                <c:lvl>
                  <c:pt idx="0">
                    <c:v>Naive</c:v>
                  </c:pt>
                  <c:pt idx="1">
                    <c:v>IPW</c:v>
                  </c:pt>
                  <c:pt idx="2">
                    <c:v>Matching</c:v>
                  </c:pt>
                  <c:pt idx="3">
                    <c:v>AIPW</c:v>
                  </c:pt>
                </c:lvl>
              </c:multiLvlStrCache>
            </c:multiLvlStrRef>
          </c:cat>
          <c:val>
            <c:numRef>
              <c:f>Sheet1!$B$2:$B$5</c:f>
              <c:numCache>
                <c:formatCode>General</c:formatCode>
                <c:ptCount val="4"/>
                <c:pt idx="0">
                  <c:v>-0.159</c:v>
                </c:pt>
                <c:pt idx="1">
                  <c:v>0.001</c:v>
                </c:pt>
                <c:pt idx="2">
                  <c:v>-0.002</c:v>
                </c:pt>
                <c:pt idx="3">
                  <c:v>0.002</c:v>
                </c:pt>
              </c:numCache>
            </c:numRef>
          </c:val>
        </c:ser>
        <c:dLbls>
          <c:numFmt formatCode="0.0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0"/>
                </a:solidFill>
                <a:latin typeface="Arial"/>
              </a:defRPr>
            </a:pPr>
            <a:endParaRPr lang="en-US"/>
          </a:p>
        </c:txPr>
        <c:crossAx val="2094734552"/>
        <c:crosses val="autoZero"/>
        <c:auto val="1"/>
        <c:lblAlgn val="ctr"/>
        <c:noMultiLvlLbl val="1"/>
      </c:catAx>
      <c:valAx>
        <c:axId val="2094734552"/>
        <c:scaling>
          <c:orientation val="minMax"/>
          <c:max val="0.05"/>
          <c:min val="-0.2"/>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Pratham. Good morning. We are Group 28. Our project is DiaCausal, a decision-support prototype for choosing the second diabetes drug after metformin. It is a research prototype for clinician evaluation, not a medical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Pratham. Our team: Pratham, Graceton, Rhian and Advik, guided by Mr. Rahul Jadhav.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Pratham. We follow the six items the department asked for, and end with what is completed and what is planned for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When metformin alone is not enough, the doctor adds a second drug. Which one helps this patient most is a what-if question. Old records mislead because doctors gave SGLT2 inhibitors to sicker patients. In this made-up example the naive difference is minus 0.425, but comparing like with like gives minus 0.15, about three times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Every request follows the same order. Safety rules first remove unsafe drugs. Then the propensity model checks if enough similar patients got each drug; if not, we say insufficient evidence. Otherwise AIPW and the DR-learner give the six-month HbA1c change with a 95 percent range. Then cost, then cited evidence, and the clinician decides. Everything is logged without patient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Advik. Six rules are never broken, and tests check each one. The strongest: safety rules always run before any estimate, and we never show drug doses.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Advik. Everything runs on an ordinary laptop, and the website runs on any phone. All software is open source and all hosting is on free tiers, so the running cost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Advik. Functional requirements say what the system does; nine of twelve are already done. Non-functional requirements say how well: safety tested automatically, under three seconds, privacy, usability score of 68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Advik. Teal is done, amber is in progress, hatched is planned. The dashed line is today's presentation. October is RAG, evaluation, the clinician review and the paper; November is exams; December is final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Graceton. The layers: the user interface on top, then accounts and the API, then safety rules, the causal engine and cost lookup, with the evidence search on the side and the audit log. The website runs the same model inside the phone, and a test proves it gives identical answers to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Graceton. Level 0: the clinician gives patient details and gets options with ranges and reasons; guideline documents feed passages; every request is recorded. Level 1 breaks this into six processes with their data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Graceton. Three actors: clinician, evaluator and administrator. The sequence shows one consultation: the API checks the rules first, then asks the causal engine, then cites evidence, logs the request and returns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Graceton. Rules live in a table, each with a source and a status. Three cut-offs are team-set and flagged for the doctor. The API takes the patient details and returns each option's estimate with its range, or insufficient evidence, with the reasons and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Much more than 25 percent is built and tested: the full causal engine with benchmark and refutation tests, a live phone website with approved accounts, and the first evidence search. 168 automated tests pass on Linux, Mac and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Two short pieces. AIPW: the outcome model makes a guess and the second term corrects it using patients who really got that drug, weighted by one over the propensity; if either model is right, the average is right. The DR-learner regresses those scores on patient details, and a robust standard error gives each patient's 95 percent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Synthetic data, so we know the truth. The naive comparison overstates SGLT2 inhibitor versus DPP-4 inhibitor by about 75 percent; the corrected methods remove almost all the bias. AIPW's 95 percent intervals contain the truth 90 to 95 percent of the time, and the DR-learner's per-patient intervals about 93 to 95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Pratham. Left: overlap — the dashed line at 0.05 is where we refuse to estimate. Middle: balance — after weighting every patient detail is below the 0.1 line. Right: each dot is a test patient; estimates lie close to the diagonal, meaning the per-patient effects are recovered.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Graceton. Three preset patients. One: a typical patient, three estimates with ranges. Two: eGFR 40 and past pancreatitis: SGLT2 inhibitor excluded in red with its source, DPP-4 inhibitor caution in amber. Three: an older patient with past hypoglycaemia: sulfonylurea shows insufficient evidence in grey. Then open the live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Advik. Completed: the whole causal engine, results, demo, API, the phone website with accounts, and the first cited evidence search. Planned for October: secondary outcomes, the RAG explanations and evaluation, integration with the chat app, the clinician review and the research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Pratham. Four points to remember: we answer a causal what-if question; safety comes first; we are honest about uncertainty and refuse to guess; and it already runs on any phone, with the clinician always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Advik. Our key references, in IEEE style; the full list of 35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Thank you. We are happy to take questions, and we can show the live website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6-1.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20040"/>
            <a:ext cx="8412480" cy="1783080"/>
          </a:xfrm>
          <a:prstGeom prst="rect">
            <a:avLst/>
          </a:prstGeom>
          <a:solidFill>
            <a:srgbClr val="FFFFFF"/>
          </a:solidFill>
          <a:ln w="12700">
            <a:solidFill>
              <a:srgbClr val="002060"/>
            </a:solidFill>
            <a:prstDash val="solid"/>
          </a:ln>
        </p:spPr>
      </p:sp>
      <p:pic>
        <p:nvPicPr>
          <p:cNvPr id="3" name="Image 0" descr="/home/user/DiaCausal-CDSS/docs/midsem/fcritlogo.jpg">    </p:cNvPr>
          <p:cNvPicPr>
            <a:picLocks noChangeAspect="1"/>
          </p:cNvPicPr>
          <p:nvPr/>
        </p:nvPicPr>
        <p:blipFill>
          <a:blip r:embed="rId1"/>
          <a:stretch>
            <a:fillRect/>
          </a:stretch>
        </p:blipFill>
        <p:spPr>
          <a:xfrm>
            <a:off x="548640" y="457200"/>
            <a:ext cx="1463040" cy="1481328"/>
          </a:xfrm>
          <a:prstGeom prst="rect">
            <a:avLst/>
          </a:prstGeom>
        </p:spPr>
      </p:pic>
      <p:sp>
        <p:nvSpPr>
          <p:cNvPr id="4" name="Text 1"/>
          <p:cNvSpPr txBox="1"/>
          <p:nvPr/>
        </p:nvSpPr>
        <p:spPr>
          <a:xfrm>
            <a:off x="2148840" y="411480"/>
            <a:ext cx="6492240" cy="1600200"/>
          </a:xfrm>
          <a:prstGeom prst="rect">
            <a:avLst/>
          </a:prstGeom>
          <a:noFill/>
          <a:ln/>
        </p:spPr>
        <p:txBody>
          <a:bodyPr wrap="square" lIns="0" tIns="0" rIns="0" bIns="0" rtlCol="0" anchor="ctr"/>
          <a:lstStyle/>
          <a:p>
            <a:pPr algn="ctr" indent="0" marL="0">
              <a:buNone/>
            </a:pPr>
            <a:r>
              <a:rPr lang="en-US" sz="1500" i="1" dirty="0">
                <a:solidFill>
                  <a:srgbClr val="1F2328"/>
                </a:solidFill>
                <a:latin typeface="Times New Roman" pitchFamily="34" charset="0"/>
                <a:ea typeface="Times New Roman" pitchFamily="34" charset="-122"/>
                <a:cs typeface="Times New Roman" pitchFamily="34" charset="-120"/>
              </a:rPr>
              <a:t>Agnel Charities'</a:t>
            </a:r>
            <a:endParaRPr lang="en-US" sz="1500" dirty="0"/>
          </a:p>
          <a:p>
            <a:pPr algn="ctr" indent="0" marL="0">
              <a:buNone/>
            </a:pPr>
            <a:r>
              <a:rPr lang="en-US" sz="2100" b="1" dirty="0">
                <a:solidFill>
                  <a:srgbClr val="1F2328"/>
                </a:solidFill>
                <a:latin typeface="Times New Roman" pitchFamily="34" charset="0"/>
                <a:ea typeface="Times New Roman" pitchFamily="34" charset="-122"/>
                <a:cs typeface="Times New Roman" pitchFamily="34" charset="-120"/>
              </a:rPr>
              <a:t>Fr. C. Rodrigues Institute of Technology, Vashi</a:t>
            </a:r>
            <a:endParaRPr lang="en-US" sz="1500" dirty="0"/>
          </a:p>
          <a:p>
            <a:pPr algn="ctr" indent="0" marL="0">
              <a:buNone/>
            </a:pPr>
            <a:r>
              <a:rPr lang="en-US" sz="1200" b="1" dirty="0">
                <a:solidFill>
                  <a:srgbClr val="C00000"/>
                </a:solidFill>
                <a:latin typeface="Times New Roman" pitchFamily="34" charset="0"/>
                <a:ea typeface="Times New Roman" pitchFamily="34" charset="-122"/>
                <a:cs typeface="Times New Roman" pitchFamily="34" charset="-120"/>
              </a:rPr>
              <a:t>(An Autonomous Institute &amp; Permanently Affiliated to University of Mumbai)</a:t>
            </a:r>
            <a:endParaRPr lang="en-US" sz="1500" dirty="0"/>
          </a:p>
          <a:p>
            <a:pPr algn="ctr" indent="0" marL="0">
              <a:buNone/>
            </a:pPr>
            <a:r>
              <a:rPr lang="en-US" sz="1500" b="1" dirty="0">
                <a:solidFill>
                  <a:srgbClr val="1F2328"/>
                </a:solidFill>
                <a:latin typeface="Times New Roman" pitchFamily="34" charset="0"/>
                <a:ea typeface="Times New Roman" pitchFamily="34" charset="-122"/>
                <a:cs typeface="Times New Roman" pitchFamily="34" charset="-120"/>
              </a:rPr>
              <a:t>Computer Engineering Department</a:t>
            </a:r>
            <a:endParaRPr lang="en-US" sz="1500" dirty="0"/>
          </a:p>
        </p:txBody>
      </p:sp>
      <p:sp>
        <p:nvSpPr>
          <p:cNvPr id="5" name="Shape 2"/>
          <p:cNvSpPr/>
          <p:nvPr/>
        </p:nvSpPr>
        <p:spPr>
          <a:xfrm>
            <a:off x="365760" y="2514600"/>
            <a:ext cx="8412480" cy="1737360"/>
          </a:xfrm>
          <a:prstGeom prst="rect">
            <a:avLst/>
          </a:prstGeom>
          <a:solidFill>
            <a:srgbClr val="002060"/>
          </a:solidFill>
          <a:ln w="12700">
            <a:solidFill>
              <a:srgbClr val="002060"/>
            </a:solidFill>
            <a:prstDash val="solid"/>
          </a:ln>
        </p:spPr>
      </p:sp>
      <p:sp>
        <p:nvSpPr>
          <p:cNvPr id="6" name="Text 3"/>
          <p:cNvSpPr txBox="1"/>
          <p:nvPr/>
        </p:nvSpPr>
        <p:spPr>
          <a:xfrm>
            <a:off x="457200" y="2560320"/>
            <a:ext cx="8229600" cy="164592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Major Project Progress Presentation-II</a:t>
            </a:r>
            <a:endParaRPr lang="en-US" sz="3000" dirty="0"/>
          </a:p>
          <a:p>
            <a:pPr algn="ctr" indent="0" marL="0">
              <a:buNone/>
            </a:pPr>
            <a:r>
              <a:rPr lang="en-US" sz="2400" dirty="0">
                <a:solidFill>
                  <a:srgbClr val="FFFFFF"/>
                </a:solidFill>
                <a:latin typeface="Times New Roman" pitchFamily="34" charset="0"/>
                <a:ea typeface="Times New Roman" pitchFamily="34" charset="-122"/>
                <a:cs typeface="Times New Roman" pitchFamily="34" charset="-120"/>
              </a:rPr>
              <a:t>B.Tech (Computer) Sem - VII</a:t>
            </a:r>
            <a:endParaRPr lang="en-US" sz="3000" dirty="0"/>
          </a:p>
        </p:txBody>
      </p:sp>
      <p:sp>
        <p:nvSpPr>
          <p:cNvPr id="7" name="Text 4"/>
          <p:cNvSpPr txBox="1"/>
          <p:nvPr/>
        </p:nvSpPr>
        <p:spPr>
          <a:xfrm>
            <a:off x="365760" y="4480560"/>
            <a:ext cx="8412480" cy="731520"/>
          </a:xfrm>
          <a:prstGeom prst="rect">
            <a:avLst/>
          </a:prstGeom>
          <a:noFill/>
          <a:ln/>
        </p:spPr>
        <p:txBody>
          <a:bodyPr wrap="square" lIns="0" tIns="0" rIns="0" bIns="0" rtlCol="0" anchor="ctr"/>
          <a:lstStyle/>
          <a:p>
            <a:pPr algn="ctr" indent="0" marL="0">
              <a:buNone/>
            </a:pPr>
            <a:r>
              <a:rPr lang="en-US" sz="3600" b="1" dirty="0">
                <a:solidFill>
                  <a:srgbClr val="7F7F7F"/>
                </a:solidFill>
                <a:latin typeface="Times New Roman" pitchFamily="34" charset="0"/>
                <a:ea typeface="Times New Roman" pitchFamily="34" charset="-122"/>
                <a:cs typeface="Times New Roman" pitchFamily="34" charset="-120"/>
              </a:rPr>
              <a:t>2026-27</a:t>
            </a:r>
            <a:endParaRPr lang="en-US" sz="3600" dirty="0"/>
          </a:p>
        </p:txBody>
      </p:sp>
      <p:sp>
        <p:nvSpPr>
          <p:cNvPr id="8" name="Text 5"/>
          <p:cNvSpPr txBox="1"/>
          <p:nvPr/>
        </p:nvSpPr>
        <p:spPr>
          <a:xfrm>
            <a:off x="548640" y="5394960"/>
            <a:ext cx="8046720" cy="548640"/>
          </a:xfrm>
          <a:prstGeom prst="rect">
            <a:avLst/>
          </a:prstGeom>
          <a:noFill/>
          <a:ln/>
        </p:spPr>
        <p:txBody>
          <a:bodyPr wrap="square" lIns="0" tIns="0" rIns="0" bIns="0" rtlCol="0" anchor="ctr"/>
          <a:lstStyle/>
          <a:p>
            <a:pPr algn="ctr" indent="0" marL="0">
              <a:buNone/>
            </a:pPr>
            <a:r>
              <a:rPr lang="en-US" sz="1600" dirty="0">
                <a:solidFill>
                  <a:srgbClr val="002060"/>
                </a:solidFill>
                <a:latin typeface="Calibri" pitchFamily="34" charset="0"/>
                <a:ea typeface="Calibri" pitchFamily="34" charset="-122"/>
                <a:cs typeface="Calibri" pitchFamily="34" charset="-120"/>
              </a:rPr>
              <a:t>DiaCausal: Intelligent Diabetes Clinical Decision Support System using Causal Inference and RAG</a:t>
            </a:r>
            <a:endParaRPr lang="en-US" sz="1600" dirty="0"/>
          </a:p>
        </p:txBody>
      </p:sp>
      <p:sp>
        <p:nvSpPr>
          <p:cNvPr id="9" name="Text 6"/>
          <p:cNvSpPr txBox="1"/>
          <p:nvPr/>
        </p:nvSpPr>
        <p:spPr>
          <a:xfrm>
            <a:off x="548640" y="6035040"/>
            <a:ext cx="8046720" cy="457200"/>
          </a:xfrm>
          <a:prstGeom prst="rect">
            <a:avLst/>
          </a:prstGeom>
          <a:noFill/>
          <a:ln/>
        </p:spPr>
        <p:txBody>
          <a:bodyPr wrap="square" lIns="0" tIns="0" rIns="0" bIns="0" rtlCol="0" anchor="ctr"/>
          <a:lstStyle/>
          <a:p>
            <a:pPr algn="ctr" indent="0" marL="0">
              <a:buNone/>
            </a:pPr>
            <a:r>
              <a:rPr lang="en-US" sz="1100" i="1" dirty="0">
                <a:solidFill>
                  <a:srgbClr val="5B6470"/>
                </a:solidFill>
                <a:latin typeface="Calibri" pitchFamily="34" charset="0"/>
                <a:ea typeface="Calibri" pitchFamily="34" charset="-122"/>
                <a:cs typeface="Calibri" pitchFamily="34" charset="-120"/>
              </a:rPr>
              <a:t>Research prototype for clinician evaluation; not a marketed medical device; not for unsupervised clinical use.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737360"/>
          </a:xfrm>
          <a:prstGeom prst="rect">
            <a:avLst/>
          </a:prstGeom>
          <a:solidFill>
            <a:srgbClr val="002060"/>
          </a:solidFill>
          <a:ln w="12700">
            <a:solidFill>
              <a:srgbClr val="002060"/>
            </a:solidFill>
            <a:prstDash val="solid"/>
          </a:ln>
        </p:spPr>
      </p:sp>
      <p:sp>
        <p:nvSpPr>
          <p:cNvPr id="3" name="Text 1"/>
          <p:cNvSpPr txBox="1"/>
          <p:nvPr/>
        </p:nvSpPr>
        <p:spPr>
          <a:xfrm>
            <a:off x="365760" y="182880"/>
            <a:ext cx="7589520" cy="1371600"/>
          </a:xfrm>
          <a:prstGeom prst="rect">
            <a:avLst/>
          </a:prstGeom>
          <a:noFill/>
          <a:ln/>
        </p:spPr>
        <p:txBody>
          <a:bodyPr wrap="square" lIns="0" tIns="0" rIns="0" bIns="0" rtlCol="0" anchor="ctr"/>
          <a:lstStyle/>
          <a:p>
            <a:pPr indent="0" marL="0">
              <a:buNone/>
            </a:pPr>
            <a:r>
              <a:rPr lang="en-US" sz="2600" b="1" dirty="0">
                <a:solidFill>
                  <a:srgbClr val="FFFFFF"/>
                </a:solidFill>
                <a:latin typeface="Times New Roman" pitchFamily="34" charset="0"/>
                <a:ea typeface="Times New Roman" pitchFamily="34" charset="-122"/>
                <a:cs typeface="Times New Roman" pitchFamily="34" charset="-120"/>
              </a:rPr>
              <a:t>Intelligent Diabetes Clinical Decision Support System using Causal Inference and RAG</a:t>
            </a:r>
            <a:endParaRPr lang="en-US" sz="2600" dirty="0"/>
          </a:p>
        </p:txBody>
      </p:sp>
      <p:pic>
        <p:nvPicPr>
          <p:cNvPr id="4" name="Image 0" descr="/home/user/DiaCausal-CDSS/docs/midsem/fcritlogo.jpg">    </p:cNvPr>
          <p:cNvPicPr>
            <a:picLocks noChangeAspect="1"/>
          </p:cNvPicPr>
          <p:nvPr/>
        </p:nvPicPr>
        <p:blipFill>
          <a:blip r:embed="rId1"/>
          <a:stretch>
            <a:fillRect/>
          </a:stretch>
        </p:blipFill>
        <p:spPr>
          <a:xfrm>
            <a:off x="8092440" y="457200"/>
            <a:ext cx="822960" cy="832104"/>
          </a:xfrm>
          <a:prstGeom prst="rect">
            <a:avLst/>
          </a:prstGeom>
        </p:spPr>
      </p:pic>
      <p:sp>
        <p:nvSpPr>
          <p:cNvPr id="5" name="Text 2"/>
          <p:cNvSpPr txBox="1"/>
          <p:nvPr/>
        </p:nvSpPr>
        <p:spPr>
          <a:xfrm>
            <a:off x="548640" y="2057400"/>
            <a:ext cx="8046720" cy="502920"/>
          </a:xfrm>
          <a:prstGeom prst="rect">
            <a:avLst/>
          </a:prstGeom>
          <a:noFill/>
          <a:ln/>
        </p:spPr>
        <p:txBody>
          <a:bodyPr wrap="square" lIns="0" tIns="0" rIns="0" bIns="0" rtlCol="0" anchor="ctr"/>
          <a:lstStyle/>
          <a:p>
            <a:pPr indent="0" marL="0">
              <a:buNone/>
            </a:pPr>
            <a:r>
              <a:rPr lang="en-US" sz="2400" b="1" dirty="0">
                <a:solidFill>
                  <a:srgbClr val="002060"/>
                </a:solidFill>
                <a:latin typeface="Times New Roman" pitchFamily="34" charset="0"/>
                <a:ea typeface="Times New Roman" pitchFamily="34" charset="-122"/>
                <a:cs typeface="Times New Roman" pitchFamily="34" charset="-120"/>
              </a:rPr>
              <a:t>Group No. 28</a:t>
            </a:r>
            <a:endParaRPr lang="en-US" sz="2400" dirty="0"/>
          </a:p>
        </p:txBody>
      </p:sp>
      <p:sp>
        <p:nvSpPr>
          <p:cNvPr id="6" name="Shape 3"/>
          <p:cNvSpPr/>
          <p:nvPr/>
        </p:nvSpPr>
        <p:spPr>
          <a:xfrm>
            <a:off x="548640" y="2788920"/>
            <a:ext cx="3840480" cy="777240"/>
          </a:xfrm>
          <a:prstGeom prst="roundRect">
            <a:avLst>
              <a:gd name="adj" fmla="val 9412"/>
            </a:avLst>
          </a:prstGeom>
          <a:solidFill>
            <a:srgbClr val="EEF2F8"/>
          </a:solidFill>
          <a:ln w="9525">
            <a:solidFill>
              <a:srgbClr val="C9D2E3"/>
            </a:solidFill>
            <a:prstDash val="solid"/>
          </a:ln>
        </p:spPr>
      </p:sp>
      <p:sp>
        <p:nvSpPr>
          <p:cNvPr id="7" name="Text 4"/>
          <p:cNvSpPr txBox="1"/>
          <p:nvPr/>
        </p:nvSpPr>
        <p:spPr>
          <a:xfrm>
            <a:off x="731520" y="2788920"/>
            <a:ext cx="3474720" cy="777240"/>
          </a:xfrm>
          <a:prstGeom prst="rect">
            <a:avLst/>
          </a:prstGeom>
          <a:noFill/>
          <a:ln/>
        </p:spPr>
        <p:txBody>
          <a:bodyPr wrap="square" lIns="0" tIns="0" rIns="0" bIns="0" rtlCol="0" anchor="ctr"/>
          <a:lstStyle/>
          <a:p>
            <a:pPr indent="0" marL="0">
              <a:buNone/>
            </a:pPr>
            <a:r>
              <a:rPr lang="en-US" sz="1900" b="1" dirty="0">
                <a:solidFill>
                  <a:srgbClr val="1F2328"/>
                </a:solidFill>
                <a:latin typeface="Calibri" pitchFamily="34" charset="0"/>
                <a:ea typeface="Calibri" pitchFamily="34" charset="-122"/>
                <a:cs typeface="Calibri" pitchFamily="34" charset="-120"/>
              </a:rPr>
              <a:t>Pratham Pawar</a:t>
            </a:r>
            <a:endParaRPr lang="en-US" sz="1900" dirty="0"/>
          </a:p>
          <a:p>
            <a:pPr indent="0" marL="0">
              <a:buNone/>
            </a:pPr>
            <a:r>
              <a:rPr lang="en-US" sz="1300" dirty="0">
                <a:solidFill>
                  <a:srgbClr val="5B6470"/>
                </a:solidFill>
                <a:latin typeface="Calibri" pitchFamily="34" charset="0"/>
                <a:ea typeface="Calibri" pitchFamily="34" charset="-122"/>
                <a:cs typeface="Calibri" pitchFamily="34" charset="-120"/>
              </a:rPr>
              <a:t>Roll no. 1023226</a:t>
            </a:r>
            <a:endParaRPr lang="en-US" sz="1900" dirty="0"/>
          </a:p>
        </p:txBody>
      </p:sp>
      <p:sp>
        <p:nvSpPr>
          <p:cNvPr id="8" name="Shape 5"/>
          <p:cNvSpPr/>
          <p:nvPr/>
        </p:nvSpPr>
        <p:spPr>
          <a:xfrm>
            <a:off x="4663440" y="2788920"/>
            <a:ext cx="3840480" cy="777240"/>
          </a:xfrm>
          <a:prstGeom prst="roundRect">
            <a:avLst>
              <a:gd name="adj" fmla="val 9412"/>
            </a:avLst>
          </a:prstGeom>
          <a:solidFill>
            <a:srgbClr val="EEF2F8"/>
          </a:solidFill>
          <a:ln w="9525">
            <a:solidFill>
              <a:srgbClr val="C9D2E3"/>
            </a:solidFill>
            <a:prstDash val="solid"/>
          </a:ln>
        </p:spPr>
      </p:sp>
      <p:sp>
        <p:nvSpPr>
          <p:cNvPr id="9" name="Text 6"/>
          <p:cNvSpPr txBox="1"/>
          <p:nvPr/>
        </p:nvSpPr>
        <p:spPr>
          <a:xfrm>
            <a:off x="4846320" y="2788920"/>
            <a:ext cx="3474720" cy="777240"/>
          </a:xfrm>
          <a:prstGeom prst="rect">
            <a:avLst/>
          </a:prstGeom>
          <a:noFill/>
          <a:ln/>
        </p:spPr>
        <p:txBody>
          <a:bodyPr wrap="square" lIns="0" tIns="0" rIns="0" bIns="0" rtlCol="0" anchor="ctr"/>
          <a:lstStyle/>
          <a:p>
            <a:pPr indent="0" marL="0">
              <a:buNone/>
            </a:pPr>
            <a:r>
              <a:rPr lang="en-US" sz="1900" b="1" dirty="0">
                <a:solidFill>
                  <a:srgbClr val="1F2328"/>
                </a:solidFill>
                <a:latin typeface="Calibri" pitchFamily="34" charset="0"/>
                <a:ea typeface="Calibri" pitchFamily="34" charset="-122"/>
                <a:cs typeface="Calibri" pitchFamily="34" charset="-120"/>
              </a:rPr>
              <a:t>Graceton Santhmayor</a:t>
            </a:r>
            <a:endParaRPr lang="en-US" sz="1900" dirty="0"/>
          </a:p>
          <a:p>
            <a:pPr indent="0" marL="0">
              <a:buNone/>
            </a:pPr>
            <a:r>
              <a:rPr lang="en-US" sz="1300" dirty="0">
                <a:solidFill>
                  <a:srgbClr val="5B6470"/>
                </a:solidFill>
                <a:latin typeface="Calibri" pitchFamily="34" charset="0"/>
                <a:ea typeface="Calibri" pitchFamily="34" charset="-122"/>
                <a:cs typeface="Calibri" pitchFamily="34" charset="-120"/>
              </a:rPr>
              <a:t>Roll no. 1022246</a:t>
            </a:r>
            <a:endParaRPr lang="en-US" sz="1900" dirty="0"/>
          </a:p>
        </p:txBody>
      </p:sp>
      <p:sp>
        <p:nvSpPr>
          <p:cNvPr id="10" name="Shape 7"/>
          <p:cNvSpPr/>
          <p:nvPr/>
        </p:nvSpPr>
        <p:spPr>
          <a:xfrm>
            <a:off x="548640" y="3749040"/>
            <a:ext cx="3840480" cy="777240"/>
          </a:xfrm>
          <a:prstGeom prst="roundRect">
            <a:avLst>
              <a:gd name="adj" fmla="val 9412"/>
            </a:avLst>
          </a:prstGeom>
          <a:solidFill>
            <a:srgbClr val="EEF2F8"/>
          </a:solidFill>
          <a:ln w="9525">
            <a:solidFill>
              <a:srgbClr val="C9D2E3"/>
            </a:solidFill>
            <a:prstDash val="solid"/>
          </a:ln>
        </p:spPr>
      </p:sp>
      <p:sp>
        <p:nvSpPr>
          <p:cNvPr id="11" name="Text 8"/>
          <p:cNvSpPr txBox="1"/>
          <p:nvPr/>
        </p:nvSpPr>
        <p:spPr>
          <a:xfrm>
            <a:off x="731520" y="3749040"/>
            <a:ext cx="3474720" cy="777240"/>
          </a:xfrm>
          <a:prstGeom prst="rect">
            <a:avLst/>
          </a:prstGeom>
          <a:noFill/>
          <a:ln/>
        </p:spPr>
        <p:txBody>
          <a:bodyPr wrap="square" lIns="0" tIns="0" rIns="0" bIns="0" rtlCol="0" anchor="ctr"/>
          <a:lstStyle/>
          <a:p>
            <a:pPr indent="0" marL="0">
              <a:buNone/>
            </a:pPr>
            <a:r>
              <a:rPr lang="en-US" sz="1900" b="1" dirty="0">
                <a:solidFill>
                  <a:srgbClr val="1F2328"/>
                </a:solidFill>
                <a:latin typeface="Calibri" pitchFamily="34" charset="0"/>
                <a:ea typeface="Calibri" pitchFamily="34" charset="-122"/>
                <a:cs typeface="Calibri" pitchFamily="34" charset="-120"/>
              </a:rPr>
              <a:t>Rhian Roy Kuttikadan</a:t>
            </a:r>
            <a:endParaRPr lang="en-US" sz="1900" dirty="0"/>
          </a:p>
          <a:p>
            <a:pPr indent="0" marL="0">
              <a:buNone/>
            </a:pPr>
            <a:r>
              <a:rPr lang="en-US" sz="1300" dirty="0">
                <a:solidFill>
                  <a:srgbClr val="5B6470"/>
                </a:solidFill>
                <a:latin typeface="Calibri" pitchFamily="34" charset="0"/>
                <a:ea typeface="Calibri" pitchFamily="34" charset="-122"/>
                <a:cs typeface="Calibri" pitchFamily="34" charset="-120"/>
              </a:rPr>
              <a:t>Roll no. 1023268</a:t>
            </a:r>
            <a:endParaRPr lang="en-US" sz="1900" dirty="0"/>
          </a:p>
        </p:txBody>
      </p:sp>
      <p:sp>
        <p:nvSpPr>
          <p:cNvPr id="12" name="Shape 9"/>
          <p:cNvSpPr/>
          <p:nvPr/>
        </p:nvSpPr>
        <p:spPr>
          <a:xfrm>
            <a:off x="4663440" y="3749040"/>
            <a:ext cx="3840480" cy="777240"/>
          </a:xfrm>
          <a:prstGeom prst="roundRect">
            <a:avLst>
              <a:gd name="adj" fmla="val 9412"/>
            </a:avLst>
          </a:prstGeom>
          <a:solidFill>
            <a:srgbClr val="EEF2F8"/>
          </a:solidFill>
          <a:ln w="9525">
            <a:solidFill>
              <a:srgbClr val="C9D2E3"/>
            </a:solidFill>
            <a:prstDash val="solid"/>
          </a:ln>
        </p:spPr>
      </p:sp>
      <p:sp>
        <p:nvSpPr>
          <p:cNvPr id="13" name="Text 10"/>
          <p:cNvSpPr txBox="1"/>
          <p:nvPr/>
        </p:nvSpPr>
        <p:spPr>
          <a:xfrm>
            <a:off x="4846320" y="3749040"/>
            <a:ext cx="3474720" cy="777240"/>
          </a:xfrm>
          <a:prstGeom prst="rect">
            <a:avLst/>
          </a:prstGeom>
          <a:noFill/>
          <a:ln/>
        </p:spPr>
        <p:txBody>
          <a:bodyPr wrap="square" lIns="0" tIns="0" rIns="0" bIns="0" rtlCol="0" anchor="ctr"/>
          <a:lstStyle/>
          <a:p>
            <a:pPr indent="0" marL="0">
              <a:buNone/>
            </a:pPr>
            <a:r>
              <a:rPr lang="en-US" sz="1900" b="1" dirty="0">
                <a:solidFill>
                  <a:srgbClr val="1F2328"/>
                </a:solidFill>
                <a:latin typeface="Calibri" pitchFamily="34" charset="0"/>
                <a:ea typeface="Calibri" pitchFamily="34" charset="-122"/>
                <a:cs typeface="Calibri" pitchFamily="34" charset="-120"/>
              </a:rPr>
              <a:t>Advik Saxena</a:t>
            </a:r>
            <a:endParaRPr lang="en-US" sz="1900" dirty="0"/>
          </a:p>
          <a:p>
            <a:pPr indent="0" marL="0">
              <a:buNone/>
            </a:pPr>
            <a:r>
              <a:rPr lang="en-US" sz="1300" dirty="0">
                <a:solidFill>
                  <a:srgbClr val="5B6470"/>
                </a:solidFill>
                <a:latin typeface="Calibri" pitchFamily="34" charset="0"/>
                <a:ea typeface="Calibri" pitchFamily="34" charset="-122"/>
                <a:cs typeface="Calibri" pitchFamily="34" charset="-120"/>
              </a:rPr>
              <a:t>Roll no. 1023245</a:t>
            </a:r>
            <a:endParaRPr lang="en-US" sz="1900" dirty="0"/>
          </a:p>
        </p:txBody>
      </p:sp>
      <p:sp>
        <p:nvSpPr>
          <p:cNvPr id="14" name="Text 11"/>
          <p:cNvSpPr txBox="1"/>
          <p:nvPr/>
        </p:nvSpPr>
        <p:spPr>
          <a:xfrm>
            <a:off x="548640" y="4892040"/>
            <a:ext cx="8046720" cy="502920"/>
          </a:xfrm>
          <a:prstGeom prst="rect">
            <a:avLst/>
          </a:prstGeom>
          <a:noFill/>
          <a:ln/>
        </p:spPr>
        <p:txBody>
          <a:bodyPr wrap="square" lIns="0" tIns="0" rIns="0" bIns="0" rtlCol="0" anchor="ctr"/>
          <a:lstStyle/>
          <a:p>
            <a:pPr indent="0" marL="0">
              <a:buNone/>
            </a:pPr>
            <a:r>
              <a:rPr lang="en-US" sz="2100" b="1" dirty="0">
                <a:solidFill>
                  <a:srgbClr val="002060"/>
                </a:solidFill>
                <a:latin typeface="Calibri" pitchFamily="34" charset="0"/>
                <a:ea typeface="Calibri" pitchFamily="34" charset="-122"/>
                <a:cs typeface="Calibri" pitchFamily="34" charset="-120"/>
              </a:rPr>
              <a:t>Guide: </a:t>
            </a:r>
            <a:pPr indent="0" marL="0">
              <a:buNone/>
            </a:pPr>
            <a:r>
              <a:rPr lang="en-US" sz="2100" dirty="0">
                <a:solidFill>
                  <a:srgbClr val="1F2328"/>
                </a:solidFill>
                <a:latin typeface="Calibri" pitchFamily="34" charset="0"/>
                <a:ea typeface="Calibri" pitchFamily="34" charset="-122"/>
                <a:cs typeface="Calibri" pitchFamily="34" charset="-120"/>
              </a:rPr>
              <a:t>Mr. Rahul Jadhav</a:t>
            </a:r>
            <a:endParaRPr lang="en-US" sz="2100" dirty="0"/>
          </a:p>
        </p:txBody>
      </p:sp>
      <p:sp>
        <p:nvSpPr>
          <p:cNvPr id="15" name="Text 12"/>
          <p:cNvSpPr txBox="1"/>
          <p:nvPr/>
        </p:nvSpPr>
        <p:spPr>
          <a:xfrm>
            <a:off x="548640" y="5669280"/>
            <a:ext cx="8046720" cy="365760"/>
          </a:xfrm>
          <a:prstGeom prst="rect">
            <a:avLst/>
          </a:prstGeom>
          <a:noFill/>
          <a:ln/>
        </p:spPr>
        <p:txBody>
          <a:bodyPr wrap="square" lIns="0" tIns="0" rIns="0" bIns="0" rtlCol="0" anchor="ctr"/>
          <a:lstStyle/>
          <a:p>
            <a:pPr indent="0" marL="0">
              <a:buNone/>
            </a:pPr>
            <a:r>
              <a:rPr lang="en-US" sz="1300" dirty="0">
                <a:solidFill>
                  <a:srgbClr val="5B6470"/>
                </a:solidFill>
                <a:latin typeface="Calibri" pitchFamily="34" charset="0"/>
                <a:ea typeface="Calibri" pitchFamily="34" charset="-122"/>
                <a:cs typeface="Calibri" pitchFamily="34" charset="-120"/>
              </a:rPr>
              <a:t>Department of Computer Engineering · Fr. C. Rodrigues Institute of Technology, Vashi · 2026–27</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Presentation Outline</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Pratham</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3</a:t>
            </a:r>
            <a:endParaRPr lang="en-US" sz="1000" dirty="0"/>
          </a:p>
        </p:txBody>
      </p:sp>
      <p:sp>
        <p:nvSpPr>
          <p:cNvPr id="8" name="Shape 4"/>
          <p:cNvSpPr/>
          <p:nvPr/>
        </p:nvSpPr>
        <p:spPr>
          <a:xfrm>
            <a:off x="502920" y="1234440"/>
            <a:ext cx="3977640" cy="1234440"/>
          </a:xfrm>
          <a:prstGeom prst="roundRect">
            <a:avLst>
              <a:gd name="adj" fmla="val 5926"/>
            </a:avLst>
          </a:prstGeom>
          <a:solidFill>
            <a:srgbClr val="EEF2F8"/>
          </a:solidFill>
          <a:ln w="9525">
            <a:solidFill>
              <a:srgbClr val="C9D2E3"/>
            </a:solidFill>
            <a:prstDash val="solid"/>
          </a:ln>
        </p:spPr>
      </p:sp>
      <p:sp>
        <p:nvSpPr>
          <p:cNvPr id="9" name="Shape 5"/>
          <p:cNvSpPr/>
          <p:nvPr/>
        </p:nvSpPr>
        <p:spPr>
          <a:xfrm>
            <a:off x="704088" y="1554480"/>
            <a:ext cx="603504" cy="603504"/>
          </a:xfrm>
          <a:prstGeom prst="ellipse">
            <a:avLst/>
          </a:prstGeom>
          <a:solidFill>
            <a:srgbClr val="002060"/>
          </a:solidFill>
          <a:ln w="12700">
            <a:solidFill>
              <a:srgbClr val="002060"/>
            </a:solidFill>
            <a:prstDash val="solid"/>
          </a:ln>
        </p:spPr>
      </p:sp>
      <p:sp>
        <p:nvSpPr>
          <p:cNvPr id="10" name="Text 6"/>
          <p:cNvSpPr txBox="1"/>
          <p:nvPr/>
        </p:nvSpPr>
        <p:spPr>
          <a:xfrm>
            <a:off x="704088" y="155448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7"/>
          <p:cNvSpPr txBox="1"/>
          <p:nvPr/>
        </p:nvSpPr>
        <p:spPr>
          <a:xfrm>
            <a:off x="1463040" y="1234440"/>
            <a:ext cx="2880360" cy="12344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Proposed System</a:t>
            </a:r>
            <a:endParaRPr lang="en-US" sz="1700" dirty="0"/>
          </a:p>
          <a:p>
            <a:pPr indent="0" marL="0">
              <a:buNone/>
            </a:pPr>
            <a:r>
              <a:rPr lang="en-US" sz="1200" dirty="0">
                <a:solidFill>
                  <a:srgbClr val="5B6470"/>
                </a:solidFill>
                <a:latin typeface="Calibri" pitchFamily="34" charset="0"/>
                <a:ea typeface="Calibri" pitchFamily="34" charset="-122"/>
                <a:cs typeface="Calibri" pitchFamily="34" charset="-120"/>
              </a:rPr>
              <a:t>slides 4–6</a:t>
            </a:r>
            <a:endParaRPr lang="en-US" sz="1700" dirty="0"/>
          </a:p>
        </p:txBody>
      </p:sp>
      <p:sp>
        <p:nvSpPr>
          <p:cNvPr id="12" name="Shape 8"/>
          <p:cNvSpPr/>
          <p:nvPr/>
        </p:nvSpPr>
        <p:spPr>
          <a:xfrm>
            <a:off x="4663440" y="1234440"/>
            <a:ext cx="3977640" cy="1234440"/>
          </a:xfrm>
          <a:prstGeom prst="roundRect">
            <a:avLst>
              <a:gd name="adj" fmla="val 5926"/>
            </a:avLst>
          </a:prstGeom>
          <a:solidFill>
            <a:srgbClr val="EEF2F8"/>
          </a:solidFill>
          <a:ln w="9525">
            <a:solidFill>
              <a:srgbClr val="C9D2E3"/>
            </a:solidFill>
            <a:prstDash val="solid"/>
          </a:ln>
        </p:spPr>
      </p:sp>
      <p:sp>
        <p:nvSpPr>
          <p:cNvPr id="13" name="Shape 9"/>
          <p:cNvSpPr/>
          <p:nvPr/>
        </p:nvSpPr>
        <p:spPr>
          <a:xfrm>
            <a:off x="4864608" y="1554480"/>
            <a:ext cx="603504" cy="603504"/>
          </a:xfrm>
          <a:prstGeom prst="ellipse">
            <a:avLst/>
          </a:prstGeom>
          <a:solidFill>
            <a:srgbClr val="002060"/>
          </a:solidFill>
          <a:ln w="12700">
            <a:solidFill>
              <a:srgbClr val="002060"/>
            </a:solidFill>
            <a:prstDash val="solid"/>
          </a:ln>
        </p:spPr>
      </p:sp>
      <p:sp>
        <p:nvSpPr>
          <p:cNvPr id="14" name="Text 10"/>
          <p:cNvSpPr txBox="1"/>
          <p:nvPr/>
        </p:nvSpPr>
        <p:spPr>
          <a:xfrm>
            <a:off x="4864608" y="155448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1"/>
          <p:cNvSpPr txBox="1"/>
          <p:nvPr/>
        </p:nvSpPr>
        <p:spPr>
          <a:xfrm>
            <a:off x="5623560" y="1234440"/>
            <a:ext cx="2880360" cy="12344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Hardware &amp; Software Requirements</a:t>
            </a:r>
            <a:endParaRPr lang="en-US" sz="1700" dirty="0"/>
          </a:p>
          <a:p>
            <a:pPr indent="0" marL="0">
              <a:buNone/>
            </a:pPr>
            <a:r>
              <a:rPr lang="en-US" sz="1200" dirty="0">
                <a:solidFill>
                  <a:srgbClr val="5B6470"/>
                </a:solidFill>
                <a:latin typeface="Calibri" pitchFamily="34" charset="0"/>
                <a:ea typeface="Calibri" pitchFamily="34" charset="-122"/>
                <a:cs typeface="Calibri" pitchFamily="34" charset="-120"/>
              </a:rPr>
              <a:t>slides 7–8</a:t>
            </a:r>
            <a:endParaRPr lang="en-US" sz="1700" dirty="0"/>
          </a:p>
        </p:txBody>
      </p:sp>
      <p:sp>
        <p:nvSpPr>
          <p:cNvPr id="16" name="Shape 12"/>
          <p:cNvSpPr/>
          <p:nvPr/>
        </p:nvSpPr>
        <p:spPr>
          <a:xfrm>
            <a:off x="502920" y="2651760"/>
            <a:ext cx="3977640" cy="1234440"/>
          </a:xfrm>
          <a:prstGeom prst="roundRect">
            <a:avLst>
              <a:gd name="adj" fmla="val 5926"/>
            </a:avLst>
          </a:prstGeom>
          <a:solidFill>
            <a:srgbClr val="EEF2F8"/>
          </a:solidFill>
          <a:ln w="9525">
            <a:solidFill>
              <a:srgbClr val="C9D2E3"/>
            </a:solidFill>
            <a:prstDash val="solid"/>
          </a:ln>
        </p:spPr>
      </p:sp>
      <p:sp>
        <p:nvSpPr>
          <p:cNvPr id="17" name="Shape 13"/>
          <p:cNvSpPr/>
          <p:nvPr/>
        </p:nvSpPr>
        <p:spPr>
          <a:xfrm>
            <a:off x="704088" y="2971800"/>
            <a:ext cx="603504" cy="603504"/>
          </a:xfrm>
          <a:prstGeom prst="ellipse">
            <a:avLst/>
          </a:prstGeom>
          <a:solidFill>
            <a:srgbClr val="002060"/>
          </a:solidFill>
          <a:ln w="12700">
            <a:solidFill>
              <a:srgbClr val="002060"/>
            </a:solidFill>
            <a:prstDash val="solid"/>
          </a:ln>
        </p:spPr>
      </p:sp>
      <p:sp>
        <p:nvSpPr>
          <p:cNvPr id="18" name="Text 14"/>
          <p:cNvSpPr txBox="1"/>
          <p:nvPr/>
        </p:nvSpPr>
        <p:spPr>
          <a:xfrm>
            <a:off x="704088" y="297180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5"/>
          <p:cNvSpPr txBox="1"/>
          <p:nvPr/>
        </p:nvSpPr>
        <p:spPr>
          <a:xfrm>
            <a:off x="1463040" y="2651760"/>
            <a:ext cx="2880360" cy="12344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Timeline / Gantt Chart</a:t>
            </a:r>
            <a:endParaRPr lang="en-US" sz="1700" dirty="0"/>
          </a:p>
          <a:p>
            <a:pPr indent="0" marL="0">
              <a:buNone/>
            </a:pPr>
            <a:r>
              <a:rPr lang="en-US" sz="1200" dirty="0">
                <a:solidFill>
                  <a:srgbClr val="5B6470"/>
                </a:solidFill>
                <a:latin typeface="Calibri" pitchFamily="34" charset="0"/>
                <a:ea typeface="Calibri" pitchFamily="34" charset="-122"/>
                <a:cs typeface="Calibri" pitchFamily="34" charset="-120"/>
              </a:rPr>
              <a:t>slide 9</a:t>
            </a:r>
            <a:endParaRPr lang="en-US" sz="1700" dirty="0"/>
          </a:p>
        </p:txBody>
      </p:sp>
      <p:sp>
        <p:nvSpPr>
          <p:cNvPr id="20" name="Shape 16"/>
          <p:cNvSpPr/>
          <p:nvPr/>
        </p:nvSpPr>
        <p:spPr>
          <a:xfrm>
            <a:off x="4663440" y="2651760"/>
            <a:ext cx="3977640" cy="1234440"/>
          </a:xfrm>
          <a:prstGeom prst="roundRect">
            <a:avLst>
              <a:gd name="adj" fmla="val 5926"/>
            </a:avLst>
          </a:prstGeom>
          <a:solidFill>
            <a:srgbClr val="EEF2F8"/>
          </a:solidFill>
          <a:ln w="9525">
            <a:solidFill>
              <a:srgbClr val="C9D2E3"/>
            </a:solidFill>
            <a:prstDash val="solid"/>
          </a:ln>
        </p:spPr>
      </p:sp>
      <p:sp>
        <p:nvSpPr>
          <p:cNvPr id="21" name="Shape 17"/>
          <p:cNvSpPr/>
          <p:nvPr/>
        </p:nvSpPr>
        <p:spPr>
          <a:xfrm>
            <a:off x="4864608" y="2971800"/>
            <a:ext cx="603504" cy="603504"/>
          </a:xfrm>
          <a:prstGeom prst="ellipse">
            <a:avLst/>
          </a:prstGeom>
          <a:solidFill>
            <a:srgbClr val="002060"/>
          </a:solidFill>
          <a:ln w="12700">
            <a:solidFill>
              <a:srgbClr val="002060"/>
            </a:solidFill>
            <a:prstDash val="solid"/>
          </a:ln>
        </p:spPr>
      </p:sp>
      <p:sp>
        <p:nvSpPr>
          <p:cNvPr id="22" name="Text 18"/>
          <p:cNvSpPr txBox="1"/>
          <p:nvPr/>
        </p:nvSpPr>
        <p:spPr>
          <a:xfrm>
            <a:off x="4864608" y="297180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19"/>
          <p:cNvSpPr txBox="1"/>
          <p:nvPr/>
        </p:nvSpPr>
        <p:spPr>
          <a:xfrm>
            <a:off x="5623560" y="2651760"/>
            <a:ext cx="2880360" cy="12344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System Design</a:t>
            </a:r>
            <a:endParaRPr lang="en-US" sz="1700" dirty="0"/>
          </a:p>
          <a:p>
            <a:pPr indent="0" marL="0">
              <a:buNone/>
            </a:pPr>
            <a:r>
              <a:rPr lang="en-US" sz="1200" dirty="0">
                <a:solidFill>
                  <a:srgbClr val="5B6470"/>
                </a:solidFill>
                <a:latin typeface="Calibri" pitchFamily="34" charset="0"/>
                <a:ea typeface="Calibri" pitchFamily="34" charset="-122"/>
                <a:cs typeface="Calibri" pitchFamily="34" charset="-120"/>
              </a:rPr>
              <a:t>slides 10–13</a:t>
            </a:r>
            <a:endParaRPr lang="en-US" sz="1700" dirty="0"/>
          </a:p>
        </p:txBody>
      </p:sp>
      <p:sp>
        <p:nvSpPr>
          <p:cNvPr id="24" name="Shape 20"/>
          <p:cNvSpPr/>
          <p:nvPr/>
        </p:nvSpPr>
        <p:spPr>
          <a:xfrm>
            <a:off x="502920" y="4069080"/>
            <a:ext cx="3977640" cy="1234440"/>
          </a:xfrm>
          <a:prstGeom prst="roundRect">
            <a:avLst>
              <a:gd name="adj" fmla="val 5926"/>
            </a:avLst>
          </a:prstGeom>
          <a:solidFill>
            <a:srgbClr val="EEF2F8"/>
          </a:solidFill>
          <a:ln w="9525">
            <a:solidFill>
              <a:srgbClr val="C9D2E3"/>
            </a:solidFill>
            <a:prstDash val="solid"/>
          </a:ln>
        </p:spPr>
      </p:sp>
      <p:sp>
        <p:nvSpPr>
          <p:cNvPr id="25" name="Shape 21"/>
          <p:cNvSpPr/>
          <p:nvPr/>
        </p:nvSpPr>
        <p:spPr>
          <a:xfrm>
            <a:off x="704088" y="4389120"/>
            <a:ext cx="603504" cy="603504"/>
          </a:xfrm>
          <a:prstGeom prst="ellipse">
            <a:avLst/>
          </a:prstGeom>
          <a:solidFill>
            <a:srgbClr val="002060"/>
          </a:solidFill>
          <a:ln w="12700">
            <a:solidFill>
              <a:srgbClr val="002060"/>
            </a:solidFill>
            <a:prstDash val="solid"/>
          </a:ln>
        </p:spPr>
      </p:sp>
      <p:sp>
        <p:nvSpPr>
          <p:cNvPr id="26" name="Text 22"/>
          <p:cNvSpPr txBox="1"/>
          <p:nvPr/>
        </p:nvSpPr>
        <p:spPr>
          <a:xfrm>
            <a:off x="704088" y="43891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7" name="Text 23"/>
          <p:cNvSpPr txBox="1"/>
          <p:nvPr/>
        </p:nvSpPr>
        <p:spPr>
          <a:xfrm>
            <a:off x="1463040" y="4069080"/>
            <a:ext cx="2880360" cy="12344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Implementation</a:t>
            </a:r>
            <a:endParaRPr lang="en-US" sz="1700" dirty="0"/>
          </a:p>
          <a:p>
            <a:pPr indent="0" marL="0">
              <a:buNone/>
            </a:pPr>
            <a:r>
              <a:rPr lang="en-US" sz="1200" dirty="0">
                <a:solidFill>
                  <a:srgbClr val="5B6470"/>
                </a:solidFill>
                <a:latin typeface="Calibri" pitchFamily="34" charset="0"/>
                <a:ea typeface="Calibri" pitchFamily="34" charset="-122"/>
                <a:cs typeface="Calibri" pitchFamily="34" charset="-120"/>
              </a:rPr>
              <a:t>slides 14–15</a:t>
            </a:r>
            <a:endParaRPr lang="en-US" sz="1700" dirty="0"/>
          </a:p>
        </p:txBody>
      </p:sp>
      <p:sp>
        <p:nvSpPr>
          <p:cNvPr id="28" name="Shape 24"/>
          <p:cNvSpPr/>
          <p:nvPr/>
        </p:nvSpPr>
        <p:spPr>
          <a:xfrm>
            <a:off x="4663440" y="4069080"/>
            <a:ext cx="3977640" cy="1234440"/>
          </a:xfrm>
          <a:prstGeom prst="roundRect">
            <a:avLst>
              <a:gd name="adj" fmla="val 5926"/>
            </a:avLst>
          </a:prstGeom>
          <a:solidFill>
            <a:srgbClr val="EEF2F8"/>
          </a:solidFill>
          <a:ln w="9525">
            <a:solidFill>
              <a:srgbClr val="C9D2E3"/>
            </a:solidFill>
            <a:prstDash val="solid"/>
          </a:ln>
        </p:spPr>
      </p:sp>
      <p:sp>
        <p:nvSpPr>
          <p:cNvPr id="29" name="Shape 25"/>
          <p:cNvSpPr/>
          <p:nvPr/>
        </p:nvSpPr>
        <p:spPr>
          <a:xfrm>
            <a:off x="4864608" y="4389120"/>
            <a:ext cx="603504" cy="603504"/>
          </a:xfrm>
          <a:prstGeom prst="ellipse">
            <a:avLst/>
          </a:prstGeom>
          <a:solidFill>
            <a:srgbClr val="002060"/>
          </a:solidFill>
          <a:ln w="12700">
            <a:solidFill>
              <a:srgbClr val="002060"/>
            </a:solidFill>
            <a:prstDash val="solid"/>
          </a:ln>
        </p:spPr>
      </p:sp>
      <p:sp>
        <p:nvSpPr>
          <p:cNvPr id="30" name="Text 26"/>
          <p:cNvSpPr txBox="1"/>
          <p:nvPr/>
        </p:nvSpPr>
        <p:spPr>
          <a:xfrm>
            <a:off x="4864608" y="43891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1" name="Text 27"/>
          <p:cNvSpPr txBox="1"/>
          <p:nvPr/>
        </p:nvSpPr>
        <p:spPr>
          <a:xfrm>
            <a:off x="5623560" y="4069080"/>
            <a:ext cx="2880360" cy="12344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Initial Results / Demo</a:t>
            </a:r>
            <a:endParaRPr lang="en-US" sz="1700" dirty="0"/>
          </a:p>
          <a:p>
            <a:pPr indent="0" marL="0">
              <a:buNone/>
            </a:pPr>
            <a:r>
              <a:rPr lang="en-US" sz="1200" dirty="0">
                <a:solidFill>
                  <a:srgbClr val="5B6470"/>
                </a:solidFill>
                <a:latin typeface="Calibri" pitchFamily="34" charset="0"/>
                <a:ea typeface="Calibri" pitchFamily="34" charset="-122"/>
                <a:cs typeface="Calibri" pitchFamily="34" charset="-120"/>
              </a:rPr>
              <a:t>slides 16–18</a:t>
            </a:r>
            <a:endParaRPr lang="en-US" sz="1700" dirty="0"/>
          </a:p>
        </p:txBody>
      </p:sp>
      <p:sp>
        <p:nvSpPr>
          <p:cNvPr id="32" name="Text 28"/>
          <p:cNvSpPr txBox="1"/>
          <p:nvPr/>
        </p:nvSpPr>
        <p:spPr>
          <a:xfrm>
            <a:off x="502920" y="5577840"/>
            <a:ext cx="8138160" cy="457200"/>
          </a:xfrm>
          <a:prstGeom prst="rect">
            <a:avLst/>
          </a:prstGeom>
          <a:noFill/>
          <a:ln/>
        </p:spPr>
        <p:txBody>
          <a:bodyPr wrap="square" lIns="0" tIns="0" rIns="0" bIns="0" rtlCol="0" anchor="ctr"/>
          <a:lstStyle/>
          <a:p>
            <a:pPr indent="0" marL="0">
              <a:buNone/>
            </a:pPr>
            <a:r>
              <a:rPr lang="en-US" sz="1500" i="1" dirty="0">
                <a:solidFill>
                  <a:srgbClr val="002060"/>
                </a:solidFill>
                <a:latin typeface="Calibri" pitchFamily="34" charset="0"/>
                <a:ea typeface="Calibri" pitchFamily="34" charset="-122"/>
                <a:cs typeface="Calibri" pitchFamily="34" charset="-120"/>
              </a:rPr>
              <a:t>Then: completed vs planned work (slide 19) · conclusion · references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Proposed System — the Problem</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Rhian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4</a:t>
            </a:r>
            <a:endParaRPr lang="en-US" sz="1000" dirty="0"/>
          </a:p>
        </p:txBody>
      </p:sp>
      <p:sp>
        <p:nvSpPr>
          <p:cNvPr id="8" name="Text 4"/>
          <p:cNvSpPr txBox="1"/>
          <p:nvPr/>
        </p:nvSpPr>
        <p:spPr>
          <a:xfrm>
            <a:off x="457200" y="1143000"/>
            <a:ext cx="4114800" cy="5120640"/>
          </a:xfrm>
          <a:prstGeom prst="rect">
            <a:avLst/>
          </a:prstGeom>
          <a:noFill/>
          <a:ln/>
        </p:spPr>
        <p:txBody>
          <a:bodyPr wrap="square" lIns="635" tIns="635" rIns="635" bIns="635" rtlCol="0" anchor="t"/>
          <a:lstStyle/>
          <a:p>
            <a:pPr indent="0" marL="0">
              <a:spcAft>
                <a:spcPts val="800"/>
              </a:spcAft>
              <a:buNone/>
            </a:pPr>
            <a:r>
              <a:rPr lang="en-US" sz="1500" dirty="0">
                <a:solidFill>
                  <a:srgbClr val="1F2328"/>
                </a:solidFill>
                <a:latin typeface="Calibri" pitchFamily="34" charset="0"/>
                <a:ea typeface="Calibri" pitchFamily="34" charset="-122"/>
                <a:cs typeface="Calibri" pitchFamily="34" charset="-120"/>
              </a:rPr>
              <a:t>Adult with type 2 diabetes, </a:t>
            </a:r>
            <a:pPr indent="0" marL="0">
              <a:spcAft>
                <a:spcPts val="800"/>
              </a:spcAft>
              <a:buNone/>
            </a:pPr>
            <a:r>
              <a:rPr lang="en-US" sz="1500" b="1" dirty="0">
                <a:solidFill>
                  <a:srgbClr val="1F2328"/>
                </a:solidFill>
                <a:latin typeface="Calibri" pitchFamily="34" charset="0"/>
                <a:ea typeface="Calibri" pitchFamily="34" charset="-122"/>
                <a:cs typeface="Calibri" pitchFamily="34" charset="-120"/>
              </a:rPr>
              <a:t>already on metformin</a:t>
            </a:r>
            <a:pPr indent="0" marL="0">
              <a:spcAft>
                <a:spcPts val="800"/>
              </a:spcAft>
              <a:buNone/>
            </a:pPr>
            <a:r>
              <a:rPr lang="en-US" sz="1500" dirty="0">
                <a:solidFill>
                  <a:srgbClr val="1F2328"/>
                </a:solidFill>
                <a:latin typeface="Calibri" pitchFamily="34" charset="0"/>
                <a:ea typeface="Calibri" pitchFamily="34" charset="-122"/>
                <a:cs typeface="Calibri" pitchFamily="34" charset="-120"/>
              </a:rPr>
              <a:t> and not controlled.</a:t>
            </a:r>
            <a:endParaRPr lang="en-US" sz="1500" dirty="0"/>
          </a:p>
          <a:p>
            <a:pPr indent="0" marL="0">
              <a:spcAft>
                <a:spcPts val="800"/>
              </a:spcAft>
              <a:buNone/>
            </a:pPr>
            <a:r>
              <a:rPr lang="en-US" sz="1500" dirty="0">
                <a:solidFill>
                  <a:srgbClr val="1F2328"/>
                </a:solidFill>
                <a:latin typeface="Calibri" pitchFamily="34" charset="0"/>
                <a:ea typeface="Calibri" pitchFamily="34" charset="-122"/>
                <a:cs typeface="Calibri" pitchFamily="34" charset="-120"/>
              </a:rPr>
              <a:t>Add one of three: </a:t>
            </a:r>
            <a:pPr indent="0" marL="0">
              <a:spcAft>
                <a:spcPts val="800"/>
              </a:spcAft>
              <a:buNone/>
            </a:pPr>
            <a:r>
              <a:rPr lang="en-US" sz="1500" b="1" dirty="0">
                <a:solidFill>
                  <a:srgbClr val="1F2328"/>
                </a:solidFill>
                <a:latin typeface="Calibri" pitchFamily="34" charset="0"/>
                <a:ea typeface="Calibri" pitchFamily="34" charset="-122"/>
                <a:cs typeface="Calibri" pitchFamily="34" charset="-120"/>
              </a:rPr>
              <a:t>SGLT2 inhibitor, DPP-4 inhibitor or sulfonylurea</a:t>
            </a:r>
            <a:pPr indent="0" marL="0">
              <a:spcAft>
                <a:spcPts val="800"/>
              </a:spcAft>
              <a:buNone/>
            </a:pPr>
            <a:r>
              <a:rPr lang="en-US" sz="1500" dirty="0">
                <a:solidFill>
                  <a:srgbClr val="1F2328"/>
                </a:solidFill>
                <a:latin typeface="Calibri" pitchFamily="34" charset="0"/>
                <a:ea typeface="Calibri" pitchFamily="34" charset="-122"/>
                <a:cs typeface="Calibri" pitchFamily="34" charset="-120"/>
              </a:rPr>
              <a:t>.</a:t>
            </a:r>
            <a:endParaRPr lang="en-US" sz="1500" dirty="0"/>
          </a:p>
          <a:p>
            <a:pPr indent="0" marL="0">
              <a:spcAft>
                <a:spcPts val="800"/>
              </a:spcAft>
              <a:buNone/>
            </a:pPr>
            <a:r>
              <a:rPr lang="en-US" sz="1500" dirty="0">
                <a:solidFill>
                  <a:srgbClr val="1F2328"/>
                </a:solidFill>
                <a:latin typeface="Calibri" pitchFamily="34" charset="0"/>
                <a:ea typeface="Calibri" pitchFamily="34" charset="-122"/>
                <a:cs typeface="Calibri" pitchFamily="34" charset="-120"/>
              </a:rPr>
              <a:t>Question: </a:t>
            </a:r>
            <a:pPr indent="0" marL="0">
              <a:spcAft>
                <a:spcPts val="800"/>
              </a:spcAft>
              <a:buNone/>
            </a:pPr>
            <a:r>
              <a:rPr lang="en-US" sz="1500" b="1" dirty="0">
                <a:solidFill>
                  <a:srgbClr val="1F2328"/>
                </a:solidFill>
                <a:latin typeface="Calibri" pitchFamily="34" charset="0"/>
                <a:ea typeface="Calibri" pitchFamily="34" charset="-122"/>
                <a:cs typeface="Calibri" pitchFamily="34" charset="-120"/>
              </a:rPr>
              <a:t>what would this patient's HbA1c be in 6 months under each?</a:t>
            </a:r>
            <a:endParaRPr lang="en-US" sz="1500" dirty="0"/>
          </a:p>
          <a:p>
            <a:pPr indent="0" marL="0">
              <a:spcAft>
                <a:spcPts val="800"/>
              </a:spcAft>
              <a:buNone/>
            </a:pPr>
            <a:r>
              <a:rPr lang="en-US" sz="1500" dirty="0">
                <a:solidFill>
                  <a:srgbClr val="1F2328"/>
                </a:solidFill>
                <a:latin typeface="Calibri" pitchFamily="34" charset="0"/>
                <a:ea typeface="Calibri" pitchFamily="34" charset="-122"/>
                <a:cs typeface="Calibri" pitchFamily="34" charset="-120"/>
              </a:rPr>
              <a:t>Plain comparisons mislead: sicker patients got SGLT2i more often (</a:t>
            </a:r>
            <a:pPr indent="0" marL="0">
              <a:spcAft>
                <a:spcPts val="800"/>
              </a:spcAft>
              <a:buNone/>
            </a:pPr>
            <a:r>
              <a:rPr lang="en-US" sz="1500" b="1" dirty="0">
                <a:solidFill>
                  <a:srgbClr val="1F2328"/>
                </a:solidFill>
                <a:latin typeface="Calibri" pitchFamily="34" charset="0"/>
                <a:ea typeface="Calibri" pitchFamily="34" charset="-122"/>
                <a:cs typeface="Calibri" pitchFamily="34" charset="-120"/>
              </a:rPr>
              <a:t>confounding by indication</a:t>
            </a:r>
            <a:pPr indent="0" marL="0">
              <a:spcAft>
                <a:spcPts val="800"/>
              </a:spcAft>
              <a:buNone/>
            </a:pPr>
            <a:r>
              <a:rPr lang="en-US" sz="1500" dirty="0">
                <a:solidFill>
                  <a:srgbClr val="1F2328"/>
                </a:solidFill>
                <a:latin typeface="Calibri" pitchFamily="34" charset="0"/>
                <a:ea typeface="Calibri" pitchFamily="34" charset="-122"/>
                <a:cs typeface="Calibri" pitchFamily="34" charset="-120"/>
              </a:rPr>
              <a:t>).</a:t>
            </a:r>
            <a:endParaRPr lang="en-US" sz="1500" dirty="0"/>
          </a:p>
          <a:p>
            <a:pPr indent="0" marL="0">
              <a:spcAft>
                <a:spcPts val="800"/>
              </a:spcAft>
              <a:buNone/>
            </a:pPr>
            <a:r>
              <a:rPr lang="en-US" sz="1500" dirty="0">
                <a:solidFill>
                  <a:srgbClr val="1F2328"/>
                </a:solidFill>
                <a:latin typeface="Calibri" pitchFamily="34" charset="0"/>
                <a:ea typeface="Calibri" pitchFamily="34" charset="-122"/>
                <a:cs typeface="Calibri" pitchFamily="34" charset="-120"/>
              </a:rPr>
              <a:t>India: 101 million adults with diabetes (ICMR-INDIAB 2023); no open Indian dataset records drug and outcome.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754880" y="1280160"/>
          <a:ext cx="4023360" cy="914400"/>
        </p:xfrm>
        <a:graphic>
          <a:graphicData uri="http://schemas.openxmlformats.org/drawingml/2006/table">
            <a:tbl>
              <a:tblPr/>
              <a:tblGrid>
                <a:gridCol w="1143000"/>
                <a:gridCol w="1005840"/>
                <a:gridCol w="1005840"/>
                <a:gridCol w="8686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Group</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Got SGLT2i</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Got SU</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Diff.</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High HbA1c</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300 pts, −1.2</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100 pts, −1.0</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Lower HbA1c</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100 pts, −0.6</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300 pts, −0.5</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328"/>
                          </a:solidFill>
                          <a:latin typeface="Calibri" pitchFamily="34" charset="0"/>
                          <a:ea typeface="Calibri" pitchFamily="34" charset="-122"/>
                          <a:cs typeface="Calibri" pitchFamily="34" charset="-120"/>
                        </a:rPr>
                        <a:t>Naive (pooled)</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−1.05</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−0.625</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b="1" dirty="0">
                          <a:solidFill>
                            <a:srgbClr val="8A1010"/>
                          </a:solidFill>
                          <a:latin typeface="Calibri" pitchFamily="34" charset="0"/>
                          <a:ea typeface="Calibri" pitchFamily="34" charset="-122"/>
                          <a:cs typeface="Calibri" pitchFamily="34" charset="-120"/>
                        </a:rPr>
                        <a:t>−0.425</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r>
            </a:tbl>
          </a:graphicData>
        </a:graphic>
      </p:graphicFrame>
      <p:sp>
        <p:nvSpPr>
          <p:cNvPr id="10" name="Shape 5"/>
          <p:cNvSpPr/>
          <p:nvPr/>
        </p:nvSpPr>
        <p:spPr>
          <a:xfrm>
            <a:off x="4754880" y="3383280"/>
            <a:ext cx="4023360" cy="2103120"/>
          </a:xfrm>
          <a:prstGeom prst="roundRect">
            <a:avLst>
              <a:gd name="adj" fmla="val 3478"/>
            </a:avLst>
          </a:prstGeom>
          <a:solidFill>
            <a:srgbClr val="F5F7FB"/>
          </a:solidFill>
          <a:ln w="9525">
            <a:solidFill>
              <a:srgbClr val="C9D2E3"/>
            </a:solidFill>
            <a:prstDash val="solid"/>
          </a:ln>
        </p:spPr>
      </p:sp>
      <p:sp>
        <p:nvSpPr>
          <p:cNvPr id="11" name="Text 6"/>
          <p:cNvSpPr txBox="1"/>
          <p:nvPr/>
        </p:nvSpPr>
        <p:spPr>
          <a:xfrm>
            <a:off x="4937760" y="3474720"/>
            <a:ext cx="3657600" cy="1920240"/>
          </a:xfrm>
          <a:prstGeom prst="rect">
            <a:avLst/>
          </a:prstGeom>
          <a:noFill/>
          <a:ln/>
        </p:spPr>
        <p:txBody>
          <a:bodyPr wrap="square" lIns="0" tIns="0" rIns="0" bIns="0" rtlCol="0" anchor="ctr"/>
          <a:lstStyle/>
          <a:p>
            <a:pPr indent="0" marL="0">
              <a:buNone/>
            </a:pPr>
            <a:r>
              <a:rPr lang="en-US" sz="1600" b="1" dirty="0">
                <a:solidFill>
                  <a:srgbClr val="002060"/>
                </a:solidFill>
                <a:latin typeface="Calibri" pitchFamily="34" charset="0"/>
                <a:ea typeface="Calibri" pitchFamily="34" charset="-122"/>
                <a:cs typeface="Calibri" pitchFamily="34" charset="-120"/>
              </a:rPr>
              <a:t>Like with like: </a:t>
            </a:r>
            <a:pPr indent="0" marL="0">
              <a:buNone/>
            </a:pPr>
            <a:r>
              <a:rPr lang="en-US" sz="1600" dirty="0">
                <a:solidFill>
                  <a:srgbClr val="1F2328"/>
                </a:solidFill>
                <a:latin typeface="Calibri" pitchFamily="34" charset="0"/>
                <a:ea typeface="Calibri" pitchFamily="34" charset="-122"/>
                <a:cs typeface="Calibri" pitchFamily="34" charset="-120"/>
              </a:rPr>
              <a:t>0.5 × (−0.2) + 0.5 × (−0.1) = </a:t>
            </a:r>
            <a:pPr indent="0" marL="0">
              <a:buNone/>
            </a:pPr>
            <a:r>
              <a:rPr lang="en-US" sz="1600" b="1" dirty="0">
                <a:solidFill>
                  <a:srgbClr val="00897B"/>
                </a:solidFill>
                <a:latin typeface="Calibri" pitchFamily="34" charset="0"/>
                <a:ea typeface="Calibri" pitchFamily="34" charset="-122"/>
                <a:cs typeface="Calibri" pitchFamily="34" charset="-120"/>
              </a:rPr>
              <a:t>−0.15</a:t>
            </a:r>
            <a:endParaRPr lang="en-US" sz="1600" dirty="0"/>
          </a:p>
          <a:p>
            <a:pPr indent="0" marL="0">
              <a:buNone/>
            </a:pPr>
            <a:r>
              <a:rPr lang="en-US" sz="1300" dirty="0">
                <a:solidFill>
                  <a:srgbClr val="5B6470"/>
                </a:solidFill>
                <a:latin typeface="Calibri" pitchFamily="34" charset="0"/>
                <a:ea typeface="Calibri" pitchFamily="34" charset="-122"/>
                <a:cs typeface="Calibri" pitchFamily="34" charset="-120"/>
              </a:rPr>
              <a:t>The naive answer is about 3× too big. Causal inference corrects this.</a:t>
            </a:r>
            <a:endParaRPr lang="en-US" sz="1600" dirty="0"/>
          </a:p>
        </p:txBody>
      </p:sp>
      <p:sp>
        <p:nvSpPr>
          <p:cNvPr id="12" name="Text 7"/>
          <p:cNvSpPr txBox="1"/>
          <p:nvPr/>
        </p:nvSpPr>
        <p:spPr>
          <a:xfrm>
            <a:off x="4754880" y="5577840"/>
            <a:ext cx="4023360" cy="274320"/>
          </a:xfrm>
          <a:prstGeom prst="rect">
            <a:avLst/>
          </a:prstGeom>
          <a:noFill/>
          <a:ln/>
        </p:spPr>
        <p:txBody>
          <a:bodyPr wrap="square" lIns="0" tIns="0" rIns="0" bIns="0"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Illustrative synthetic numbers; HbA1c change in %</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Proposed System — How It Works</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Rhian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5</a:t>
            </a:r>
            <a:endParaRPr lang="en-US" sz="1000" dirty="0"/>
          </a:p>
        </p:txBody>
      </p:sp>
      <p:sp>
        <p:nvSpPr>
          <p:cNvPr id="8" name="Shape 4"/>
          <p:cNvSpPr/>
          <p:nvPr/>
        </p:nvSpPr>
        <p:spPr>
          <a:xfrm>
            <a:off x="731520" y="1188720"/>
            <a:ext cx="4206240" cy="566928"/>
          </a:xfrm>
          <a:prstGeom prst="roundRect">
            <a:avLst>
              <a:gd name="adj" fmla="val 12903"/>
            </a:avLst>
          </a:prstGeom>
          <a:solidFill>
            <a:srgbClr val="FFFFFF"/>
          </a:solidFill>
          <a:ln w="12700">
            <a:solidFill>
              <a:srgbClr val="002060"/>
            </a:solidFill>
            <a:prstDash val="solid"/>
          </a:ln>
        </p:spPr>
      </p:sp>
      <p:sp>
        <p:nvSpPr>
          <p:cNvPr id="9" name="Text 5"/>
          <p:cNvSpPr txBox="1"/>
          <p:nvPr/>
        </p:nvSpPr>
        <p:spPr>
          <a:xfrm>
            <a:off x="868680" y="1188720"/>
            <a:ext cx="3931920" cy="566928"/>
          </a:xfrm>
          <a:prstGeom prst="rect">
            <a:avLst/>
          </a:prstGeom>
          <a:noFill/>
          <a:ln/>
        </p:spPr>
        <p:txBody>
          <a:bodyPr wrap="square" lIns="0" tIns="0" rIns="0" bIns="0" rtlCol="0" anchor="ctr"/>
          <a:lstStyle/>
          <a:p>
            <a:pPr indent="0" marL="0">
              <a:buNone/>
            </a:pPr>
            <a:r>
              <a:rPr lang="en-US" sz="1400" b="1" dirty="0">
                <a:solidFill>
                  <a:srgbClr val="002060"/>
                </a:solidFill>
                <a:latin typeface="Calibri" pitchFamily="34" charset="0"/>
                <a:ea typeface="Calibri" pitchFamily="34" charset="-122"/>
                <a:cs typeface="Calibri" pitchFamily="34" charset="-120"/>
              </a:rPr>
              <a:t>1. Patient details</a:t>
            </a:r>
            <a:endParaRPr lang="en-US" sz="1400" dirty="0"/>
          </a:p>
          <a:p>
            <a:pPr indent="0" marL="0">
              <a:buNone/>
            </a:pPr>
            <a:r>
              <a:rPr lang="en-US" sz="1100" dirty="0">
                <a:solidFill>
                  <a:srgbClr val="5B6470"/>
                </a:solidFill>
                <a:latin typeface="Calibri" pitchFamily="34" charset="0"/>
                <a:ea typeface="Calibri" pitchFamily="34" charset="-122"/>
                <a:cs typeface="Calibri" pitchFamily="34" charset="-120"/>
              </a:rPr>
              <a:t>age, HbA1c, eGFR, BMI, history</a:t>
            </a:r>
            <a:endParaRPr lang="en-US" sz="1400" dirty="0"/>
          </a:p>
        </p:txBody>
      </p:sp>
      <p:sp>
        <p:nvSpPr>
          <p:cNvPr id="10" name="Shape 6"/>
          <p:cNvSpPr/>
          <p:nvPr/>
        </p:nvSpPr>
        <p:spPr>
          <a:xfrm>
            <a:off x="2834640" y="1755648"/>
            <a:ext cx="0" cy="164592"/>
          </a:xfrm>
          <a:prstGeom prst="line">
            <a:avLst/>
          </a:prstGeom>
          <a:noFill/>
          <a:ln w="15875">
            <a:solidFill>
              <a:srgbClr val="002060"/>
            </a:solidFill>
            <a:prstDash val="solid"/>
            <a:tailEnd type="triangle"/>
          </a:ln>
        </p:spPr>
      </p:sp>
      <p:sp>
        <p:nvSpPr>
          <p:cNvPr id="11" name="Shape 7"/>
          <p:cNvSpPr/>
          <p:nvPr/>
        </p:nvSpPr>
        <p:spPr>
          <a:xfrm>
            <a:off x="731520" y="1920240"/>
            <a:ext cx="4206240" cy="566928"/>
          </a:xfrm>
          <a:prstGeom prst="roundRect">
            <a:avLst>
              <a:gd name="adj" fmla="val 12903"/>
            </a:avLst>
          </a:prstGeom>
          <a:solidFill>
            <a:srgbClr val="FFFFFF"/>
          </a:solidFill>
          <a:ln w="12700">
            <a:solidFill>
              <a:srgbClr val="002060"/>
            </a:solidFill>
            <a:prstDash val="solid"/>
          </a:ln>
        </p:spPr>
      </p:sp>
      <p:sp>
        <p:nvSpPr>
          <p:cNvPr id="12" name="Text 8"/>
          <p:cNvSpPr txBox="1"/>
          <p:nvPr/>
        </p:nvSpPr>
        <p:spPr>
          <a:xfrm>
            <a:off x="868680" y="1920240"/>
            <a:ext cx="3931920" cy="566928"/>
          </a:xfrm>
          <a:prstGeom prst="rect">
            <a:avLst/>
          </a:prstGeom>
          <a:noFill/>
          <a:ln/>
        </p:spPr>
        <p:txBody>
          <a:bodyPr wrap="square" lIns="0" tIns="0" rIns="0" bIns="0" rtlCol="0" anchor="ctr"/>
          <a:lstStyle/>
          <a:p>
            <a:pPr indent="0" marL="0">
              <a:buNone/>
            </a:pPr>
            <a:r>
              <a:rPr lang="en-US" sz="1400" b="1" dirty="0">
                <a:solidFill>
                  <a:srgbClr val="002060"/>
                </a:solidFill>
                <a:latin typeface="Calibri" pitchFamily="34" charset="0"/>
                <a:ea typeface="Calibri" pitchFamily="34" charset="-122"/>
                <a:cs typeface="Calibri" pitchFamily="34" charset="-120"/>
              </a:rPr>
              <a:t>2. Safety rules</a:t>
            </a:r>
            <a:endParaRPr lang="en-US" sz="1400" dirty="0"/>
          </a:p>
          <a:p>
            <a:pPr indent="0" marL="0">
              <a:buNone/>
            </a:pPr>
            <a:r>
              <a:rPr lang="en-US" sz="1100" dirty="0">
                <a:solidFill>
                  <a:srgbClr val="5B6470"/>
                </a:solidFill>
                <a:latin typeface="Calibri" pitchFamily="34" charset="0"/>
                <a:ea typeface="Calibri" pitchFamily="34" charset="-122"/>
                <a:cs typeface="Calibri" pitchFamily="34" charset="-120"/>
              </a:rPr>
              <a:t>cited drug-label rules remove unsafe options</a:t>
            </a:r>
            <a:endParaRPr lang="en-US" sz="1400" dirty="0"/>
          </a:p>
        </p:txBody>
      </p:sp>
      <p:sp>
        <p:nvSpPr>
          <p:cNvPr id="13" name="Shape 9"/>
          <p:cNvSpPr/>
          <p:nvPr/>
        </p:nvSpPr>
        <p:spPr>
          <a:xfrm>
            <a:off x="2834640" y="2487168"/>
            <a:ext cx="0" cy="164592"/>
          </a:xfrm>
          <a:prstGeom prst="line">
            <a:avLst/>
          </a:prstGeom>
          <a:noFill/>
          <a:ln w="15875">
            <a:solidFill>
              <a:srgbClr val="002060"/>
            </a:solidFill>
            <a:prstDash val="solid"/>
            <a:tailEnd type="triangle"/>
          </a:ln>
        </p:spPr>
      </p:sp>
      <p:sp>
        <p:nvSpPr>
          <p:cNvPr id="14" name="Shape 10"/>
          <p:cNvSpPr/>
          <p:nvPr/>
        </p:nvSpPr>
        <p:spPr>
          <a:xfrm>
            <a:off x="731520" y="2651760"/>
            <a:ext cx="4206240" cy="566928"/>
          </a:xfrm>
          <a:prstGeom prst="roundRect">
            <a:avLst>
              <a:gd name="adj" fmla="val 12903"/>
            </a:avLst>
          </a:prstGeom>
          <a:solidFill>
            <a:srgbClr val="FFFFFF"/>
          </a:solidFill>
          <a:ln w="12700">
            <a:solidFill>
              <a:srgbClr val="002060"/>
            </a:solidFill>
            <a:prstDash val="solid"/>
          </a:ln>
        </p:spPr>
      </p:sp>
      <p:sp>
        <p:nvSpPr>
          <p:cNvPr id="15" name="Text 11"/>
          <p:cNvSpPr txBox="1"/>
          <p:nvPr/>
        </p:nvSpPr>
        <p:spPr>
          <a:xfrm>
            <a:off x="868680" y="2651760"/>
            <a:ext cx="3931920" cy="566928"/>
          </a:xfrm>
          <a:prstGeom prst="rect">
            <a:avLst/>
          </a:prstGeom>
          <a:noFill/>
          <a:ln/>
        </p:spPr>
        <p:txBody>
          <a:bodyPr wrap="square" lIns="0" tIns="0" rIns="0" bIns="0" rtlCol="0" anchor="ctr"/>
          <a:lstStyle/>
          <a:p>
            <a:pPr indent="0" marL="0">
              <a:buNone/>
            </a:pPr>
            <a:r>
              <a:rPr lang="en-US" sz="1400" b="1" dirty="0">
                <a:solidFill>
                  <a:srgbClr val="002060"/>
                </a:solidFill>
                <a:latin typeface="Calibri" pitchFamily="34" charset="0"/>
                <a:ea typeface="Calibri" pitchFamily="34" charset="-122"/>
                <a:cs typeface="Calibri" pitchFamily="34" charset="-120"/>
              </a:rPr>
              <a:t>3. Propensity + overlap</a:t>
            </a:r>
            <a:endParaRPr lang="en-US" sz="1400" dirty="0"/>
          </a:p>
          <a:p>
            <a:pPr indent="0" marL="0">
              <a:buNone/>
            </a:pPr>
            <a:r>
              <a:rPr lang="en-US" sz="1100" dirty="0">
                <a:solidFill>
                  <a:srgbClr val="5B6470"/>
                </a:solidFill>
                <a:latin typeface="Calibri" pitchFamily="34" charset="0"/>
                <a:ea typeface="Calibri" pitchFamily="34" charset="-122"/>
                <a:cs typeface="Calibri" pitchFamily="34" charset="-120"/>
              </a:rPr>
              <a:t>enough similar patients?</a:t>
            </a:r>
            <a:endParaRPr lang="en-US" sz="1400" dirty="0"/>
          </a:p>
        </p:txBody>
      </p:sp>
      <p:sp>
        <p:nvSpPr>
          <p:cNvPr id="16" name="Shape 12"/>
          <p:cNvSpPr/>
          <p:nvPr/>
        </p:nvSpPr>
        <p:spPr>
          <a:xfrm>
            <a:off x="2834640" y="3218688"/>
            <a:ext cx="0" cy="164592"/>
          </a:xfrm>
          <a:prstGeom prst="line">
            <a:avLst/>
          </a:prstGeom>
          <a:noFill/>
          <a:ln w="15875">
            <a:solidFill>
              <a:srgbClr val="002060"/>
            </a:solidFill>
            <a:prstDash val="solid"/>
            <a:tailEnd type="triangle"/>
          </a:ln>
        </p:spPr>
      </p:sp>
      <p:sp>
        <p:nvSpPr>
          <p:cNvPr id="17" name="Shape 13"/>
          <p:cNvSpPr/>
          <p:nvPr/>
        </p:nvSpPr>
        <p:spPr>
          <a:xfrm>
            <a:off x="731520" y="3383280"/>
            <a:ext cx="4206240" cy="566928"/>
          </a:xfrm>
          <a:prstGeom prst="roundRect">
            <a:avLst>
              <a:gd name="adj" fmla="val 12903"/>
            </a:avLst>
          </a:prstGeom>
          <a:solidFill>
            <a:srgbClr val="FFFFFF"/>
          </a:solidFill>
          <a:ln w="12700">
            <a:solidFill>
              <a:srgbClr val="002060"/>
            </a:solidFill>
            <a:prstDash val="solid"/>
          </a:ln>
        </p:spPr>
      </p:sp>
      <p:sp>
        <p:nvSpPr>
          <p:cNvPr id="18" name="Text 14"/>
          <p:cNvSpPr txBox="1"/>
          <p:nvPr/>
        </p:nvSpPr>
        <p:spPr>
          <a:xfrm>
            <a:off x="868680" y="3383280"/>
            <a:ext cx="3931920" cy="566928"/>
          </a:xfrm>
          <a:prstGeom prst="rect">
            <a:avLst/>
          </a:prstGeom>
          <a:noFill/>
          <a:ln/>
        </p:spPr>
        <p:txBody>
          <a:bodyPr wrap="square" lIns="0" tIns="0" rIns="0" bIns="0" rtlCol="0" anchor="ctr"/>
          <a:lstStyle/>
          <a:p>
            <a:pPr indent="0" marL="0">
              <a:buNone/>
            </a:pPr>
            <a:r>
              <a:rPr lang="en-US" sz="1400" b="1" dirty="0">
                <a:solidFill>
                  <a:srgbClr val="002060"/>
                </a:solidFill>
                <a:latin typeface="Calibri" pitchFamily="34" charset="0"/>
                <a:ea typeface="Calibri" pitchFamily="34" charset="-122"/>
                <a:cs typeface="Calibri" pitchFamily="34" charset="-120"/>
              </a:rPr>
              <a:t>4. AIPW / DR-learner</a:t>
            </a:r>
            <a:endParaRPr lang="en-US" sz="1400" dirty="0"/>
          </a:p>
          <a:p>
            <a:pPr indent="0" marL="0">
              <a:buNone/>
            </a:pPr>
            <a:r>
              <a:rPr lang="en-US" sz="1100" dirty="0">
                <a:solidFill>
                  <a:srgbClr val="5B6470"/>
                </a:solidFill>
                <a:latin typeface="Calibri" pitchFamily="34" charset="0"/>
                <a:ea typeface="Calibri" pitchFamily="34" charset="-122"/>
                <a:cs typeface="Calibri" pitchFamily="34" charset="-120"/>
              </a:rPr>
              <a:t>6-month HbA1c change ± 95% range</a:t>
            </a:r>
            <a:endParaRPr lang="en-US" sz="1400" dirty="0"/>
          </a:p>
        </p:txBody>
      </p:sp>
      <p:sp>
        <p:nvSpPr>
          <p:cNvPr id="19" name="Shape 15"/>
          <p:cNvSpPr/>
          <p:nvPr/>
        </p:nvSpPr>
        <p:spPr>
          <a:xfrm>
            <a:off x="2834640" y="3950208"/>
            <a:ext cx="0" cy="164592"/>
          </a:xfrm>
          <a:prstGeom prst="line">
            <a:avLst/>
          </a:prstGeom>
          <a:noFill/>
          <a:ln w="15875">
            <a:solidFill>
              <a:srgbClr val="002060"/>
            </a:solidFill>
            <a:prstDash val="solid"/>
            <a:tailEnd type="triangle"/>
          </a:ln>
        </p:spPr>
      </p:sp>
      <p:sp>
        <p:nvSpPr>
          <p:cNvPr id="20" name="Shape 16"/>
          <p:cNvSpPr/>
          <p:nvPr/>
        </p:nvSpPr>
        <p:spPr>
          <a:xfrm>
            <a:off x="731520" y="4114800"/>
            <a:ext cx="4206240" cy="566928"/>
          </a:xfrm>
          <a:prstGeom prst="roundRect">
            <a:avLst>
              <a:gd name="adj" fmla="val 12903"/>
            </a:avLst>
          </a:prstGeom>
          <a:solidFill>
            <a:srgbClr val="FFFFFF"/>
          </a:solidFill>
          <a:ln w="12700">
            <a:solidFill>
              <a:srgbClr val="002060"/>
            </a:solidFill>
            <a:prstDash val="solid"/>
          </a:ln>
        </p:spPr>
      </p:sp>
      <p:sp>
        <p:nvSpPr>
          <p:cNvPr id="21" name="Text 17"/>
          <p:cNvSpPr txBox="1"/>
          <p:nvPr/>
        </p:nvSpPr>
        <p:spPr>
          <a:xfrm>
            <a:off x="868680" y="4114800"/>
            <a:ext cx="3931920" cy="566928"/>
          </a:xfrm>
          <a:prstGeom prst="rect">
            <a:avLst/>
          </a:prstGeom>
          <a:noFill/>
          <a:ln/>
        </p:spPr>
        <p:txBody>
          <a:bodyPr wrap="square" lIns="0" tIns="0" rIns="0" bIns="0" rtlCol="0" anchor="ctr"/>
          <a:lstStyle/>
          <a:p>
            <a:pPr indent="0" marL="0">
              <a:buNone/>
            </a:pPr>
            <a:r>
              <a:rPr lang="en-US" sz="1400" b="1" dirty="0">
                <a:solidFill>
                  <a:srgbClr val="002060"/>
                </a:solidFill>
                <a:latin typeface="Calibri" pitchFamily="34" charset="0"/>
                <a:ea typeface="Calibri" pitchFamily="34" charset="-122"/>
                <a:cs typeface="Calibri" pitchFamily="34" charset="-120"/>
              </a:rPr>
              <a:t>5. Cost lookup</a:t>
            </a:r>
            <a:endParaRPr lang="en-US" sz="1400" dirty="0"/>
          </a:p>
          <a:p>
            <a:pPr indent="0" marL="0">
              <a:buNone/>
            </a:pPr>
            <a:r>
              <a:rPr lang="en-US" sz="1100" dirty="0">
                <a:solidFill>
                  <a:srgbClr val="5B6470"/>
                </a:solidFill>
                <a:latin typeface="Calibri" pitchFamily="34" charset="0"/>
                <a:ea typeface="Calibri" pitchFamily="34" charset="-122"/>
                <a:cs typeface="Calibri" pitchFamily="34" charset="-120"/>
              </a:rPr>
              <a:t>INR / month, dated</a:t>
            </a:r>
            <a:endParaRPr lang="en-US" sz="1400" dirty="0"/>
          </a:p>
        </p:txBody>
      </p:sp>
      <p:sp>
        <p:nvSpPr>
          <p:cNvPr id="22" name="Shape 18"/>
          <p:cNvSpPr/>
          <p:nvPr/>
        </p:nvSpPr>
        <p:spPr>
          <a:xfrm>
            <a:off x="2834640" y="4681728"/>
            <a:ext cx="0" cy="164592"/>
          </a:xfrm>
          <a:prstGeom prst="line">
            <a:avLst/>
          </a:prstGeom>
          <a:noFill/>
          <a:ln w="15875">
            <a:solidFill>
              <a:srgbClr val="002060"/>
            </a:solidFill>
            <a:prstDash val="solid"/>
            <a:tailEnd type="triangle"/>
          </a:ln>
        </p:spPr>
      </p:sp>
      <p:sp>
        <p:nvSpPr>
          <p:cNvPr id="23" name="Shape 19"/>
          <p:cNvSpPr/>
          <p:nvPr/>
        </p:nvSpPr>
        <p:spPr>
          <a:xfrm>
            <a:off x="731520" y="4846320"/>
            <a:ext cx="4206240" cy="566928"/>
          </a:xfrm>
          <a:prstGeom prst="roundRect">
            <a:avLst>
              <a:gd name="adj" fmla="val 12903"/>
            </a:avLst>
          </a:prstGeom>
          <a:solidFill>
            <a:srgbClr val="FFFFFF"/>
          </a:solidFill>
          <a:ln w="12700">
            <a:solidFill>
              <a:srgbClr val="002060"/>
            </a:solidFill>
            <a:prstDash val="solid"/>
          </a:ln>
        </p:spPr>
      </p:sp>
      <p:sp>
        <p:nvSpPr>
          <p:cNvPr id="24" name="Text 20"/>
          <p:cNvSpPr txBox="1"/>
          <p:nvPr/>
        </p:nvSpPr>
        <p:spPr>
          <a:xfrm>
            <a:off x="868680" y="4846320"/>
            <a:ext cx="3931920" cy="566928"/>
          </a:xfrm>
          <a:prstGeom prst="rect">
            <a:avLst/>
          </a:prstGeom>
          <a:noFill/>
          <a:ln/>
        </p:spPr>
        <p:txBody>
          <a:bodyPr wrap="square" lIns="0" tIns="0" rIns="0" bIns="0" rtlCol="0" anchor="ctr"/>
          <a:lstStyle/>
          <a:p>
            <a:pPr indent="0" marL="0">
              <a:buNone/>
            </a:pPr>
            <a:r>
              <a:rPr lang="en-US" sz="1400" b="1" dirty="0">
                <a:solidFill>
                  <a:srgbClr val="002060"/>
                </a:solidFill>
                <a:latin typeface="Calibri" pitchFamily="34" charset="0"/>
                <a:ea typeface="Calibri" pitchFamily="34" charset="-122"/>
                <a:cs typeface="Calibri" pitchFamily="34" charset="-120"/>
              </a:rPr>
              <a:t>6. Cited evidence (RAG)</a:t>
            </a:r>
            <a:endParaRPr lang="en-US" sz="1400" dirty="0"/>
          </a:p>
          <a:p>
            <a:pPr indent="0" marL="0">
              <a:buNone/>
            </a:pPr>
            <a:r>
              <a:rPr lang="en-US" sz="1100" dirty="0">
                <a:solidFill>
                  <a:srgbClr val="5B6470"/>
                </a:solidFill>
                <a:latin typeface="Calibri" pitchFamily="34" charset="0"/>
                <a:ea typeface="Calibri" pitchFamily="34" charset="-122"/>
                <a:cs typeface="Calibri" pitchFamily="34" charset="-120"/>
              </a:rPr>
              <a:t>licence-cleared passages</a:t>
            </a:r>
            <a:endParaRPr lang="en-US" sz="1400" dirty="0"/>
          </a:p>
        </p:txBody>
      </p:sp>
      <p:sp>
        <p:nvSpPr>
          <p:cNvPr id="25" name="Shape 21"/>
          <p:cNvSpPr/>
          <p:nvPr/>
        </p:nvSpPr>
        <p:spPr>
          <a:xfrm>
            <a:off x="2834640" y="5413248"/>
            <a:ext cx="0" cy="164592"/>
          </a:xfrm>
          <a:prstGeom prst="line">
            <a:avLst/>
          </a:prstGeom>
          <a:noFill/>
          <a:ln w="15875">
            <a:solidFill>
              <a:srgbClr val="002060"/>
            </a:solidFill>
            <a:prstDash val="solid"/>
            <a:tailEnd type="triangle"/>
          </a:ln>
        </p:spPr>
      </p:sp>
      <p:sp>
        <p:nvSpPr>
          <p:cNvPr id="26" name="Shape 22"/>
          <p:cNvSpPr/>
          <p:nvPr/>
        </p:nvSpPr>
        <p:spPr>
          <a:xfrm>
            <a:off x="731520" y="5577840"/>
            <a:ext cx="4206240" cy="566928"/>
          </a:xfrm>
          <a:prstGeom prst="roundRect">
            <a:avLst>
              <a:gd name="adj" fmla="val 12903"/>
            </a:avLst>
          </a:prstGeom>
          <a:solidFill>
            <a:srgbClr val="002060"/>
          </a:solidFill>
          <a:ln w="12700">
            <a:solidFill>
              <a:srgbClr val="002060"/>
            </a:solidFill>
            <a:prstDash val="solid"/>
          </a:ln>
        </p:spPr>
      </p:sp>
      <p:sp>
        <p:nvSpPr>
          <p:cNvPr id="27" name="Text 23"/>
          <p:cNvSpPr txBox="1"/>
          <p:nvPr/>
        </p:nvSpPr>
        <p:spPr>
          <a:xfrm>
            <a:off x="868680" y="5577840"/>
            <a:ext cx="393192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7. Clinician decides</a:t>
            </a:r>
            <a:endParaRPr lang="en-US" sz="1400" dirty="0"/>
          </a:p>
          <a:p>
            <a:pPr indent="0" marL="0">
              <a:buNone/>
            </a:pPr>
            <a:r>
              <a:rPr lang="en-US" sz="1100" dirty="0">
                <a:solidFill>
                  <a:srgbClr val="DDE4F0"/>
                </a:solidFill>
                <a:latin typeface="Calibri" pitchFamily="34" charset="0"/>
                <a:ea typeface="Calibri" pitchFamily="34" charset="-122"/>
                <a:cs typeface="Calibri" pitchFamily="34" charset="-120"/>
              </a:rPr>
              <a:t>decision support only</a:t>
            </a:r>
            <a:endParaRPr lang="en-US" sz="1400" dirty="0"/>
          </a:p>
        </p:txBody>
      </p:sp>
      <p:sp>
        <p:nvSpPr>
          <p:cNvPr id="28" name="Shape 24"/>
          <p:cNvSpPr/>
          <p:nvPr/>
        </p:nvSpPr>
        <p:spPr>
          <a:xfrm>
            <a:off x="5394960" y="2514600"/>
            <a:ext cx="3383280" cy="1143000"/>
          </a:xfrm>
          <a:prstGeom prst="roundRect">
            <a:avLst>
              <a:gd name="adj" fmla="val 6400"/>
            </a:avLst>
          </a:prstGeom>
          <a:solidFill>
            <a:srgbClr val="ECEEEC"/>
          </a:solidFill>
          <a:ln w="9525">
            <a:solidFill>
              <a:srgbClr val="C9D2E3"/>
            </a:solidFill>
            <a:prstDash val="solid"/>
          </a:ln>
        </p:spPr>
      </p:sp>
      <p:sp>
        <p:nvSpPr>
          <p:cNvPr id="29" name="Text 25"/>
          <p:cNvSpPr txBox="1"/>
          <p:nvPr/>
        </p:nvSpPr>
        <p:spPr>
          <a:xfrm>
            <a:off x="5532120" y="2560320"/>
            <a:ext cx="3108960" cy="1051560"/>
          </a:xfrm>
          <a:prstGeom prst="rect">
            <a:avLst/>
          </a:prstGeom>
          <a:noFill/>
          <a:ln/>
        </p:spPr>
        <p:txBody>
          <a:bodyPr wrap="square" lIns="0" tIns="0" rIns="0" bIns="0" rtlCol="0" anchor="ctr"/>
          <a:lstStyle/>
          <a:p>
            <a:pPr indent="0" marL="0">
              <a:buNone/>
            </a:pPr>
            <a:r>
              <a:rPr lang="en-US" sz="1300" b="1" dirty="0">
                <a:solidFill>
                  <a:srgbClr val="3F4744"/>
                </a:solidFill>
                <a:latin typeface="Calibri" pitchFamily="34" charset="0"/>
                <a:ea typeface="Calibri" pitchFamily="34" charset="-122"/>
                <a:cs typeface="Calibri" pitchFamily="34" charset="-120"/>
              </a:rPr>
              <a:t>Too few similar patients? </a:t>
            </a:r>
            <a:pPr indent="0" marL="0">
              <a:buNone/>
            </a:pPr>
            <a:r>
              <a:rPr lang="en-US" sz="1300" dirty="0">
                <a:solidFill>
                  <a:srgbClr val="1F2328"/>
                </a:solidFill>
                <a:latin typeface="Calibri" pitchFamily="34" charset="0"/>
                <a:ea typeface="Calibri" pitchFamily="34" charset="-122"/>
                <a:cs typeface="Calibri" pitchFamily="34" charset="-120"/>
              </a:rPr>
              <a:t>Show “insufficient evidence”, never a guess (propensity &lt; 0.05).</a:t>
            </a:r>
            <a:endParaRPr lang="en-US" sz="1300" dirty="0"/>
          </a:p>
        </p:txBody>
      </p:sp>
      <p:sp>
        <p:nvSpPr>
          <p:cNvPr id="30" name="Shape 26"/>
          <p:cNvSpPr/>
          <p:nvPr/>
        </p:nvSpPr>
        <p:spPr>
          <a:xfrm>
            <a:off x="4937760" y="2660904"/>
            <a:ext cx="457200" cy="411480"/>
          </a:xfrm>
          <a:prstGeom prst="line">
            <a:avLst/>
          </a:prstGeom>
          <a:noFill/>
          <a:ln w="12700">
            <a:solidFill>
              <a:srgbClr val="3F4744"/>
            </a:solidFill>
            <a:prstDash val="dash"/>
            <a:tailEnd type="triangle"/>
          </a:ln>
        </p:spPr>
      </p:sp>
      <p:sp>
        <p:nvSpPr>
          <p:cNvPr id="31" name="Shape 27"/>
          <p:cNvSpPr/>
          <p:nvPr/>
        </p:nvSpPr>
        <p:spPr>
          <a:xfrm>
            <a:off x="5394960" y="3931920"/>
            <a:ext cx="3383280" cy="1600200"/>
          </a:xfrm>
          <a:prstGeom prst="roundRect">
            <a:avLst>
              <a:gd name="adj" fmla="val 4571"/>
            </a:avLst>
          </a:prstGeom>
          <a:solidFill>
            <a:srgbClr val="F5F7FB"/>
          </a:solidFill>
          <a:ln w="9525">
            <a:solidFill>
              <a:srgbClr val="C9D2E3"/>
            </a:solidFill>
            <a:prstDash val="solid"/>
          </a:ln>
        </p:spPr>
      </p:sp>
      <p:sp>
        <p:nvSpPr>
          <p:cNvPr id="32" name="Text 28"/>
          <p:cNvSpPr txBox="1"/>
          <p:nvPr/>
        </p:nvSpPr>
        <p:spPr>
          <a:xfrm>
            <a:off x="5532120" y="3977640"/>
            <a:ext cx="3108960" cy="1508760"/>
          </a:xfrm>
          <a:prstGeom prst="rect">
            <a:avLst/>
          </a:prstGeom>
          <a:noFill/>
          <a:ln/>
        </p:spPr>
        <p:txBody>
          <a:bodyPr wrap="square" lIns="0" tIns="0" rIns="0" bIns="0" rtlCol="0" anchor="ctr"/>
          <a:lstStyle/>
          <a:p>
            <a:pPr indent="0" marL="0">
              <a:buNone/>
            </a:pPr>
            <a:r>
              <a:rPr lang="en-US" sz="1300" b="1" dirty="0">
                <a:solidFill>
                  <a:srgbClr val="002060"/>
                </a:solidFill>
                <a:latin typeface="Calibri" pitchFamily="34" charset="0"/>
                <a:ea typeface="Calibri" pitchFamily="34" charset="-122"/>
                <a:cs typeface="Calibri" pitchFamily="34" charset="-120"/>
              </a:rPr>
              <a:t>Audit log </a:t>
            </a:r>
            <a:pPr indent="0" marL="0">
              <a:buNone/>
            </a:pPr>
            <a:r>
              <a:rPr lang="en-US" sz="1300" dirty="0">
                <a:solidFill>
                  <a:srgbClr val="1F2328"/>
                </a:solidFill>
                <a:latin typeface="Calibri" pitchFamily="34" charset="0"/>
                <a:ea typeface="Calibri" pitchFamily="34" charset="-122"/>
                <a:cs typeface="Calibri" pitchFamily="34" charset="-120"/>
              </a:rPr>
              <a:t>records versions, statuses and rule IDs for every request — never the patient's values.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Proposed System — Safety Rules</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Advik</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6</a:t>
            </a:r>
            <a:endParaRPr lang="en-US" sz="1000" dirty="0"/>
          </a:p>
        </p:txBody>
      </p:sp>
      <p:sp>
        <p:nvSpPr>
          <p:cNvPr id="8" name="Shape 4"/>
          <p:cNvSpPr/>
          <p:nvPr/>
        </p:nvSpPr>
        <p:spPr>
          <a:xfrm>
            <a:off x="457200" y="1188720"/>
            <a:ext cx="4023360" cy="1051560"/>
          </a:xfrm>
          <a:prstGeom prst="roundRect">
            <a:avLst>
              <a:gd name="adj" fmla="val 6957"/>
            </a:avLst>
          </a:prstGeom>
          <a:solidFill>
            <a:srgbClr val="EEF2F8"/>
          </a:solidFill>
          <a:ln w="9525">
            <a:solidFill>
              <a:srgbClr val="C9D2E3"/>
            </a:solidFill>
            <a:prstDash val="solid"/>
          </a:ln>
        </p:spPr>
      </p:sp>
      <p:sp>
        <p:nvSpPr>
          <p:cNvPr id="9" name="Shape 5"/>
          <p:cNvSpPr/>
          <p:nvPr/>
        </p:nvSpPr>
        <p:spPr>
          <a:xfrm>
            <a:off x="621792" y="1444752"/>
            <a:ext cx="530352" cy="530352"/>
          </a:xfrm>
          <a:prstGeom prst="ellipse">
            <a:avLst/>
          </a:prstGeom>
          <a:solidFill>
            <a:srgbClr val="002060"/>
          </a:solidFill>
          <a:ln w="12700">
            <a:solidFill>
              <a:srgbClr val="002060"/>
            </a:solidFill>
            <a:prstDash val="solid"/>
          </a:ln>
        </p:spPr>
      </p:sp>
      <p:sp>
        <p:nvSpPr>
          <p:cNvPr id="10" name="Text 6"/>
          <p:cNvSpPr txBox="1"/>
          <p:nvPr/>
        </p:nvSpPr>
        <p:spPr>
          <a:xfrm>
            <a:off x="621792" y="1444752"/>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1" name="Text 7"/>
          <p:cNvSpPr txBox="1"/>
          <p:nvPr/>
        </p:nvSpPr>
        <p:spPr>
          <a:xfrm>
            <a:off x="1280160" y="1188720"/>
            <a:ext cx="3108960" cy="105156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Decision support only</a:t>
            </a:r>
            <a:endParaRPr lang="en-US" sz="1500" dirty="0"/>
          </a:p>
          <a:p>
            <a:pPr indent="0" marL="0">
              <a:buNone/>
            </a:pPr>
            <a:r>
              <a:rPr lang="en-US" sz="1200" dirty="0">
                <a:solidFill>
                  <a:srgbClr val="5B6470"/>
                </a:solidFill>
                <a:latin typeface="Calibri" pitchFamily="34" charset="0"/>
                <a:ea typeface="Calibri" pitchFamily="34" charset="-122"/>
                <a:cs typeface="Calibri" pitchFamily="34" charset="-120"/>
              </a:rPr>
              <a:t>the clinician always decides</a:t>
            </a:r>
            <a:endParaRPr lang="en-US" sz="1500" dirty="0"/>
          </a:p>
        </p:txBody>
      </p:sp>
      <p:sp>
        <p:nvSpPr>
          <p:cNvPr id="12" name="Shape 8"/>
          <p:cNvSpPr/>
          <p:nvPr/>
        </p:nvSpPr>
        <p:spPr>
          <a:xfrm>
            <a:off x="4663440" y="1188720"/>
            <a:ext cx="4023360" cy="1051560"/>
          </a:xfrm>
          <a:prstGeom prst="roundRect">
            <a:avLst>
              <a:gd name="adj" fmla="val 6957"/>
            </a:avLst>
          </a:prstGeom>
          <a:solidFill>
            <a:srgbClr val="EEF2F8"/>
          </a:solidFill>
          <a:ln w="9525">
            <a:solidFill>
              <a:srgbClr val="C9D2E3"/>
            </a:solidFill>
            <a:prstDash val="solid"/>
          </a:ln>
        </p:spPr>
      </p:sp>
      <p:sp>
        <p:nvSpPr>
          <p:cNvPr id="13" name="Shape 9"/>
          <p:cNvSpPr/>
          <p:nvPr/>
        </p:nvSpPr>
        <p:spPr>
          <a:xfrm>
            <a:off x="4828032" y="1444752"/>
            <a:ext cx="530352" cy="530352"/>
          </a:xfrm>
          <a:prstGeom prst="ellipse">
            <a:avLst/>
          </a:prstGeom>
          <a:solidFill>
            <a:srgbClr val="002060"/>
          </a:solidFill>
          <a:ln w="12700">
            <a:solidFill>
              <a:srgbClr val="002060"/>
            </a:solidFill>
            <a:prstDash val="solid"/>
          </a:ln>
        </p:spPr>
      </p:sp>
      <p:sp>
        <p:nvSpPr>
          <p:cNvPr id="14" name="Text 10"/>
          <p:cNvSpPr txBox="1"/>
          <p:nvPr/>
        </p:nvSpPr>
        <p:spPr>
          <a:xfrm>
            <a:off x="4828032" y="1444752"/>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5" name="Text 11"/>
          <p:cNvSpPr txBox="1"/>
          <p:nvPr/>
        </p:nvSpPr>
        <p:spPr>
          <a:xfrm>
            <a:off x="5486400" y="1188720"/>
            <a:ext cx="3108960" cy="105156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Safety first</a:t>
            </a:r>
            <a:endParaRPr lang="en-US" sz="1500" dirty="0"/>
          </a:p>
          <a:p>
            <a:pPr indent="0" marL="0">
              <a:buNone/>
            </a:pPr>
            <a:r>
              <a:rPr lang="en-US" sz="1200" dirty="0">
                <a:solidFill>
                  <a:srgbClr val="5B6470"/>
                </a:solidFill>
                <a:latin typeface="Calibri" pitchFamily="34" charset="0"/>
                <a:ea typeface="Calibri" pitchFamily="34" charset="-122"/>
                <a:cs typeface="Calibri" pitchFamily="34" charset="-120"/>
              </a:rPr>
              <a:t>cited rules run before any estimate; excluded options are never estimated</a:t>
            </a:r>
            <a:endParaRPr lang="en-US" sz="1500" dirty="0"/>
          </a:p>
        </p:txBody>
      </p:sp>
      <p:sp>
        <p:nvSpPr>
          <p:cNvPr id="16" name="Shape 12"/>
          <p:cNvSpPr/>
          <p:nvPr/>
        </p:nvSpPr>
        <p:spPr>
          <a:xfrm>
            <a:off x="457200" y="2423160"/>
            <a:ext cx="4023360" cy="1051560"/>
          </a:xfrm>
          <a:prstGeom prst="roundRect">
            <a:avLst>
              <a:gd name="adj" fmla="val 6957"/>
            </a:avLst>
          </a:prstGeom>
          <a:solidFill>
            <a:srgbClr val="EEF2F8"/>
          </a:solidFill>
          <a:ln w="9525">
            <a:solidFill>
              <a:srgbClr val="C9D2E3"/>
            </a:solidFill>
            <a:prstDash val="solid"/>
          </a:ln>
        </p:spPr>
      </p:sp>
      <p:sp>
        <p:nvSpPr>
          <p:cNvPr id="17" name="Shape 13"/>
          <p:cNvSpPr/>
          <p:nvPr/>
        </p:nvSpPr>
        <p:spPr>
          <a:xfrm>
            <a:off x="621792" y="2679192"/>
            <a:ext cx="530352" cy="530352"/>
          </a:xfrm>
          <a:prstGeom prst="ellipse">
            <a:avLst/>
          </a:prstGeom>
          <a:solidFill>
            <a:srgbClr val="002060"/>
          </a:solidFill>
          <a:ln w="12700">
            <a:solidFill>
              <a:srgbClr val="002060"/>
            </a:solidFill>
            <a:prstDash val="solid"/>
          </a:ln>
        </p:spPr>
      </p:sp>
      <p:sp>
        <p:nvSpPr>
          <p:cNvPr id="18" name="Text 14"/>
          <p:cNvSpPr txBox="1"/>
          <p:nvPr/>
        </p:nvSpPr>
        <p:spPr>
          <a:xfrm>
            <a:off x="621792" y="2679192"/>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5"/>
          <p:cNvSpPr txBox="1"/>
          <p:nvPr/>
        </p:nvSpPr>
        <p:spPr>
          <a:xfrm>
            <a:off x="1280160" y="2423160"/>
            <a:ext cx="3108960" cy="105156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Honest uncertainty</a:t>
            </a:r>
            <a:endParaRPr lang="en-US" sz="1500" dirty="0"/>
          </a:p>
          <a:p>
            <a:pPr indent="0" marL="0">
              <a:buNone/>
            </a:pPr>
            <a:r>
              <a:rPr lang="en-US" sz="1200" dirty="0">
                <a:solidFill>
                  <a:srgbClr val="5B6470"/>
                </a:solidFill>
                <a:latin typeface="Calibri" pitchFamily="34" charset="0"/>
                <a:ea typeface="Calibri" pitchFamily="34" charset="-122"/>
                <a:cs typeface="Calibri" pitchFamily="34" charset="-120"/>
              </a:rPr>
              <a:t>every estimate has a 95% interval</a:t>
            </a:r>
            <a:endParaRPr lang="en-US" sz="1500" dirty="0"/>
          </a:p>
        </p:txBody>
      </p:sp>
      <p:sp>
        <p:nvSpPr>
          <p:cNvPr id="20" name="Shape 16"/>
          <p:cNvSpPr/>
          <p:nvPr/>
        </p:nvSpPr>
        <p:spPr>
          <a:xfrm>
            <a:off x="4663440" y="2423160"/>
            <a:ext cx="4023360" cy="1051560"/>
          </a:xfrm>
          <a:prstGeom prst="roundRect">
            <a:avLst>
              <a:gd name="adj" fmla="val 6957"/>
            </a:avLst>
          </a:prstGeom>
          <a:solidFill>
            <a:srgbClr val="EEF2F8"/>
          </a:solidFill>
          <a:ln w="9525">
            <a:solidFill>
              <a:srgbClr val="C9D2E3"/>
            </a:solidFill>
            <a:prstDash val="solid"/>
          </a:ln>
        </p:spPr>
      </p:sp>
      <p:sp>
        <p:nvSpPr>
          <p:cNvPr id="21" name="Shape 17"/>
          <p:cNvSpPr/>
          <p:nvPr/>
        </p:nvSpPr>
        <p:spPr>
          <a:xfrm>
            <a:off x="4828032" y="2679192"/>
            <a:ext cx="530352" cy="530352"/>
          </a:xfrm>
          <a:prstGeom prst="ellipse">
            <a:avLst/>
          </a:prstGeom>
          <a:solidFill>
            <a:srgbClr val="002060"/>
          </a:solidFill>
          <a:ln w="12700">
            <a:solidFill>
              <a:srgbClr val="002060"/>
            </a:solidFill>
            <a:prstDash val="solid"/>
          </a:ln>
        </p:spPr>
      </p:sp>
      <p:sp>
        <p:nvSpPr>
          <p:cNvPr id="22" name="Text 18"/>
          <p:cNvSpPr txBox="1"/>
          <p:nvPr/>
        </p:nvSpPr>
        <p:spPr>
          <a:xfrm>
            <a:off x="4828032" y="2679192"/>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3" name="Text 19"/>
          <p:cNvSpPr txBox="1"/>
          <p:nvPr/>
        </p:nvSpPr>
        <p:spPr>
          <a:xfrm>
            <a:off x="5486400" y="2423160"/>
            <a:ext cx="3108960" cy="105156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Refuse to guess</a:t>
            </a:r>
            <a:endParaRPr lang="en-US" sz="1500" dirty="0"/>
          </a:p>
          <a:p>
            <a:pPr indent="0" marL="0">
              <a:buNone/>
            </a:pPr>
            <a:r>
              <a:rPr lang="en-US" sz="1200" dirty="0">
                <a:solidFill>
                  <a:srgbClr val="5B6470"/>
                </a:solidFill>
                <a:latin typeface="Calibri" pitchFamily="34" charset="0"/>
                <a:ea typeface="Calibri" pitchFamily="34" charset="-122"/>
                <a:cs typeface="Calibri" pitchFamily="34" charset="-120"/>
              </a:rPr>
              <a:t>“insufficient evidence” when propensity &lt; 0.05</a:t>
            </a:r>
            <a:endParaRPr lang="en-US" sz="1500" dirty="0"/>
          </a:p>
        </p:txBody>
      </p:sp>
      <p:sp>
        <p:nvSpPr>
          <p:cNvPr id="24" name="Shape 20"/>
          <p:cNvSpPr/>
          <p:nvPr/>
        </p:nvSpPr>
        <p:spPr>
          <a:xfrm>
            <a:off x="457200" y="3657600"/>
            <a:ext cx="4023360" cy="1051560"/>
          </a:xfrm>
          <a:prstGeom prst="roundRect">
            <a:avLst>
              <a:gd name="adj" fmla="val 6957"/>
            </a:avLst>
          </a:prstGeom>
          <a:solidFill>
            <a:srgbClr val="EEF2F8"/>
          </a:solidFill>
          <a:ln w="9525">
            <a:solidFill>
              <a:srgbClr val="C9D2E3"/>
            </a:solidFill>
            <a:prstDash val="solid"/>
          </a:ln>
        </p:spPr>
      </p:sp>
      <p:sp>
        <p:nvSpPr>
          <p:cNvPr id="25" name="Shape 21"/>
          <p:cNvSpPr/>
          <p:nvPr/>
        </p:nvSpPr>
        <p:spPr>
          <a:xfrm>
            <a:off x="621792" y="3913632"/>
            <a:ext cx="530352" cy="530352"/>
          </a:xfrm>
          <a:prstGeom prst="ellipse">
            <a:avLst/>
          </a:prstGeom>
          <a:solidFill>
            <a:srgbClr val="002060"/>
          </a:solidFill>
          <a:ln w="12700">
            <a:solidFill>
              <a:srgbClr val="002060"/>
            </a:solidFill>
            <a:prstDash val="solid"/>
          </a:ln>
        </p:spPr>
      </p:sp>
      <p:sp>
        <p:nvSpPr>
          <p:cNvPr id="26" name="Text 22"/>
          <p:cNvSpPr txBox="1"/>
          <p:nvPr/>
        </p:nvSpPr>
        <p:spPr>
          <a:xfrm>
            <a:off x="621792" y="3913632"/>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7" name="Text 23"/>
          <p:cNvSpPr txBox="1"/>
          <p:nvPr/>
        </p:nvSpPr>
        <p:spPr>
          <a:xfrm>
            <a:off x="1280160" y="3657600"/>
            <a:ext cx="3108960" cy="105156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No doses, no invented rules</a:t>
            </a:r>
            <a:endParaRPr lang="en-US" sz="1500" dirty="0"/>
          </a:p>
          <a:p>
            <a:pPr indent="0" marL="0">
              <a:buNone/>
            </a:pPr>
            <a:r>
              <a:rPr lang="en-US" sz="1200" dirty="0">
                <a:solidFill>
                  <a:srgbClr val="5B6470"/>
                </a:solidFill>
                <a:latin typeface="Calibri" pitchFamily="34" charset="0"/>
                <a:ea typeface="Calibri" pitchFamily="34" charset="-122"/>
                <a:cs typeface="Calibri" pitchFamily="34" charset="-120"/>
              </a:rPr>
              <a:t>thresholds live only in rules.csv, each with a source</a:t>
            </a:r>
            <a:endParaRPr lang="en-US" sz="1500" dirty="0"/>
          </a:p>
        </p:txBody>
      </p:sp>
      <p:sp>
        <p:nvSpPr>
          <p:cNvPr id="28" name="Shape 24"/>
          <p:cNvSpPr/>
          <p:nvPr/>
        </p:nvSpPr>
        <p:spPr>
          <a:xfrm>
            <a:off x="4663440" y="3657600"/>
            <a:ext cx="4023360" cy="1051560"/>
          </a:xfrm>
          <a:prstGeom prst="roundRect">
            <a:avLst>
              <a:gd name="adj" fmla="val 6957"/>
            </a:avLst>
          </a:prstGeom>
          <a:solidFill>
            <a:srgbClr val="EEF2F8"/>
          </a:solidFill>
          <a:ln w="9525">
            <a:solidFill>
              <a:srgbClr val="C9D2E3"/>
            </a:solidFill>
            <a:prstDash val="solid"/>
          </a:ln>
        </p:spPr>
      </p:sp>
      <p:sp>
        <p:nvSpPr>
          <p:cNvPr id="29" name="Shape 25"/>
          <p:cNvSpPr/>
          <p:nvPr/>
        </p:nvSpPr>
        <p:spPr>
          <a:xfrm>
            <a:off x="4828032" y="3913632"/>
            <a:ext cx="530352" cy="530352"/>
          </a:xfrm>
          <a:prstGeom prst="ellipse">
            <a:avLst/>
          </a:prstGeom>
          <a:solidFill>
            <a:srgbClr val="002060"/>
          </a:solidFill>
          <a:ln w="12700">
            <a:solidFill>
              <a:srgbClr val="002060"/>
            </a:solidFill>
            <a:prstDash val="solid"/>
          </a:ln>
        </p:spPr>
      </p:sp>
      <p:sp>
        <p:nvSpPr>
          <p:cNvPr id="30" name="Text 26"/>
          <p:cNvSpPr txBox="1"/>
          <p:nvPr/>
        </p:nvSpPr>
        <p:spPr>
          <a:xfrm>
            <a:off x="4828032" y="3913632"/>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31" name="Text 27"/>
          <p:cNvSpPr txBox="1"/>
          <p:nvPr/>
        </p:nvSpPr>
        <p:spPr>
          <a:xfrm>
            <a:off x="5486400" y="3657600"/>
            <a:ext cx="3108960" cy="1051560"/>
          </a:xfrm>
          <a:prstGeom prst="rect">
            <a:avLst/>
          </a:prstGeom>
          <a:noFill/>
          <a:ln/>
        </p:spPr>
        <p:txBody>
          <a:bodyPr wrap="square" lIns="0" tIns="0" rIns="0" bIns="0" rtlCol="0" anchor="ctr"/>
          <a:lstStyle/>
          <a:p>
            <a:pPr indent="0" marL="0">
              <a:buNone/>
            </a:pPr>
            <a:r>
              <a:rPr lang="en-US" sz="1500" b="1" dirty="0">
                <a:solidFill>
                  <a:srgbClr val="1F2328"/>
                </a:solidFill>
                <a:latin typeface="Calibri" pitchFamily="34" charset="0"/>
                <a:ea typeface="Calibri" pitchFamily="34" charset="-122"/>
                <a:cs typeface="Calibri" pitchFamily="34" charset="-120"/>
              </a:rPr>
              <a:t>Synthetic data only</a:t>
            </a:r>
            <a:endParaRPr lang="en-US" sz="1500" dirty="0"/>
          </a:p>
          <a:p>
            <a:pPr indent="0" marL="0">
              <a:buNone/>
            </a:pPr>
            <a:r>
              <a:rPr lang="en-US" sz="1200" dirty="0">
                <a:solidFill>
                  <a:srgbClr val="5B6470"/>
                </a:solidFill>
                <a:latin typeface="Calibri" pitchFamily="34" charset="0"/>
                <a:ea typeface="Calibri" pitchFamily="34" charset="-122"/>
                <a:cs typeface="Calibri" pitchFamily="34" charset="-120"/>
              </a:rPr>
              <a:t>every generator number has a source and a status</a:t>
            </a:r>
            <a:endParaRPr lang="en-US" sz="1500" dirty="0"/>
          </a:p>
        </p:txBody>
      </p:sp>
      <p:sp>
        <p:nvSpPr>
          <p:cNvPr id="32" name="Shape 28"/>
          <p:cNvSpPr/>
          <p:nvPr/>
        </p:nvSpPr>
        <p:spPr>
          <a:xfrm>
            <a:off x="457200" y="4983480"/>
            <a:ext cx="8229600" cy="914400"/>
          </a:xfrm>
          <a:prstGeom prst="rect">
            <a:avLst/>
          </a:prstGeom>
          <a:solidFill>
            <a:srgbClr val="002060"/>
          </a:solidFill>
          <a:ln w="12700">
            <a:solidFill>
              <a:srgbClr val="002060"/>
            </a:solidFill>
            <a:prstDash val="solid"/>
          </a:ln>
        </p:spPr>
      </p:sp>
      <p:sp>
        <p:nvSpPr>
          <p:cNvPr id="33" name="Text 29"/>
          <p:cNvSpPr txBox="1"/>
          <p:nvPr/>
        </p:nvSpPr>
        <p:spPr>
          <a:xfrm>
            <a:off x="640080" y="4983480"/>
            <a:ext cx="78638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 every screen and every reply: </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Research prototype for clinician evaluation; not a marketed medical device; not for unsupervised clinical use.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Hardware &amp; Software Requirements</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Advik</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45920"/>
                <a:gridCol w="2377440"/>
                <a:gridCol w="4206240"/>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Tier</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Hardware</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Software</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r>
              <a:tr h="0">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Development</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Laptop, ≥ 8 GB RAM (MacBook Air, Apple silicon)</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Python 3.12, NumPy, pandas, scikit-learn, Matplotlib, pytest, Node.js 24, Git/GitHub</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Causal engine &amp; API</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Same laptop</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FastAPI, Uvicorn, Pydantic; Streamlit demo</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Website</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Any phone or laptop browser</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HTML/CSS/JS installable app (works offline); Netlify hosting; Supabase accounts (Mumbai)</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Chat application</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Laptop or 2-CPU / 4 GB server</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FastAPI, React, TypeScript, SQLite, faster-whisper, Docker</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RAG</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Same laptop</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PDF parser, BM25 + vector search, rank fusion; template / free online / local model</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Documentation</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Any laptop</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LaTeX (Overleaf), presentation software</a:t>
                      </a:r>
                      <a:endParaRPr lang="en-US" sz="12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bl>
          </a:graphicData>
        </a:graphic>
      </p:graphicFrame>
      <p:sp>
        <p:nvSpPr>
          <p:cNvPr id="9" name="Shape 4"/>
          <p:cNvSpPr/>
          <p:nvPr/>
        </p:nvSpPr>
        <p:spPr>
          <a:xfrm>
            <a:off x="457200" y="5486400"/>
            <a:ext cx="8229600" cy="685800"/>
          </a:xfrm>
          <a:prstGeom prst="roundRect">
            <a:avLst>
              <a:gd name="adj" fmla="val 10667"/>
            </a:avLst>
          </a:prstGeom>
          <a:solidFill>
            <a:srgbClr val="F5F7FB"/>
          </a:solidFill>
          <a:ln w="9525">
            <a:solidFill>
              <a:srgbClr val="C9D2E3"/>
            </a:solidFill>
            <a:prstDash val="solid"/>
          </a:ln>
        </p:spPr>
      </p:sp>
      <p:sp>
        <p:nvSpPr>
          <p:cNvPr id="10" name="Text 5"/>
          <p:cNvSpPr txBox="1"/>
          <p:nvPr/>
        </p:nvSpPr>
        <p:spPr>
          <a:xfrm>
            <a:off x="640080" y="5486400"/>
            <a:ext cx="7863840" cy="685800"/>
          </a:xfrm>
          <a:prstGeom prst="rect">
            <a:avLst/>
          </a:prstGeom>
          <a:noFill/>
          <a:ln/>
        </p:spPr>
        <p:txBody>
          <a:bodyPr wrap="square" lIns="0" tIns="0" rIns="0" bIns="0" rtlCol="0" anchor="ctr"/>
          <a:lstStyle/>
          <a:p>
            <a:pPr indent="0" marL="0">
              <a:buNone/>
            </a:pPr>
            <a:r>
              <a:rPr lang="en-US" sz="1400" b="1" dirty="0">
                <a:solidFill>
                  <a:srgbClr val="002060"/>
                </a:solidFill>
                <a:latin typeface="Calibri" pitchFamily="34" charset="0"/>
                <a:ea typeface="Calibri" pitchFamily="34" charset="-122"/>
                <a:cs typeface="Calibri" pitchFamily="34" charset="-120"/>
              </a:rPr>
              <a:t>Cost: </a:t>
            </a:r>
            <a:pPr indent="0" marL="0">
              <a:buNone/>
            </a:pPr>
            <a:r>
              <a:rPr lang="en-US" sz="1400" dirty="0">
                <a:solidFill>
                  <a:srgbClr val="1F2328"/>
                </a:solidFill>
                <a:latin typeface="Calibri" pitchFamily="34" charset="0"/>
                <a:ea typeface="Calibri" pitchFamily="34" charset="-122"/>
                <a:cs typeface="Calibri" pitchFamily="34" charset="-120"/>
              </a:rPr>
              <a:t>₹0 — open-source software and free hosting tiers; effort ≈ 670 person-hours (4 members × 12 h/week × 14 weeks).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System Requirements</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Advik</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8</a:t>
            </a:r>
            <a:endParaRPr lang="en-US" sz="1000" dirty="0"/>
          </a:p>
        </p:txBody>
      </p:sp>
      <p:sp>
        <p:nvSpPr>
          <p:cNvPr id="8" name="Text 4"/>
          <p:cNvSpPr txBox="1"/>
          <p:nvPr/>
        </p:nvSpPr>
        <p:spPr>
          <a:xfrm>
            <a:off x="457200" y="1097280"/>
            <a:ext cx="4023360" cy="365760"/>
          </a:xfrm>
          <a:prstGeom prst="rect">
            <a:avLst/>
          </a:prstGeom>
          <a:noFill/>
          <a:ln/>
        </p:spPr>
        <p:txBody>
          <a:bodyPr wrap="square" lIns="0" tIns="0" rIns="0" bIns="0" rtlCol="0" anchor="ctr"/>
          <a:lstStyle/>
          <a:p>
            <a:pPr indent="0" marL="0">
              <a:buNone/>
            </a:pPr>
            <a:r>
              <a:rPr lang="en-US" sz="1600" b="1" u="sng" dirty="0">
                <a:solidFill>
                  <a:srgbClr val="002060"/>
                </a:solidFill>
                <a:latin typeface="Calibri" pitchFamily="34" charset="0"/>
                <a:ea typeface="Calibri" pitchFamily="34" charset="-122"/>
                <a:cs typeface="Calibri" pitchFamily="34" charset="-120"/>
              </a:rPr>
              <a:t>Functional (status on 26 Sept)</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4206240" cy="914400"/>
        </p:xfrm>
        <a:graphic>
          <a:graphicData uri="http://schemas.openxmlformats.org/drawingml/2006/table">
            <a:tbl>
              <a:tblPr/>
              <a:tblGrid>
                <a:gridCol w="731520"/>
                <a:gridCol w="2377440"/>
                <a:gridCol w="10972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FR1–2</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Capture and validate patient details, units</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Done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FR3</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Cited safety rules with reasons</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Done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FR4–5</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Propensity, overlap, “insufficient evidence”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Done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FR6</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6-month HbA1c change ± 95%</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Done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FR7</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Hypoglycaemia risk, weight change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FR8</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Cost (INR/month), dated</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Done*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FR9</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Cited explanation (RAG)</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Retrieval done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FR10</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Audit log (no patient values)</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Done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FR11</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Consultation summary</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FR12</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Sign-up, MFA, admin approval</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00" dirty="0">
                          <a:solidFill>
                            <a:srgbClr val="1F2328"/>
                          </a:solidFill>
                          <a:latin typeface="Calibri" pitchFamily="34" charset="0"/>
                          <a:ea typeface="Calibri" pitchFamily="34" charset="-122"/>
                          <a:cs typeface="Calibri" pitchFamily="34" charset="-120"/>
                        </a:rPr>
                        <a:t>Done</a:t>
                      </a:r>
                      <a:endParaRPr lang="en-US" sz="11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bl>
          </a:graphicData>
        </a:graphic>
      </p:graphicFrame>
      <p:sp>
        <p:nvSpPr>
          <p:cNvPr id="10" name="Text 5"/>
          <p:cNvSpPr txBox="1"/>
          <p:nvPr/>
        </p:nvSpPr>
        <p:spPr>
          <a:xfrm>
            <a:off x="457200" y="5989320"/>
            <a:ext cx="4206240" cy="274320"/>
          </a:xfrm>
          <a:prstGeom prst="rect">
            <a:avLst/>
          </a:prstGeom>
          <a:noFill/>
          <a:ln/>
        </p:spPr>
        <p:txBody>
          <a:bodyPr wrap="square" lIns="0" tIns="0" rIns="0" bIns="0"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*prices shown as “unavailable” until confirmed</a:t>
            </a:r>
            <a:endParaRPr lang="en-US" sz="950" dirty="0"/>
          </a:p>
        </p:txBody>
      </p:sp>
      <p:sp>
        <p:nvSpPr>
          <p:cNvPr id="11" name="Text 6"/>
          <p:cNvSpPr txBox="1"/>
          <p:nvPr/>
        </p:nvSpPr>
        <p:spPr>
          <a:xfrm>
            <a:off x="4937760" y="1097280"/>
            <a:ext cx="3840480" cy="365760"/>
          </a:xfrm>
          <a:prstGeom prst="rect">
            <a:avLst/>
          </a:prstGeom>
          <a:noFill/>
          <a:ln/>
        </p:spPr>
        <p:txBody>
          <a:bodyPr wrap="square" lIns="0" tIns="0" rIns="0" bIns="0" rtlCol="0" anchor="ctr"/>
          <a:lstStyle/>
          <a:p>
            <a:pPr indent="0" marL="0">
              <a:buNone/>
            </a:pPr>
            <a:r>
              <a:rPr lang="en-US" sz="1600" b="1" u="sng" dirty="0">
                <a:solidFill>
                  <a:srgbClr val="002060"/>
                </a:solidFill>
                <a:latin typeface="Calibri" pitchFamily="34" charset="0"/>
                <a:ea typeface="Calibri" pitchFamily="34" charset="-122"/>
                <a:cs typeface="Calibri" pitchFamily="34" charset="-120"/>
              </a:rPr>
              <a:t>Non-functional</a:t>
            </a:r>
            <a:endParaRPr lang="en-US" sz="1600" dirty="0"/>
          </a:p>
        </p:txBody>
      </p:sp>
      <p:sp>
        <p:nvSpPr>
          <p:cNvPr id="12" name="Text 7"/>
          <p:cNvSpPr txBox="1"/>
          <p:nvPr/>
        </p:nvSpPr>
        <p:spPr>
          <a:xfrm>
            <a:off x="4937760" y="1554480"/>
            <a:ext cx="3840480" cy="4480560"/>
          </a:xfrm>
          <a:prstGeom prst="rect">
            <a:avLst/>
          </a:prstGeom>
          <a:noFill/>
          <a:ln/>
        </p:spPr>
        <p:txBody>
          <a:bodyPr wrap="square" lIns="635" tIns="635" rIns="635" bIns="635" rtlCol="0" anchor="t"/>
          <a:lstStyle/>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Safety: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8 rules enforced by automated tests</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Correctness: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estimators tested against known truth</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Performance: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&lt; 3 s per request</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Privacy: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patient details never leave the device; DPDP Act 2023</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Security: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HTTPS, authenticator app, admin approval</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Usability: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SUS ≥ 68; WCAG 2.1 AA</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Licences: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every source recorded with its licence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Timeline / Gantt Chart</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Advik</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9</a:t>
            </a:r>
            <a:endParaRPr lang="en-US" sz="1000" dirty="0"/>
          </a:p>
        </p:txBody>
      </p:sp>
      <p:pic>
        <p:nvPicPr>
          <p:cNvPr id="8" name="Image 1" descr="/home/user/DiaCausal-CDSS/docs/midsem/gantt.png">    </p:cNvPr>
          <p:cNvPicPr>
            <a:picLocks noChangeAspect="1"/>
          </p:cNvPicPr>
          <p:nvPr/>
        </p:nvPicPr>
        <p:blipFill>
          <a:blip r:embed="rId2"/>
          <a:stretch>
            <a:fillRect/>
          </a:stretch>
        </p:blipFill>
        <p:spPr>
          <a:xfrm>
            <a:off x="320040" y="1188720"/>
            <a:ext cx="8503920" cy="4389120"/>
          </a:xfrm>
          <a:prstGeom prst="rect">
            <a:avLst/>
          </a:prstGeom>
        </p:spPr>
      </p:pic>
      <p:sp>
        <p:nvSpPr>
          <p:cNvPr id="9" name="Text 4"/>
          <p:cNvSpPr txBox="1"/>
          <p:nvPr/>
        </p:nvSpPr>
        <p:spPr>
          <a:xfrm>
            <a:off x="457200" y="5760720"/>
            <a:ext cx="8229600" cy="365760"/>
          </a:xfrm>
          <a:prstGeom prst="rect">
            <a:avLst/>
          </a:prstGeom>
          <a:noFill/>
          <a:ln/>
        </p:spPr>
        <p:txBody>
          <a:bodyPr wrap="square" lIns="0" tIns="0" rIns="0" bIns="0" rtlCol="0" anchor="ctr"/>
          <a:lstStyle/>
          <a:p>
            <a:pPr indent="0" marL="0">
              <a:buNone/>
            </a:pPr>
            <a:r>
              <a:rPr lang="en-US" sz="1200" i="1" dirty="0">
                <a:solidFill>
                  <a:srgbClr val="5B6470"/>
                </a:solidFill>
                <a:latin typeface="Calibri" pitchFamily="34" charset="0"/>
                <a:ea typeface="Calibri" pitchFamily="34" charset="-122"/>
                <a:cs typeface="Calibri" pitchFamily="34" charset="-120"/>
              </a:rPr>
              <a:t>Early phases (July–August) are approximate. Buffer days: 2 Oct (Gandhi Jayanti), 20 Oct (Dussehra).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System Design — Architecture</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Graceton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10</a:t>
            </a:r>
            <a:endParaRPr lang="en-US" sz="1000" dirty="0"/>
          </a:p>
        </p:txBody>
      </p:sp>
      <p:pic>
        <p:nvPicPr>
          <p:cNvPr id="8" name="Image 1" descr="/home/user/DiaCausal-CDSS/docs/midsem/diagrams/block.png">    </p:cNvPr>
          <p:cNvPicPr>
            <a:picLocks noChangeAspect="1"/>
          </p:cNvPicPr>
          <p:nvPr/>
        </p:nvPicPr>
        <p:blipFill>
          <a:blip r:embed="rId2"/>
          <a:stretch>
            <a:fillRect/>
          </a:stretch>
        </p:blipFill>
        <p:spPr>
          <a:xfrm>
            <a:off x="457200" y="1188720"/>
            <a:ext cx="8229600" cy="4087368"/>
          </a:xfrm>
          <a:prstGeom prst="rect">
            <a:avLst/>
          </a:prstGeom>
        </p:spPr>
      </p:pic>
      <p:sp>
        <p:nvSpPr>
          <p:cNvPr id="9" name="Shape 4"/>
          <p:cNvSpPr/>
          <p:nvPr/>
        </p:nvSpPr>
        <p:spPr>
          <a:xfrm>
            <a:off x="457200" y="5440680"/>
            <a:ext cx="8229600" cy="731520"/>
          </a:xfrm>
          <a:prstGeom prst="roundRect">
            <a:avLst>
              <a:gd name="adj" fmla="val 10000"/>
            </a:avLst>
          </a:prstGeom>
          <a:solidFill>
            <a:srgbClr val="F5F7FB"/>
          </a:solidFill>
          <a:ln w="9525">
            <a:solidFill>
              <a:srgbClr val="C9D2E3"/>
            </a:solidFill>
            <a:prstDash val="solid"/>
          </a:ln>
        </p:spPr>
      </p:sp>
      <p:sp>
        <p:nvSpPr>
          <p:cNvPr id="10" name="Text 5"/>
          <p:cNvSpPr txBox="1"/>
          <p:nvPr/>
        </p:nvSpPr>
        <p:spPr>
          <a:xfrm>
            <a:off x="640080" y="5440680"/>
            <a:ext cx="7863840" cy="731520"/>
          </a:xfrm>
          <a:prstGeom prst="rect">
            <a:avLst/>
          </a:prstGeom>
          <a:noFill/>
          <a:ln/>
        </p:spPr>
        <p:txBody>
          <a:bodyPr wrap="square" lIns="0" tIns="0" rIns="0" bIns="0" rtlCol="0" anchor="ctr"/>
          <a:lstStyle/>
          <a:p>
            <a:pPr indent="0" marL="0">
              <a:buNone/>
            </a:pPr>
            <a:r>
              <a:rPr lang="en-US" sz="1300" b="1" dirty="0">
                <a:solidFill>
                  <a:srgbClr val="002060"/>
                </a:solidFill>
                <a:latin typeface="Calibri" pitchFamily="34" charset="0"/>
                <a:ea typeface="Calibri" pitchFamily="34" charset="-122"/>
                <a:cs typeface="Calibri" pitchFamily="34" charset="-120"/>
              </a:rPr>
              <a:t>Same answers everywhere: </a:t>
            </a:r>
            <a:pPr indent="0" marL="0">
              <a:buNone/>
            </a:pPr>
            <a:r>
              <a:rPr lang="en-US" sz="1300" dirty="0">
                <a:solidFill>
                  <a:srgbClr val="1F2328"/>
                </a:solidFill>
                <a:latin typeface="Calibri" pitchFamily="34" charset="0"/>
                <a:ea typeface="Calibri" pitchFamily="34" charset="-122"/>
                <a:cs typeface="Calibri" pitchFamily="34" charset="-120"/>
              </a:rPr>
              <a:t>the phone website runs the exported model; tests check it against Python on 155 patients and 40 questions.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System Design — Data Flow</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Graceton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11</a:t>
            </a:r>
            <a:endParaRPr lang="en-US" sz="1000" dirty="0"/>
          </a:p>
        </p:txBody>
      </p:sp>
      <p:sp>
        <p:nvSpPr>
          <p:cNvPr id="8" name="Text 4"/>
          <p:cNvSpPr txBox="1"/>
          <p:nvPr/>
        </p:nvSpPr>
        <p:spPr>
          <a:xfrm>
            <a:off x="457200" y="1097280"/>
            <a:ext cx="8229600" cy="320040"/>
          </a:xfrm>
          <a:prstGeom prst="rect">
            <a:avLst/>
          </a:prstGeom>
          <a:noFill/>
          <a:ln/>
        </p:spPr>
        <p:txBody>
          <a:bodyPr wrap="square" lIns="0" tIns="0" rIns="0" bIns="0" rtlCol="0" anchor="ctr"/>
          <a:lstStyle/>
          <a:p>
            <a:pPr indent="0" marL="0">
              <a:buNone/>
            </a:pPr>
            <a:r>
              <a:rPr lang="en-US" sz="1500" b="1" u="sng" dirty="0">
                <a:solidFill>
                  <a:srgbClr val="002060"/>
                </a:solidFill>
                <a:latin typeface="Calibri" pitchFamily="34" charset="0"/>
                <a:ea typeface="Calibri" pitchFamily="34" charset="-122"/>
                <a:cs typeface="Calibri" pitchFamily="34" charset="-120"/>
              </a:rPr>
              <a:t>DFD level 0</a:t>
            </a:r>
            <a:endParaRPr lang="en-US" sz="1500" dirty="0"/>
          </a:p>
        </p:txBody>
      </p:sp>
      <p:pic>
        <p:nvPicPr>
          <p:cNvPr id="9" name="Image 1" descr="/home/user/DiaCausal-CDSS/docs/midsem/diagrams/dfd0.png">    </p:cNvPr>
          <p:cNvPicPr>
            <a:picLocks noChangeAspect="1"/>
          </p:cNvPicPr>
          <p:nvPr/>
        </p:nvPicPr>
        <p:blipFill>
          <a:blip r:embed="rId2"/>
          <a:stretch>
            <a:fillRect/>
          </a:stretch>
        </p:blipFill>
        <p:spPr>
          <a:xfrm>
            <a:off x="914400" y="1463040"/>
            <a:ext cx="7315200" cy="2386584"/>
          </a:xfrm>
          <a:prstGeom prst="rect">
            <a:avLst/>
          </a:prstGeom>
        </p:spPr>
      </p:pic>
      <p:sp>
        <p:nvSpPr>
          <p:cNvPr id="10" name="Text 5"/>
          <p:cNvSpPr txBox="1"/>
          <p:nvPr/>
        </p:nvSpPr>
        <p:spPr>
          <a:xfrm>
            <a:off x="457200" y="3931920"/>
            <a:ext cx="8229600" cy="320040"/>
          </a:xfrm>
          <a:prstGeom prst="rect">
            <a:avLst/>
          </a:prstGeom>
          <a:noFill/>
          <a:ln/>
        </p:spPr>
        <p:txBody>
          <a:bodyPr wrap="square" lIns="0" tIns="0" rIns="0" bIns="0" rtlCol="0" anchor="ctr"/>
          <a:lstStyle/>
          <a:p>
            <a:pPr indent="0" marL="0">
              <a:buNone/>
            </a:pPr>
            <a:r>
              <a:rPr lang="en-US" sz="1500" b="1" u="sng" dirty="0">
                <a:solidFill>
                  <a:srgbClr val="002060"/>
                </a:solidFill>
                <a:latin typeface="Calibri" pitchFamily="34" charset="0"/>
                <a:ea typeface="Calibri" pitchFamily="34" charset="-122"/>
                <a:cs typeface="Calibri" pitchFamily="34" charset="-120"/>
              </a:rPr>
              <a:t>DFD level 1</a:t>
            </a:r>
            <a:endParaRPr lang="en-US" sz="1500" dirty="0"/>
          </a:p>
        </p:txBody>
      </p:sp>
      <p:pic>
        <p:nvPicPr>
          <p:cNvPr id="11" name="Image 2" descr="/home/user/DiaCausal-CDSS/docs/midsem/diagrams/dfd1.png">    </p:cNvPr>
          <p:cNvPicPr>
            <a:picLocks noChangeAspect="1"/>
          </p:cNvPicPr>
          <p:nvPr/>
        </p:nvPicPr>
        <p:blipFill>
          <a:blip r:embed="rId3"/>
          <a:stretch>
            <a:fillRect/>
          </a:stretch>
        </p:blipFill>
        <p:spPr>
          <a:xfrm>
            <a:off x="1188720" y="4297680"/>
            <a:ext cx="6766560" cy="21429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System Design — Use Case &amp; Sequence</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Graceton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12</a:t>
            </a:r>
            <a:endParaRPr lang="en-US" sz="1000" dirty="0"/>
          </a:p>
        </p:txBody>
      </p:sp>
      <p:pic>
        <p:nvPicPr>
          <p:cNvPr id="8" name="Image 1" descr="/home/user/DiaCausal-CDSS/docs/midsem/diagrams/usecase.png">    </p:cNvPr>
          <p:cNvPicPr>
            <a:picLocks noChangeAspect="1"/>
          </p:cNvPicPr>
          <p:nvPr/>
        </p:nvPicPr>
        <p:blipFill>
          <a:blip r:embed="rId2"/>
          <a:stretch>
            <a:fillRect/>
          </a:stretch>
        </p:blipFill>
        <p:spPr>
          <a:xfrm>
            <a:off x="365760" y="1097280"/>
            <a:ext cx="3291840" cy="2459736"/>
          </a:xfrm>
          <a:prstGeom prst="rect">
            <a:avLst/>
          </a:prstGeom>
        </p:spPr>
      </p:pic>
      <p:pic>
        <p:nvPicPr>
          <p:cNvPr id="9" name="Image 2" descr="/home/user/DiaCausal-CDSS/docs/midsem/diagrams/sequence.png">    </p:cNvPr>
          <p:cNvPicPr>
            <a:picLocks noChangeAspect="1"/>
          </p:cNvPicPr>
          <p:nvPr/>
        </p:nvPicPr>
        <p:blipFill>
          <a:blip r:embed="rId3"/>
          <a:stretch>
            <a:fillRect/>
          </a:stretch>
        </p:blipFill>
        <p:spPr>
          <a:xfrm>
            <a:off x="822960" y="3657600"/>
            <a:ext cx="7498080" cy="2807208"/>
          </a:xfrm>
          <a:prstGeom prst="rect">
            <a:avLst/>
          </a:prstGeom>
        </p:spPr>
      </p:pic>
      <p:sp>
        <p:nvSpPr>
          <p:cNvPr id="10" name="Text 4"/>
          <p:cNvSpPr txBox="1"/>
          <p:nvPr/>
        </p:nvSpPr>
        <p:spPr>
          <a:xfrm>
            <a:off x="3931920" y="1234440"/>
            <a:ext cx="4846320" cy="2286000"/>
          </a:xfrm>
          <a:prstGeom prst="rect">
            <a:avLst/>
          </a:prstGeom>
          <a:noFill/>
          <a:ln/>
        </p:spPr>
        <p:txBody>
          <a:bodyPr wrap="square" lIns="635" tIns="635" rIns="635" bIns="635" rtlCol="0" anchor="t"/>
          <a:lstStyle/>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Clinician: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sign in, enter details, compare options, search evidence</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Evaluator: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benchmark results, evidence</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Administrator: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approves accounts; manages rules, prices and sources</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Order is fixed: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rules → estimate → evidence → log → clinician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System Design — Data &amp; API</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Graceton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13</a:t>
            </a:r>
            <a:endParaRPr lang="en-US" sz="1000" dirty="0"/>
          </a:p>
        </p:txBody>
      </p:sp>
      <p:sp>
        <p:nvSpPr>
          <p:cNvPr id="8" name="Text 4"/>
          <p:cNvSpPr txBox="1"/>
          <p:nvPr/>
        </p:nvSpPr>
        <p:spPr>
          <a:xfrm>
            <a:off x="457200" y="1097280"/>
            <a:ext cx="8229600" cy="320040"/>
          </a:xfrm>
          <a:prstGeom prst="rect">
            <a:avLst/>
          </a:prstGeom>
          <a:noFill/>
          <a:ln/>
        </p:spPr>
        <p:txBody>
          <a:bodyPr wrap="square" lIns="0" tIns="0" rIns="0" bIns="0" rtlCol="0" anchor="ctr"/>
          <a:lstStyle/>
          <a:p>
            <a:pPr indent="0" marL="0">
              <a:buNone/>
            </a:pPr>
            <a:r>
              <a:rPr lang="en-US" sz="1500" b="1" u="sng" dirty="0">
                <a:solidFill>
                  <a:srgbClr val="002060"/>
                </a:solidFill>
                <a:latin typeface="Calibri" pitchFamily="34" charset="0"/>
                <a:ea typeface="Calibri" pitchFamily="34" charset="-122"/>
                <a:cs typeface="Calibri" pitchFamily="34" charset="-120"/>
              </a:rPr>
              <a:t>rules.csv (10 rules; examples)</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548640"/>
                <a:gridCol w="822960"/>
                <a:gridCol w="1371600"/>
                <a:gridCol w="822960"/>
                <a:gridCol w="3108960"/>
                <a:gridCol w="155448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Option</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Condition</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R01</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SGLT2i</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eGFR &lt; 45</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50" b="1" dirty="0">
                          <a:solidFill>
                            <a:srgbClr val="8A1010"/>
                          </a:solidFill>
                          <a:latin typeface="Calibri" pitchFamily="34" charset="0"/>
                          <a:ea typeface="Calibri" pitchFamily="34" charset="-122"/>
                          <a:cs typeface="Calibri" pitchFamily="34" charset="-120"/>
                        </a:rPr>
                        <a:t>Exclude</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FARXIGA label §1, 2.2; KDIGO 2022</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Verified</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R05</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DPP-4i</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past pancreatitis</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50" b="1" dirty="0">
                          <a:solidFill>
                            <a:srgbClr val="6E4400"/>
                          </a:solidFill>
                          <a:latin typeface="Calibri" pitchFamily="34" charset="0"/>
                          <a:ea typeface="Calibri" pitchFamily="34" charset="-122"/>
                          <a:cs typeface="Calibri" pitchFamily="34" charset="-120"/>
                        </a:rPr>
                        <a:t>Caution</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JANUVIA label §1, 5.1</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Verified</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R08</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SU</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age ≥ 65</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50" b="1" dirty="0">
                          <a:solidFill>
                            <a:srgbClr val="6E4400"/>
                          </a:solidFill>
                          <a:latin typeface="Calibri" pitchFamily="34" charset="0"/>
                          <a:ea typeface="Calibri" pitchFamily="34" charset="-122"/>
                          <a:cs typeface="Calibri" pitchFamily="34" charset="-120"/>
                        </a:rPr>
                        <a:t>Caution</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Glimepiride label §2.1, 8.5</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Team-set cut-off</a:t>
                      </a:r>
                      <a:endParaRPr lang="en-US" sz="115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bl>
          </a:graphicData>
        </a:graphic>
      </p:graphicFrame>
      <p:sp>
        <p:nvSpPr>
          <p:cNvPr id="10" name="Text 5"/>
          <p:cNvSpPr txBox="1"/>
          <p:nvPr/>
        </p:nvSpPr>
        <p:spPr>
          <a:xfrm>
            <a:off x="457200" y="2834640"/>
            <a:ext cx="8229600" cy="320040"/>
          </a:xfrm>
          <a:prstGeom prst="rect">
            <a:avLst/>
          </a:prstGeom>
          <a:noFill/>
          <a:ln/>
        </p:spPr>
        <p:txBody>
          <a:bodyPr wrap="square" lIns="0" tIns="0" rIns="0" bIns="0" rtlCol="0" anchor="ctr"/>
          <a:lstStyle/>
          <a:p>
            <a:pPr indent="0" marL="0">
              <a:buNone/>
            </a:pPr>
            <a:r>
              <a:rPr lang="en-US" sz="1500" b="1" u="sng" dirty="0">
                <a:solidFill>
                  <a:srgbClr val="002060"/>
                </a:solidFill>
                <a:latin typeface="Calibri" pitchFamily="34" charset="0"/>
                <a:ea typeface="Calibri" pitchFamily="34" charset="-122"/>
                <a:cs typeface="Calibri" pitchFamily="34" charset="-120"/>
              </a:rPr>
              <a:t>POST /api/v1/recommend</a:t>
            </a:r>
            <a:endParaRPr lang="en-US" sz="1500" dirty="0"/>
          </a:p>
        </p:txBody>
      </p:sp>
      <p:sp>
        <p:nvSpPr>
          <p:cNvPr id="11" name="Shape 6"/>
          <p:cNvSpPr/>
          <p:nvPr/>
        </p:nvSpPr>
        <p:spPr>
          <a:xfrm>
            <a:off x="457200" y="3200400"/>
            <a:ext cx="8229600" cy="1828800"/>
          </a:xfrm>
          <a:prstGeom prst="roundRect">
            <a:avLst>
              <a:gd name="adj" fmla="val 4000"/>
            </a:avLst>
          </a:prstGeom>
          <a:solidFill>
            <a:srgbClr val="F5F7FB"/>
          </a:solidFill>
          <a:ln w="9525">
            <a:solidFill>
              <a:srgbClr val="C9D2E3"/>
            </a:solidFill>
            <a:prstDash val="solid"/>
          </a:ln>
        </p:spPr>
      </p:sp>
      <p:sp>
        <p:nvSpPr>
          <p:cNvPr id="12" name="Text 7"/>
          <p:cNvSpPr txBox="1"/>
          <p:nvPr/>
        </p:nvSpPr>
        <p:spPr>
          <a:xfrm>
            <a:off x="640080" y="3246120"/>
            <a:ext cx="7863840" cy="1737360"/>
          </a:xfrm>
          <a:prstGeom prst="rect">
            <a:avLst/>
          </a:prstGeom>
          <a:noFill/>
          <a:ln/>
        </p:spPr>
        <p:txBody>
          <a:bodyPr wrap="square" lIns="0" tIns="0" rIns="0" bIns="0" rtlCol="0" anchor="ctr"/>
          <a:lstStyle/>
          <a:p>
            <a:pPr indent="0" marL="0">
              <a:buNone/>
            </a:pPr>
            <a:r>
              <a:rPr lang="en-US" sz="1150" dirty="0">
                <a:solidFill>
                  <a:srgbClr val="1F2328"/>
                </a:solidFill>
                <a:latin typeface="Courier New" pitchFamily="34" charset="0"/>
                <a:ea typeface="Courier New" pitchFamily="34" charset="-122"/>
                <a:cs typeface="Courier New" pitchFamily="34" charset="-120"/>
              </a:rPr>
              <a:t>{"age": 60, "sex": "female", "hba1c": 8.2, "egfr": 40, "bmi": 25.5, ...}</a:t>
            </a:r>
            <a:endParaRPr lang="en-US" sz="1150" dirty="0"/>
          </a:p>
          <a:p>
            <a:pPr indent="0" marL="0">
              <a:buNone/>
            </a:pPr>
            <a:r>
              <a:rPr lang="en-US" sz="1150" dirty="0">
                <a:solidFill>
                  <a:srgbClr val="1F2328"/>
                </a:solidFill>
                <a:latin typeface="Courier New" pitchFamily="34" charset="0"/>
                <a:ea typeface="Courier New" pitchFamily="34" charset="-122"/>
                <a:cs typeface="Courier New" pitchFamily="34" charset="-120"/>
              </a:rPr>
              <a:t>→ applicable, options[3]: status (estimate | excluded | insufficient_evidence),</a:t>
            </a:r>
            <a:endParaRPr lang="en-US" sz="1150" dirty="0"/>
          </a:p>
          <a:p>
            <a:pPr indent="0" marL="0">
              <a:buNone/>
            </a:pPr>
            <a:r>
              <a:rPr lang="en-US" sz="1150" dirty="0">
                <a:solidFill>
                  <a:srgbClr val="1F2328"/>
                </a:solidFill>
                <a:latin typeface="Courier New" pitchFamily="34" charset="0"/>
                <a:ea typeface="Courier New" pitchFamily="34" charset="-122"/>
                <a:cs typeface="Courier New" pitchFamily="34" charset="-120"/>
              </a:rPr>
              <a:t>  effect {value, ci_low, ci_high, level 0.95}, safety [rule_id, message, source],</a:t>
            </a:r>
            <a:endParaRPr lang="en-US" sz="1150" dirty="0"/>
          </a:p>
          <a:p>
            <a:pPr indent="0" marL="0">
              <a:buNone/>
            </a:pPr>
            <a:r>
              <a:rPr lang="en-US" sz="1150" dirty="0">
                <a:solidFill>
                  <a:srgbClr val="1F2328"/>
                </a:solidFill>
                <a:latin typeface="Courier New" pitchFamily="34" charset="0"/>
                <a:ea typeface="Courier New" pitchFamily="34" charset="-122"/>
                <a:cs typeface="Courier New" pitchFamily="34" charset="-120"/>
              </a:rPr>
              <a:t>  confidence {propensity, overlap_threshold 0.05}, cost, comparisons,</a:t>
            </a:r>
            <a:endParaRPr lang="en-US" sz="1150" dirty="0"/>
          </a:p>
          <a:p>
            <a:pPr indent="0" marL="0">
              <a:buNone/>
            </a:pPr>
            <a:r>
              <a:rPr lang="en-US" sz="1150" dirty="0">
                <a:solidFill>
                  <a:srgbClr val="1F2328"/>
                </a:solidFill>
                <a:latin typeface="Courier New" pitchFamily="34" charset="0"/>
                <a:ea typeface="Courier New" pitchFamily="34" charset="-122"/>
                <a:cs typeface="Courier New" pitchFamily="34" charset="-120"/>
              </a:rPr>
              <a:t>  assumptions, versions {engine, params_sha, rules_sha}, request_id, intended_use</a:t>
            </a:r>
            <a:endParaRPr lang="en-US" sz="1150" dirty="0"/>
          </a:p>
        </p:txBody>
      </p:sp>
      <p:sp>
        <p:nvSpPr>
          <p:cNvPr id="13" name="Text 8"/>
          <p:cNvSpPr txBox="1"/>
          <p:nvPr/>
        </p:nvSpPr>
        <p:spPr>
          <a:xfrm>
            <a:off x="457200" y="5257800"/>
            <a:ext cx="8229600" cy="1005840"/>
          </a:xfrm>
          <a:prstGeom prst="rect">
            <a:avLst/>
          </a:prstGeom>
          <a:noFill/>
          <a:ln/>
        </p:spPr>
        <p:txBody>
          <a:bodyPr wrap="square" lIns="635" tIns="635" rIns="635" bIns="635" rtlCol="0" anchor="t"/>
          <a:lstStyle/>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Other endpoints: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GET /api/v1/rules, GET /health</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Every reply: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intended-use statement; refused if an estimate lacks an interval or contains dose-like text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Implementation — What's Built</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Rhian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108960"/>
                <a:gridCol w="1280160"/>
                <a:gridCol w="38404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2060"/>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Synthetic India-calibrated cohort</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897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Every number sourced in params.yaml</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Safety rules (10, cited)</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897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rules.csv; tests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Propensity + overlap check</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897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Overlap figure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Naive, IPW, matching, AIPW</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897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Results table, 95% CIs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DR-learner (per patient)</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897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Recovery + calibration figures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Benchmark, refutation, E-values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897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20 × 5,000 patients; 9/9 checks pass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Streamlit demo + FastAPI</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897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/api/v1/recommend</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Phone website + accounts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00897B"/>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diacausal.netlify.app; MFA; admin approval</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RAG retrieval with citations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47A00"/>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FDA source; Evidence tab</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Secondary outcomes, summary</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C47A00"/>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Target 9 Oct</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RAG explanations, clinician review</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c>
                  <a:txBody>
                    <a:bodyPr/>
                    <a:lstStyle/>
                    <a:p>
                      <a:pPr indent="0" marL="0">
                        <a:buNone/>
                      </a:pPr>
                      <a:r>
                        <a:rPr lang="en-US" sz="1200" b="1" dirty="0">
                          <a:solidFill>
                            <a:srgbClr val="3F4744"/>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ECEEEC"/>
                    </a:solidFill>
                  </a:tcPr>
                </a:tc>
                <a:tc>
                  <a:txBody>
                    <a:bodyPr/>
                    <a:lstStyle/>
                    <a:p>
                      <a:pPr indent="0" marL="0">
                        <a:buNone/>
                      </a:pPr>
                      <a:r>
                        <a:rPr lang="en-US" sz="1200" dirty="0">
                          <a:solidFill>
                            <a:srgbClr val="1F2328"/>
                          </a:solidFill>
                          <a:latin typeface="Calibri" pitchFamily="34" charset="0"/>
                          <a:ea typeface="Calibri" pitchFamily="34" charset="-122"/>
                          <a:cs typeface="Calibri" pitchFamily="34" charset="-120"/>
                        </a:rPr>
                        <a:t>1–23 Oct</a:t>
                      </a:r>
                      <a:endParaRPr lang="en-US" sz="1200" dirty="0">
                        <a:latin typeface="Calibri" charset="0"/>
                        <a:ea typeface="Calibri" charset="0"/>
                        <a:cs typeface="Calibri" charset="0"/>
                      </a:endParaRPr>
                    </a:p>
                  </a:txBody>
                  <a:tcPr marL="45720" marR="45720" marT="45720" marB="45720"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rgbClr val="F5F7FB"/>
                    </a:solidFill>
                  </a:tcPr>
                </a:tc>
              </a:tr>
            </a:tbl>
          </a:graphicData>
        </a:graphic>
      </p:graphicFrame>
      <p:sp>
        <p:nvSpPr>
          <p:cNvPr id="9" name="Text 4"/>
          <p:cNvSpPr txBox="1"/>
          <p:nvPr/>
        </p:nvSpPr>
        <p:spPr>
          <a:xfrm>
            <a:off x="457200" y="5897880"/>
            <a:ext cx="8229600" cy="365760"/>
          </a:xfrm>
          <a:prstGeom prst="rect">
            <a:avLst/>
          </a:prstGeom>
          <a:noFill/>
          <a:ln/>
        </p:spPr>
        <p:txBody>
          <a:bodyPr wrap="square" lIns="0" tIns="0" rIns="0" bIns="0" rtlCol="0" anchor="ctr"/>
          <a:lstStyle/>
          <a:p>
            <a:pPr indent="0" marL="0">
              <a:buNone/>
            </a:pPr>
            <a:r>
              <a:rPr lang="en-US" sz="1200" b="1" dirty="0">
                <a:solidFill>
                  <a:srgbClr val="002060"/>
                </a:solidFill>
                <a:latin typeface="Calibri" pitchFamily="34" charset="0"/>
                <a:ea typeface="Calibri" pitchFamily="34" charset="-122"/>
                <a:cs typeface="Calibri" pitchFamily="34" charset="-120"/>
              </a:rPr>
              <a:t>168 automated tests pass (139 engine · 13 RAG · 16 website) on Linux, macOS and Windows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Implementation — How the Code Works</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Rhian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15</a:t>
            </a:r>
            <a:endParaRPr lang="en-US" sz="1000" dirty="0"/>
          </a:p>
        </p:txBody>
      </p:sp>
      <p:sp>
        <p:nvSpPr>
          <p:cNvPr id="8" name="Text 4"/>
          <p:cNvSpPr txBox="1"/>
          <p:nvPr/>
        </p:nvSpPr>
        <p:spPr>
          <a:xfrm>
            <a:off x="457200" y="1097280"/>
            <a:ext cx="8229600" cy="320040"/>
          </a:xfrm>
          <a:prstGeom prst="rect">
            <a:avLst/>
          </a:prstGeom>
          <a:noFill/>
          <a:ln/>
        </p:spPr>
        <p:txBody>
          <a:bodyPr wrap="square" lIns="0" tIns="0" rIns="0" bIns="0" rtlCol="0" anchor="ctr"/>
          <a:lstStyle/>
          <a:p>
            <a:pPr indent="0" marL="0">
              <a:buNone/>
            </a:pPr>
            <a:r>
              <a:rPr lang="en-US" sz="1500" b="1" u="sng" dirty="0">
                <a:solidFill>
                  <a:srgbClr val="002060"/>
                </a:solidFill>
                <a:latin typeface="Calibri" pitchFamily="34" charset="0"/>
                <a:ea typeface="Calibri" pitchFamily="34" charset="-122"/>
                <a:cs typeface="Calibri" pitchFamily="34" charset="-120"/>
              </a:rPr>
              <a:t>AIPW score (doubly robust)</a:t>
            </a:r>
            <a:endParaRPr lang="en-US" sz="1500" dirty="0"/>
          </a:p>
        </p:txBody>
      </p:sp>
      <p:sp>
        <p:nvSpPr>
          <p:cNvPr id="9" name="Shape 5"/>
          <p:cNvSpPr/>
          <p:nvPr/>
        </p:nvSpPr>
        <p:spPr>
          <a:xfrm>
            <a:off x="457200" y="1463040"/>
            <a:ext cx="8229600" cy="1325880"/>
          </a:xfrm>
          <a:prstGeom prst="roundRect">
            <a:avLst>
              <a:gd name="adj" fmla="val 5517"/>
            </a:avLst>
          </a:prstGeom>
          <a:solidFill>
            <a:srgbClr val="F5F7FB"/>
          </a:solidFill>
          <a:ln w="9525">
            <a:solidFill>
              <a:srgbClr val="C9D2E3"/>
            </a:solidFill>
            <a:prstDash val="solid"/>
          </a:ln>
        </p:spPr>
      </p:sp>
      <p:sp>
        <p:nvSpPr>
          <p:cNvPr id="10" name="Text 6"/>
          <p:cNvSpPr txBox="1"/>
          <p:nvPr/>
        </p:nvSpPr>
        <p:spPr>
          <a:xfrm>
            <a:off x="640080" y="1508760"/>
            <a:ext cx="7863840" cy="1234440"/>
          </a:xfrm>
          <a:prstGeom prst="rect">
            <a:avLst/>
          </a:prstGeom>
          <a:noFill/>
          <a:ln/>
        </p:spPr>
        <p:txBody>
          <a:bodyPr wrap="square" lIns="0" tIns="0" rIns="0" bIns="0" rtlCol="0" anchor="ctr"/>
          <a:lstStyle/>
          <a:p>
            <a:pPr indent="0" marL="0">
              <a:buNone/>
            </a:pPr>
            <a:r>
              <a:rPr lang="en-US" sz="1250" dirty="0">
                <a:solidFill>
                  <a:srgbClr val="1F2328"/>
                </a:solidFill>
                <a:latin typeface="Courier New" pitchFamily="34" charset="0"/>
                <a:ea typeface="Courier New" pitchFamily="34" charset="-122"/>
                <a:cs typeface="Courier New" pitchFamily="34" charset="-120"/>
              </a:rPr>
              <a:t>def aipw_scores(Y, T, e, mu):</a:t>
            </a:r>
            <a:endParaRPr lang="en-US" sz="1250" dirty="0"/>
          </a:p>
          <a:p>
            <a:pPr indent="0" marL="0">
              <a:buNone/>
            </a:pPr>
            <a:r>
              <a:rPr lang="en-US" sz="1250" dirty="0">
                <a:solidFill>
                  <a:srgbClr val="5B6470"/>
                </a:solidFill>
                <a:latin typeface="Courier New" pitchFamily="34" charset="0"/>
                <a:ea typeface="Courier New" pitchFamily="34" charset="-122"/>
                <a:cs typeface="Courier New" pitchFamily="34" charset="-120"/>
              </a:rPr>
              <a:t>    # phi_a = mu_a(X) + 1{T=a} (Y - mu_a(X)) / e_a(X)</a:t>
            </a:r>
            <a:endParaRPr lang="en-US" sz="1250" dirty="0"/>
          </a:p>
          <a:p>
            <a:pPr indent="0" marL="0">
              <a:buNone/>
            </a:pPr>
            <a:r>
              <a:rPr lang="en-US" sz="1250" dirty="0">
                <a:solidFill>
                  <a:srgbClr val="1F2328"/>
                </a:solidFill>
                <a:latin typeface="Courier New" pitchFamily="34" charset="0"/>
                <a:ea typeface="Courier New" pitchFamily="34" charset="-122"/>
                <a:cs typeface="Courier New" pitchFamily="34" charset="-120"/>
              </a:rPr>
              <a:t>    got = (T[:, None] == np.arange(3)[None, :]).astype(float)</a:t>
            </a:r>
            <a:endParaRPr lang="en-US" sz="1250" dirty="0"/>
          </a:p>
          <a:p>
            <a:pPr indent="0" marL="0">
              <a:buNone/>
            </a:pPr>
            <a:r>
              <a:rPr lang="en-US" sz="1250" dirty="0">
                <a:solidFill>
                  <a:srgbClr val="1F2328"/>
                </a:solidFill>
                <a:latin typeface="Courier New" pitchFamily="34" charset="0"/>
                <a:ea typeface="Courier New" pitchFamily="34" charset="-122"/>
                <a:cs typeface="Courier New" pitchFamily="34" charset="-120"/>
              </a:rPr>
              <a:t>    return mu + got * (Y[:, None] - mu) / e</a:t>
            </a:r>
            <a:endParaRPr lang="en-US" sz="1250" dirty="0"/>
          </a:p>
        </p:txBody>
      </p:sp>
      <p:sp>
        <p:nvSpPr>
          <p:cNvPr id="11" name="Text 7"/>
          <p:cNvSpPr txBox="1"/>
          <p:nvPr/>
        </p:nvSpPr>
        <p:spPr>
          <a:xfrm>
            <a:off x="457200" y="2971800"/>
            <a:ext cx="8229600" cy="320040"/>
          </a:xfrm>
          <a:prstGeom prst="rect">
            <a:avLst/>
          </a:prstGeom>
          <a:noFill/>
          <a:ln/>
        </p:spPr>
        <p:txBody>
          <a:bodyPr wrap="square" lIns="0" tIns="0" rIns="0" bIns="0" rtlCol="0" anchor="ctr"/>
          <a:lstStyle/>
          <a:p>
            <a:pPr indent="0" marL="0">
              <a:buNone/>
            </a:pPr>
            <a:r>
              <a:rPr lang="en-US" sz="1500" b="1" u="sng" dirty="0">
                <a:solidFill>
                  <a:srgbClr val="002060"/>
                </a:solidFill>
                <a:latin typeface="Calibri" pitchFamily="34" charset="0"/>
                <a:ea typeface="Calibri" pitchFamily="34" charset="-122"/>
                <a:cs typeface="Calibri" pitchFamily="34" charset="-120"/>
              </a:rPr>
              <a:t>DR-learner: this patient's estimate ± 95% interval</a:t>
            </a:r>
            <a:endParaRPr lang="en-US" sz="1500" dirty="0"/>
          </a:p>
        </p:txBody>
      </p:sp>
      <p:sp>
        <p:nvSpPr>
          <p:cNvPr id="12" name="Shape 8"/>
          <p:cNvSpPr/>
          <p:nvPr/>
        </p:nvSpPr>
        <p:spPr>
          <a:xfrm>
            <a:off x="457200" y="3337560"/>
            <a:ext cx="8229600" cy="1600200"/>
          </a:xfrm>
          <a:prstGeom prst="roundRect">
            <a:avLst>
              <a:gd name="adj" fmla="val 4571"/>
            </a:avLst>
          </a:prstGeom>
          <a:solidFill>
            <a:srgbClr val="F5F7FB"/>
          </a:solidFill>
          <a:ln w="9525">
            <a:solidFill>
              <a:srgbClr val="C9D2E3"/>
            </a:solidFill>
            <a:prstDash val="solid"/>
          </a:ln>
        </p:spPr>
      </p:sp>
      <p:sp>
        <p:nvSpPr>
          <p:cNvPr id="13" name="Text 9"/>
          <p:cNvSpPr txBox="1"/>
          <p:nvPr/>
        </p:nvSpPr>
        <p:spPr>
          <a:xfrm>
            <a:off x="640080" y="3383280"/>
            <a:ext cx="7863840" cy="1508760"/>
          </a:xfrm>
          <a:prstGeom prst="rect">
            <a:avLst/>
          </a:prstGeom>
          <a:noFill/>
          <a:ln/>
        </p:spPr>
        <p:txBody>
          <a:bodyPr wrap="square" lIns="0" tIns="0" rIns="0" bIns="0" rtlCol="0" anchor="ctr"/>
          <a:lstStyle/>
          <a:p>
            <a:pPr indent="0" marL="0">
              <a:buNone/>
            </a:pPr>
            <a:r>
              <a:rPr lang="en-US" sz="1250" dirty="0">
                <a:solidFill>
                  <a:srgbClr val="1F2328"/>
                </a:solidFill>
                <a:latin typeface="Courier New" pitchFamily="34" charset="0"/>
                <a:ea typeface="Courier New" pitchFamily="34" charset="-122"/>
                <a:cs typeface="Courier New" pitchFamily="34" charset="-120"/>
              </a:rPr>
              <a:t>beta = pinv(B.T @ B) @ B.T @ pseudo          # regress scores on details</a:t>
            </a:r>
            <a:endParaRPr lang="en-US" sz="1250" dirty="0"/>
          </a:p>
          <a:p>
            <a:pPr indent="0" marL="0">
              <a:buNone/>
            </a:pPr>
            <a:r>
              <a:rPr lang="en-US" sz="1250" dirty="0">
                <a:solidFill>
                  <a:srgbClr val="1F2328"/>
                </a:solidFill>
                <a:latin typeface="Courier New" pitchFamily="34" charset="0"/>
                <a:ea typeface="Courier New" pitchFamily="34" charset="-122"/>
                <a:cs typeface="Courier New" pitchFamily="34" charset="-120"/>
              </a:rPr>
              <a:t>value = B @ beta                                # this patient's effect</a:t>
            </a:r>
            <a:endParaRPr lang="en-US" sz="1250" dirty="0"/>
          </a:p>
          <a:p>
            <a:pPr indent="0" marL="0">
              <a:buNone/>
            </a:pPr>
            <a:r>
              <a:rPr lang="en-US" sz="1250" dirty="0">
                <a:solidFill>
                  <a:srgbClr val="1F2328"/>
                </a:solidFill>
                <a:latin typeface="Courier New" pitchFamily="34" charset="0"/>
                <a:ea typeface="Courier New" pitchFamily="34" charset="-122"/>
                <a:cs typeface="Courier New" pitchFamily="34" charset="-120"/>
              </a:rPr>
              <a:t>se = sqrt(x' V x)   # HC3 robust covariance V</a:t>
            </a:r>
            <a:endParaRPr lang="en-US" sz="1250" dirty="0"/>
          </a:p>
          <a:p>
            <a:pPr indent="0" marL="0">
              <a:buNone/>
            </a:pPr>
            <a:r>
              <a:rPr lang="en-US" sz="1250" dirty="0">
                <a:solidFill>
                  <a:srgbClr val="1F2328"/>
                </a:solidFill>
                <a:latin typeface="Courier New" pitchFamily="34" charset="0"/>
                <a:ea typeface="Courier New" pitchFamily="34" charset="-122"/>
                <a:cs typeface="Courier New" pitchFamily="34" charset="-120"/>
              </a:rPr>
              <a:t>interval = value ± 1.96 * se</a:t>
            </a:r>
            <a:endParaRPr lang="en-US" sz="1250" dirty="0"/>
          </a:p>
        </p:txBody>
      </p:sp>
      <p:sp>
        <p:nvSpPr>
          <p:cNvPr id="14" name="Text 10"/>
          <p:cNvSpPr txBox="1"/>
          <p:nvPr/>
        </p:nvSpPr>
        <p:spPr>
          <a:xfrm>
            <a:off x="457200" y="5120640"/>
            <a:ext cx="8229600" cy="1188720"/>
          </a:xfrm>
          <a:prstGeom prst="rect">
            <a:avLst/>
          </a:prstGeom>
          <a:noFill/>
          <a:ln/>
        </p:spPr>
        <p:txBody>
          <a:bodyPr wrap="square" lIns="635" tIns="635" rIns="635" bIns="635" rtlCol="0" anchor="t"/>
          <a:lstStyle/>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Safety rules are data, not code: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a test scans the code to prove no threshold is typed in.</a:t>
            </a:r>
            <a:endParaRPr lang="en-US" sz="1400" dirty="0"/>
          </a:p>
          <a:p>
            <a:pPr indent="0" marL="0">
              <a:spcAft>
                <a:spcPts val="800"/>
              </a:spcAft>
              <a:buNone/>
            </a:pPr>
            <a:r>
              <a:rPr lang="en-US" sz="1400" b="1" dirty="0">
                <a:solidFill>
                  <a:srgbClr val="1F2328"/>
                </a:solidFill>
                <a:latin typeface="Calibri" pitchFamily="34" charset="0"/>
                <a:ea typeface="Calibri" pitchFamily="34" charset="-122"/>
                <a:cs typeface="Calibri" pitchFamily="34" charset="-120"/>
              </a:rPr>
              <a:t>Output check: </a:t>
            </a:r>
            <a:pPr indent="0" marL="0">
              <a:spcAft>
                <a:spcPts val="800"/>
              </a:spcAft>
              <a:buNone/>
            </a:pPr>
            <a:r>
              <a:rPr lang="en-US" sz="1400" dirty="0">
                <a:solidFill>
                  <a:srgbClr val="1F2328"/>
                </a:solidFill>
                <a:latin typeface="Calibri" pitchFamily="34" charset="0"/>
                <a:ea typeface="Calibri" pitchFamily="34" charset="-122"/>
                <a:cs typeface="Calibri" pitchFamily="34" charset="-120"/>
              </a:rPr>
              <a:t>every reply is refused if it lacks an interval or contains dose-like text.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Initial Results — Accuracy</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Rhian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16</a:t>
            </a:r>
            <a:endParaRPr lang="en-US" sz="1000" dirty="0"/>
          </a:p>
        </p:txBody>
      </p:sp>
      <p:graphicFrame>
        <p:nvGraphicFramePr>
          <p:cNvPr id="8" name="Chart 0" descr=""/>
          <p:cNvGraphicFramePr/>
          <p:nvPr/>
        </p:nvGraphicFramePr>
        <p:xfrm>
          <a:off x="365760" y="1143000"/>
          <a:ext cx="4754880" cy="356616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349240" y="1143000"/>
            <a:ext cx="3429000" cy="822960"/>
          </a:xfrm>
          <a:prstGeom prst="roundRect">
            <a:avLst>
              <a:gd name="adj" fmla="val 8889"/>
            </a:avLst>
          </a:prstGeom>
          <a:solidFill>
            <a:srgbClr val="F5F7FB"/>
          </a:solidFill>
          <a:ln w="9525">
            <a:solidFill>
              <a:srgbClr val="C9D2E3"/>
            </a:solidFill>
            <a:prstDash val="solid"/>
          </a:ln>
        </p:spPr>
      </p:sp>
      <p:sp>
        <p:nvSpPr>
          <p:cNvPr id="10" name="Text 5"/>
          <p:cNvSpPr txBox="1"/>
          <p:nvPr/>
        </p:nvSpPr>
        <p:spPr>
          <a:xfrm>
            <a:off x="5486400" y="1143000"/>
            <a:ext cx="3200400" cy="822960"/>
          </a:xfrm>
          <a:prstGeom prst="rect">
            <a:avLst/>
          </a:prstGeom>
          <a:noFill/>
          <a:ln/>
        </p:spPr>
        <p:txBody>
          <a:bodyPr wrap="square" lIns="0" tIns="0" rIns="0" bIns="0" rtlCol="0" anchor="ctr"/>
          <a:lstStyle/>
          <a:p>
            <a:pPr indent="0" marL="0">
              <a:buNone/>
            </a:pPr>
            <a:r>
              <a:rPr lang="en-US" sz="2200" b="1" dirty="0">
                <a:solidFill>
                  <a:srgbClr val="002060"/>
                </a:solidFill>
                <a:latin typeface="Calibri" pitchFamily="34" charset="0"/>
                <a:ea typeface="Calibri" pitchFamily="34" charset="-122"/>
                <a:cs typeface="Calibri" pitchFamily="34" charset="-120"/>
              </a:rPr>
              <a:t>−0.159 → +0.002</a:t>
            </a:r>
            <a:endParaRPr lang="en-US" sz="2200" dirty="0"/>
          </a:p>
          <a:p>
            <a:pPr indent="0" marL="0">
              <a:buNone/>
            </a:pPr>
            <a:r>
              <a:rPr lang="en-US" sz="1200" dirty="0">
                <a:solidFill>
                  <a:srgbClr val="5B6470"/>
                </a:solidFill>
                <a:latin typeface="Calibri" pitchFamily="34" charset="0"/>
                <a:ea typeface="Calibri" pitchFamily="34" charset="-122"/>
                <a:cs typeface="Calibri" pitchFamily="34" charset="-120"/>
              </a:rPr>
              <a:t>bias: naive → AIPW</a:t>
            </a:r>
            <a:endParaRPr lang="en-US" sz="2200" dirty="0"/>
          </a:p>
        </p:txBody>
      </p:sp>
      <p:sp>
        <p:nvSpPr>
          <p:cNvPr id="11" name="Shape 6"/>
          <p:cNvSpPr/>
          <p:nvPr/>
        </p:nvSpPr>
        <p:spPr>
          <a:xfrm>
            <a:off x="5349240" y="2075688"/>
            <a:ext cx="3429000" cy="822960"/>
          </a:xfrm>
          <a:prstGeom prst="roundRect">
            <a:avLst>
              <a:gd name="adj" fmla="val 8889"/>
            </a:avLst>
          </a:prstGeom>
          <a:solidFill>
            <a:srgbClr val="F5F7FB"/>
          </a:solidFill>
          <a:ln w="9525">
            <a:solidFill>
              <a:srgbClr val="C9D2E3"/>
            </a:solidFill>
            <a:prstDash val="solid"/>
          </a:ln>
        </p:spPr>
      </p:sp>
      <p:sp>
        <p:nvSpPr>
          <p:cNvPr id="12" name="Text 7"/>
          <p:cNvSpPr txBox="1"/>
          <p:nvPr/>
        </p:nvSpPr>
        <p:spPr>
          <a:xfrm>
            <a:off x="5486400" y="2075688"/>
            <a:ext cx="3200400" cy="822960"/>
          </a:xfrm>
          <a:prstGeom prst="rect">
            <a:avLst/>
          </a:prstGeom>
          <a:noFill/>
          <a:ln/>
        </p:spPr>
        <p:txBody>
          <a:bodyPr wrap="square" lIns="0" tIns="0" rIns="0" bIns="0" rtlCol="0" anchor="ctr"/>
          <a:lstStyle/>
          <a:p>
            <a:pPr indent="0" marL="0">
              <a:buNone/>
            </a:pPr>
            <a:r>
              <a:rPr lang="en-US" sz="2200" b="1" dirty="0">
                <a:solidFill>
                  <a:srgbClr val="002060"/>
                </a:solidFill>
                <a:latin typeface="Calibri" pitchFamily="34" charset="0"/>
                <a:ea typeface="Calibri" pitchFamily="34" charset="-122"/>
                <a:cs typeface="Calibri" pitchFamily="34" charset="-120"/>
              </a:rPr>
              <a:t>90–95%</a:t>
            </a:r>
            <a:endParaRPr lang="en-US" sz="2200" dirty="0"/>
          </a:p>
          <a:p>
            <a:pPr indent="0" marL="0">
              <a:buNone/>
            </a:pPr>
            <a:r>
              <a:rPr lang="en-US" sz="1200" dirty="0">
                <a:solidFill>
                  <a:srgbClr val="5B6470"/>
                </a:solidFill>
                <a:latin typeface="Calibri" pitchFamily="34" charset="0"/>
                <a:ea typeface="Calibri" pitchFamily="34" charset="-122"/>
                <a:cs typeface="Calibri" pitchFamily="34" charset="-120"/>
              </a:rPr>
              <a:t>AIPW 95% CI coverage</a:t>
            </a:r>
            <a:endParaRPr lang="en-US" sz="2200" dirty="0"/>
          </a:p>
        </p:txBody>
      </p:sp>
      <p:sp>
        <p:nvSpPr>
          <p:cNvPr id="13" name="Shape 8"/>
          <p:cNvSpPr/>
          <p:nvPr/>
        </p:nvSpPr>
        <p:spPr>
          <a:xfrm>
            <a:off x="5349240" y="3008376"/>
            <a:ext cx="3429000" cy="822960"/>
          </a:xfrm>
          <a:prstGeom prst="roundRect">
            <a:avLst>
              <a:gd name="adj" fmla="val 8889"/>
            </a:avLst>
          </a:prstGeom>
          <a:solidFill>
            <a:srgbClr val="F5F7FB"/>
          </a:solidFill>
          <a:ln w="9525">
            <a:solidFill>
              <a:srgbClr val="C9D2E3"/>
            </a:solidFill>
            <a:prstDash val="solid"/>
          </a:ln>
        </p:spPr>
      </p:sp>
      <p:sp>
        <p:nvSpPr>
          <p:cNvPr id="14" name="Text 9"/>
          <p:cNvSpPr txBox="1"/>
          <p:nvPr/>
        </p:nvSpPr>
        <p:spPr>
          <a:xfrm>
            <a:off x="5486400" y="3008376"/>
            <a:ext cx="3200400" cy="822960"/>
          </a:xfrm>
          <a:prstGeom prst="rect">
            <a:avLst/>
          </a:prstGeom>
          <a:noFill/>
          <a:ln/>
        </p:spPr>
        <p:txBody>
          <a:bodyPr wrap="square" lIns="0" tIns="0" rIns="0" bIns="0" rtlCol="0" anchor="ctr"/>
          <a:lstStyle/>
          <a:p>
            <a:pPr indent="0" marL="0">
              <a:buNone/>
            </a:pPr>
            <a:r>
              <a:rPr lang="en-US" sz="2200" b="1" dirty="0">
                <a:solidFill>
                  <a:srgbClr val="002060"/>
                </a:solidFill>
                <a:latin typeface="Calibri" pitchFamily="34" charset="0"/>
                <a:ea typeface="Calibri" pitchFamily="34" charset="-122"/>
                <a:cs typeface="Calibri" pitchFamily="34" charset="-120"/>
              </a:rPr>
              <a:t>92.7–94.7%</a:t>
            </a:r>
            <a:endParaRPr lang="en-US" sz="2200" dirty="0"/>
          </a:p>
          <a:p>
            <a:pPr indent="0" marL="0">
              <a:buNone/>
            </a:pPr>
            <a:r>
              <a:rPr lang="en-US" sz="1200" dirty="0">
                <a:solidFill>
                  <a:srgbClr val="5B6470"/>
                </a:solidFill>
                <a:latin typeface="Calibri" pitchFamily="34" charset="0"/>
                <a:ea typeface="Calibri" pitchFamily="34" charset="-122"/>
                <a:cs typeface="Calibri" pitchFamily="34" charset="-120"/>
              </a:rPr>
              <a:t>per-patient interval coverage</a:t>
            </a:r>
            <a:endParaRPr lang="en-US" sz="2200" dirty="0"/>
          </a:p>
        </p:txBody>
      </p:sp>
      <p:sp>
        <p:nvSpPr>
          <p:cNvPr id="15" name="Shape 10"/>
          <p:cNvSpPr/>
          <p:nvPr/>
        </p:nvSpPr>
        <p:spPr>
          <a:xfrm>
            <a:off x="5349240" y="3941064"/>
            <a:ext cx="3429000" cy="822960"/>
          </a:xfrm>
          <a:prstGeom prst="roundRect">
            <a:avLst>
              <a:gd name="adj" fmla="val 8889"/>
            </a:avLst>
          </a:prstGeom>
          <a:solidFill>
            <a:srgbClr val="F5F7FB"/>
          </a:solidFill>
          <a:ln w="9525">
            <a:solidFill>
              <a:srgbClr val="C9D2E3"/>
            </a:solidFill>
            <a:prstDash val="solid"/>
          </a:ln>
        </p:spPr>
      </p:sp>
      <p:sp>
        <p:nvSpPr>
          <p:cNvPr id="16" name="Text 11"/>
          <p:cNvSpPr txBox="1"/>
          <p:nvPr/>
        </p:nvSpPr>
        <p:spPr>
          <a:xfrm>
            <a:off x="5486400" y="3941064"/>
            <a:ext cx="3200400" cy="822960"/>
          </a:xfrm>
          <a:prstGeom prst="rect">
            <a:avLst/>
          </a:prstGeom>
          <a:noFill/>
          <a:ln/>
        </p:spPr>
        <p:txBody>
          <a:bodyPr wrap="square" lIns="0" tIns="0" rIns="0" bIns="0" rtlCol="0" anchor="ctr"/>
          <a:lstStyle/>
          <a:p>
            <a:pPr indent="0" marL="0">
              <a:buNone/>
            </a:pPr>
            <a:r>
              <a:rPr lang="en-US" sz="2200" b="1" dirty="0">
                <a:solidFill>
                  <a:srgbClr val="002060"/>
                </a:solidFill>
                <a:latin typeface="Calibri" pitchFamily="34" charset="0"/>
                <a:ea typeface="Calibri" pitchFamily="34" charset="-122"/>
                <a:cs typeface="Calibri" pitchFamily="34" charset="-120"/>
              </a:rPr>
              <a:t>0.011</a:t>
            </a:r>
            <a:endParaRPr lang="en-US" sz="2200" dirty="0"/>
          </a:p>
          <a:p>
            <a:pPr indent="0" marL="0">
              <a:buNone/>
            </a:pPr>
            <a:r>
              <a:rPr lang="en-US" sz="1200" dirty="0">
                <a:solidFill>
                  <a:srgbClr val="5B6470"/>
                </a:solidFill>
                <a:latin typeface="Calibri" pitchFamily="34" charset="0"/>
                <a:ea typeface="Calibri" pitchFamily="34" charset="-122"/>
                <a:cs typeface="Calibri" pitchFamily="34" charset="-120"/>
              </a:rPr>
              <a:t>policy regret (naive 0.062)</a:t>
            </a:r>
            <a:endParaRPr lang="en-US" sz="2200" dirty="0"/>
          </a:p>
        </p:txBody>
      </p:sp>
      <p:sp>
        <p:nvSpPr>
          <p:cNvPr id="17" name="Text 12"/>
          <p:cNvSpPr txBox="1"/>
          <p:nvPr/>
        </p:nvSpPr>
        <p:spPr>
          <a:xfrm>
            <a:off x="457200" y="4983480"/>
            <a:ext cx="8229600" cy="64008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20 synthetic India-calibrated cohorts × 5,000 patients; true effect −0.211. Balance: largest SMD 0.70 → 0.08 after weighting. Refutation 9/9 passed.</a:t>
            </a:r>
            <a:endParaRPr lang="en-US" sz="1300" dirty="0"/>
          </a:p>
        </p:txBody>
      </p:sp>
      <p:sp>
        <p:nvSpPr>
          <p:cNvPr id="18" name="Text 13"/>
          <p:cNvSpPr txBox="1"/>
          <p:nvPr/>
        </p:nvSpPr>
        <p:spPr>
          <a:xfrm>
            <a:off x="457200" y="5715000"/>
            <a:ext cx="8229600" cy="365760"/>
          </a:xfrm>
          <a:prstGeom prst="rect">
            <a:avLst/>
          </a:prstGeom>
          <a:noFill/>
          <a:ln/>
        </p:spPr>
        <p:txBody>
          <a:bodyPr wrap="square" lIns="0" tIns="0" rIns="0" bIns="0" rtlCol="0" anchor="ctr"/>
          <a:lstStyle/>
          <a:p>
            <a:pPr indent="0" marL="0">
              <a:buNone/>
            </a:pPr>
            <a:r>
              <a:rPr lang="en-US" sz="1200" i="1" dirty="0">
                <a:solidFill>
                  <a:srgbClr val="8A1010"/>
                </a:solidFill>
                <a:latin typeface="Calibri" pitchFamily="34" charset="0"/>
                <a:ea typeface="Calibri" pitchFamily="34" charset="-122"/>
                <a:cs typeface="Calibri" pitchFamily="34" charset="-120"/>
              </a:rPr>
              <a:t>Synthetic data: shows the methods recover a planted truth, not real-world drug effects.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Initial Results — Plots</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Pratham</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17</a:t>
            </a:r>
            <a:endParaRPr lang="en-US" sz="1000" dirty="0"/>
          </a:p>
        </p:txBody>
      </p:sp>
      <p:sp>
        <p:nvSpPr>
          <p:cNvPr id="8" name="Shape 4"/>
          <p:cNvSpPr/>
          <p:nvPr/>
        </p:nvSpPr>
        <p:spPr>
          <a:xfrm>
            <a:off x="320040" y="1188720"/>
            <a:ext cx="2743200" cy="4206240"/>
          </a:xfrm>
          <a:prstGeom prst="roundRect">
            <a:avLst>
              <a:gd name="adj" fmla="val 2667"/>
            </a:avLst>
          </a:prstGeom>
          <a:solidFill>
            <a:srgbClr val="FFFFFF"/>
          </a:solidFill>
          <a:ln w="9525">
            <a:solidFill>
              <a:srgbClr val="C9D2E3"/>
            </a:solidFill>
            <a:prstDash val="solid"/>
          </a:ln>
        </p:spPr>
      </p:sp>
      <p:pic>
        <p:nvPicPr>
          <p:cNvPr id="9" name="Image 1" descr="/home/user/DiaCausal-CDSS/results/figures/overlap.png">    </p:cNvPr>
          <p:cNvPicPr>
            <a:picLocks noChangeAspect="1"/>
          </p:cNvPicPr>
          <p:nvPr/>
        </p:nvPicPr>
        <p:blipFill>
          <a:blip r:embed="rId2"/>
          <a:srcRect l="0" r="0" t="0" b="0"/>
          <a:stretch/>
        </p:blipFill>
        <p:spPr>
          <a:xfrm>
            <a:off x="393192" y="1325880"/>
            <a:ext cx="2596896" cy="3291840"/>
          </a:xfrm>
          <a:prstGeom prst="rect">
            <a:avLst/>
          </a:prstGeom>
        </p:spPr>
      </p:pic>
      <p:sp>
        <p:nvSpPr>
          <p:cNvPr id="10" name="Text 5"/>
          <p:cNvSpPr txBox="1"/>
          <p:nvPr/>
        </p:nvSpPr>
        <p:spPr>
          <a:xfrm>
            <a:off x="411480" y="4709160"/>
            <a:ext cx="2560320" cy="548640"/>
          </a:xfrm>
          <a:prstGeom prst="rect">
            <a:avLst/>
          </a:prstGeom>
          <a:noFill/>
          <a:ln/>
        </p:spPr>
        <p:txBody>
          <a:bodyPr wrap="square" lIns="0" tIns="0" rIns="0" bIns="0" rtlCol="0" anchor="ctr"/>
          <a:lstStyle/>
          <a:p>
            <a:pPr algn="ctr" indent="0" marL="0">
              <a:buNone/>
            </a:pPr>
            <a:r>
              <a:rPr lang="en-US" sz="1200" b="1" dirty="0">
                <a:solidFill>
                  <a:srgbClr val="002060"/>
                </a:solidFill>
                <a:latin typeface="Calibri" pitchFamily="34" charset="0"/>
                <a:ea typeface="Calibri" pitchFamily="34" charset="-122"/>
                <a:cs typeface="Calibri" pitchFamily="34" charset="-120"/>
              </a:rPr>
              <a:t>Overlap (0.05 = abstain)</a:t>
            </a:r>
            <a:endParaRPr lang="en-US" sz="1200" dirty="0"/>
          </a:p>
        </p:txBody>
      </p:sp>
      <p:sp>
        <p:nvSpPr>
          <p:cNvPr id="11" name="Shape 6"/>
          <p:cNvSpPr/>
          <p:nvPr/>
        </p:nvSpPr>
        <p:spPr>
          <a:xfrm>
            <a:off x="3172968" y="1188720"/>
            <a:ext cx="2743200" cy="4206240"/>
          </a:xfrm>
          <a:prstGeom prst="roundRect">
            <a:avLst>
              <a:gd name="adj" fmla="val 2667"/>
            </a:avLst>
          </a:prstGeom>
          <a:solidFill>
            <a:srgbClr val="FFFFFF"/>
          </a:solidFill>
          <a:ln w="9525">
            <a:solidFill>
              <a:srgbClr val="C9D2E3"/>
            </a:solidFill>
            <a:prstDash val="solid"/>
          </a:ln>
        </p:spPr>
      </p:sp>
      <p:pic>
        <p:nvPicPr>
          <p:cNvPr id="12" name="Image 2" descr="/home/user/DiaCausal-CDSS/results/figures/love_plot.png">    </p:cNvPr>
          <p:cNvPicPr>
            <a:picLocks noChangeAspect="1"/>
          </p:cNvPicPr>
          <p:nvPr/>
        </p:nvPicPr>
        <p:blipFill>
          <a:blip r:embed="rId3"/>
          <a:srcRect l="0" r="0" t="0" b="0"/>
          <a:stretch/>
        </p:blipFill>
        <p:spPr>
          <a:xfrm>
            <a:off x="3246120" y="1325880"/>
            <a:ext cx="2596896" cy="3291840"/>
          </a:xfrm>
          <a:prstGeom prst="rect">
            <a:avLst/>
          </a:prstGeom>
        </p:spPr>
      </p:pic>
      <p:sp>
        <p:nvSpPr>
          <p:cNvPr id="13" name="Text 7"/>
          <p:cNvSpPr txBox="1"/>
          <p:nvPr/>
        </p:nvSpPr>
        <p:spPr>
          <a:xfrm>
            <a:off x="3264408" y="4709160"/>
            <a:ext cx="2560320" cy="548640"/>
          </a:xfrm>
          <a:prstGeom prst="rect">
            <a:avLst/>
          </a:prstGeom>
          <a:noFill/>
          <a:ln/>
        </p:spPr>
        <p:txBody>
          <a:bodyPr wrap="square" lIns="0" tIns="0" rIns="0" bIns="0" rtlCol="0" anchor="ctr"/>
          <a:lstStyle/>
          <a:p>
            <a:pPr algn="ctr" indent="0" marL="0">
              <a:buNone/>
            </a:pPr>
            <a:r>
              <a:rPr lang="en-US" sz="1200" b="1" dirty="0">
                <a:solidFill>
                  <a:srgbClr val="002060"/>
                </a:solidFill>
                <a:latin typeface="Calibri" pitchFamily="34" charset="0"/>
                <a:ea typeface="Calibri" pitchFamily="34" charset="-122"/>
                <a:cs typeface="Calibri" pitchFamily="34" charset="-120"/>
              </a:rPr>
              <a:t>Balance before/after weighting</a:t>
            </a:r>
            <a:endParaRPr lang="en-US" sz="1200" dirty="0"/>
          </a:p>
        </p:txBody>
      </p:sp>
      <p:sp>
        <p:nvSpPr>
          <p:cNvPr id="14" name="Shape 8"/>
          <p:cNvSpPr/>
          <p:nvPr/>
        </p:nvSpPr>
        <p:spPr>
          <a:xfrm>
            <a:off x="6025896" y="1188720"/>
            <a:ext cx="2743200" cy="4206240"/>
          </a:xfrm>
          <a:prstGeom prst="roundRect">
            <a:avLst>
              <a:gd name="adj" fmla="val 2667"/>
            </a:avLst>
          </a:prstGeom>
          <a:solidFill>
            <a:srgbClr val="FFFFFF"/>
          </a:solidFill>
          <a:ln w="9525">
            <a:solidFill>
              <a:srgbClr val="C9D2E3"/>
            </a:solidFill>
            <a:prstDash val="solid"/>
          </a:ln>
        </p:spPr>
      </p:sp>
      <p:pic>
        <p:nvPicPr>
          <p:cNvPr id="15" name="Image 3" descr="/home/user/DiaCausal-CDSS/results/figures/cate_recovery.png">    </p:cNvPr>
          <p:cNvPicPr>
            <a:picLocks noChangeAspect="1"/>
          </p:cNvPicPr>
          <p:nvPr/>
        </p:nvPicPr>
        <p:blipFill>
          <a:blip r:embed="rId4"/>
          <a:srcRect l="0" r="0" t="0" b="0"/>
          <a:stretch/>
        </p:blipFill>
        <p:spPr>
          <a:xfrm>
            <a:off x="6099048" y="1325880"/>
            <a:ext cx="2596896" cy="3291840"/>
          </a:xfrm>
          <a:prstGeom prst="rect">
            <a:avLst/>
          </a:prstGeom>
        </p:spPr>
      </p:pic>
      <p:sp>
        <p:nvSpPr>
          <p:cNvPr id="16" name="Text 9"/>
          <p:cNvSpPr txBox="1"/>
          <p:nvPr/>
        </p:nvSpPr>
        <p:spPr>
          <a:xfrm>
            <a:off x="6117336" y="4709160"/>
            <a:ext cx="2560320" cy="548640"/>
          </a:xfrm>
          <a:prstGeom prst="rect">
            <a:avLst/>
          </a:prstGeom>
          <a:noFill/>
          <a:ln/>
        </p:spPr>
        <p:txBody>
          <a:bodyPr wrap="square" lIns="0" tIns="0" rIns="0" bIns="0" rtlCol="0" anchor="ctr"/>
          <a:lstStyle/>
          <a:p>
            <a:pPr algn="ctr" indent="0" marL="0">
              <a:buNone/>
            </a:pPr>
            <a:r>
              <a:rPr lang="en-US" sz="1200" b="1" dirty="0">
                <a:solidFill>
                  <a:srgbClr val="002060"/>
                </a:solidFill>
                <a:latin typeface="Calibri" pitchFamily="34" charset="0"/>
                <a:ea typeface="Calibri" pitchFamily="34" charset="-122"/>
                <a:cs typeface="Calibri" pitchFamily="34" charset="-120"/>
              </a:rPr>
              <a:t>Per-patient effects vs truth</a:t>
            </a:r>
            <a:endParaRPr lang="en-US" sz="1200" dirty="0"/>
          </a:p>
        </p:txBody>
      </p:sp>
      <p:sp>
        <p:nvSpPr>
          <p:cNvPr id="17" name="Text 10"/>
          <p:cNvSpPr txBox="1"/>
          <p:nvPr/>
        </p:nvSpPr>
        <p:spPr>
          <a:xfrm>
            <a:off x="457200" y="5669280"/>
            <a:ext cx="8229600" cy="365760"/>
          </a:xfrm>
          <a:prstGeom prst="rect">
            <a:avLst/>
          </a:prstGeom>
          <a:noFill/>
          <a:ln/>
        </p:spPr>
        <p:txBody>
          <a:bodyPr wrap="square" lIns="0" tIns="0" rIns="0" bIns="0" rtlCol="0" anchor="ctr"/>
          <a:lstStyle/>
          <a:p>
            <a:pPr indent="0" marL="0">
              <a:buNone/>
            </a:pPr>
            <a:r>
              <a:rPr lang="en-US" sz="1200" i="1" dirty="0">
                <a:solidFill>
                  <a:srgbClr val="5B6470"/>
                </a:solidFill>
                <a:latin typeface="Calibri" pitchFamily="34" charset="0"/>
                <a:ea typeface="Calibri" pitchFamily="34" charset="-122"/>
                <a:cs typeface="Calibri" pitchFamily="34" charset="-120"/>
              </a:rPr>
              <a:t>Full-size figures and the calibration plot: report Chapter 5 and the website's Results tab.</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Demo — Live on Any Phone</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Graceton</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18</a:t>
            </a:r>
            <a:endParaRPr lang="en-US" sz="1000" dirty="0"/>
          </a:p>
        </p:txBody>
      </p:sp>
      <p:pic>
        <p:nvPicPr>
          <p:cNvPr id="8" name="Image 1" descr="/home/user/DiaCausal-CDSS/docs/midsem/screens/demo1_cards.png">    </p:cNvPr>
          <p:cNvPicPr>
            <a:picLocks noChangeAspect="1"/>
          </p:cNvPicPr>
          <p:nvPr/>
        </p:nvPicPr>
        <p:blipFill>
          <a:blip r:embed="rId2"/>
          <a:srcRect l="0" r="0" t="0" b="0"/>
          <a:stretch/>
        </p:blipFill>
        <p:spPr>
          <a:xfrm>
            <a:off x="320040" y="1188720"/>
            <a:ext cx="2743200" cy="1819656"/>
          </a:xfrm>
          <a:prstGeom prst="rect">
            <a:avLst/>
          </a:prstGeom>
        </p:spPr>
      </p:pic>
      <p:sp>
        <p:nvSpPr>
          <p:cNvPr id="9" name="Text 4"/>
          <p:cNvSpPr txBox="1"/>
          <p:nvPr/>
        </p:nvSpPr>
        <p:spPr>
          <a:xfrm>
            <a:off x="320040" y="3063240"/>
            <a:ext cx="2743200" cy="365760"/>
          </a:xfrm>
          <a:prstGeom prst="rect">
            <a:avLst/>
          </a:prstGeom>
          <a:noFill/>
          <a:ln/>
        </p:spPr>
        <p:txBody>
          <a:bodyPr wrap="square" lIns="0" tIns="0" rIns="0" bIns="0" rtlCol="0" anchor="ctr"/>
          <a:lstStyle/>
          <a:p>
            <a:pPr algn="ctr" indent="0" marL="0">
              <a:buNone/>
            </a:pPr>
            <a:r>
              <a:rPr lang="en-US" sz="1200" b="1" dirty="0">
                <a:solidFill>
                  <a:srgbClr val="002060"/>
                </a:solidFill>
                <a:latin typeface="Calibri" pitchFamily="34" charset="0"/>
                <a:ea typeface="Calibri" pitchFamily="34" charset="-122"/>
                <a:cs typeface="Calibri" pitchFamily="34" charset="-120"/>
              </a:rPr>
              <a:t>1 · Typical patient</a:t>
            </a:r>
            <a:endParaRPr lang="en-US" sz="1200" dirty="0"/>
          </a:p>
        </p:txBody>
      </p:sp>
      <p:pic>
        <p:nvPicPr>
          <p:cNvPr id="10" name="Image 2" descr="/home/user/DiaCausal-CDSS/docs/midsem/screens/demo2_cards.png">    </p:cNvPr>
          <p:cNvPicPr>
            <a:picLocks noChangeAspect="1"/>
          </p:cNvPicPr>
          <p:nvPr/>
        </p:nvPicPr>
        <p:blipFill>
          <a:blip r:embed="rId3"/>
          <a:srcRect l="0" r="0" t="0" b="0"/>
          <a:stretch/>
        </p:blipFill>
        <p:spPr>
          <a:xfrm>
            <a:off x="3172968" y="1188720"/>
            <a:ext cx="2743200" cy="1819656"/>
          </a:xfrm>
          <a:prstGeom prst="rect">
            <a:avLst/>
          </a:prstGeom>
        </p:spPr>
      </p:pic>
      <p:sp>
        <p:nvSpPr>
          <p:cNvPr id="11" name="Text 5"/>
          <p:cNvSpPr txBox="1"/>
          <p:nvPr/>
        </p:nvSpPr>
        <p:spPr>
          <a:xfrm>
            <a:off x="3172968" y="3063240"/>
            <a:ext cx="2743200" cy="365760"/>
          </a:xfrm>
          <a:prstGeom prst="rect">
            <a:avLst/>
          </a:prstGeom>
          <a:noFill/>
          <a:ln/>
        </p:spPr>
        <p:txBody>
          <a:bodyPr wrap="square" lIns="0" tIns="0" rIns="0" bIns="0" rtlCol="0" anchor="ctr"/>
          <a:lstStyle/>
          <a:p>
            <a:pPr algn="ctr" indent="0" marL="0">
              <a:buNone/>
            </a:pPr>
            <a:r>
              <a:rPr lang="en-US" sz="1200" b="1" dirty="0">
                <a:solidFill>
                  <a:srgbClr val="002060"/>
                </a:solidFill>
                <a:latin typeface="Calibri" pitchFamily="34" charset="0"/>
                <a:ea typeface="Calibri" pitchFamily="34" charset="-122"/>
                <a:cs typeface="Calibri" pitchFamily="34" charset="-120"/>
              </a:rPr>
              <a:t>2 · eGFR 40, pancreatitis</a:t>
            </a:r>
            <a:endParaRPr lang="en-US" sz="1200" dirty="0"/>
          </a:p>
        </p:txBody>
      </p:sp>
      <p:pic>
        <p:nvPicPr>
          <p:cNvPr id="12" name="Image 3" descr="/home/user/DiaCausal-CDSS/docs/midsem/screens/demo3_cards.png">    </p:cNvPr>
          <p:cNvPicPr>
            <a:picLocks noChangeAspect="1"/>
          </p:cNvPicPr>
          <p:nvPr/>
        </p:nvPicPr>
        <p:blipFill>
          <a:blip r:embed="rId4"/>
          <a:srcRect l="0" r="0" t="0" b="0"/>
          <a:stretch/>
        </p:blipFill>
        <p:spPr>
          <a:xfrm>
            <a:off x="6025896" y="1188720"/>
            <a:ext cx="2743200" cy="1819656"/>
          </a:xfrm>
          <a:prstGeom prst="rect">
            <a:avLst/>
          </a:prstGeom>
        </p:spPr>
      </p:pic>
      <p:sp>
        <p:nvSpPr>
          <p:cNvPr id="13" name="Text 6"/>
          <p:cNvSpPr txBox="1"/>
          <p:nvPr/>
        </p:nvSpPr>
        <p:spPr>
          <a:xfrm>
            <a:off x="6025896" y="3063240"/>
            <a:ext cx="2743200" cy="365760"/>
          </a:xfrm>
          <a:prstGeom prst="rect">
            <a:avLst/>
          </a:prstGeom>
          <a:noFill/>
          <a:ln/>
        </p:spPr>
        <p:txBody>
          <a:bodyPr wrap="square" lIns="0" tIns="0" rIns="0" bIns="0" rtlCol="0" anchor="ctr"/>
          <a:lstStyle/>
          <a:p>
            <a:pPr algn="ctr" indent="0" marL="0">
              <a:buNone/>
            </a:pPr>
            <a:r>
              <a:rPr lang="en-US" sz="1200" b="1" dirty="0">
                <a:solidFill>
                  <a:srgbClr val="002060"/>
                </a:solidFill>
                <a:latin typeface="Calibri" pitchFamily="34" charset="0"/>
                <a:ea typeface="Calibri" pitchFamily="34" charset="-122"/>
                <a:cs typeface="Calibri" pitchFamily="34" charset="-120"/>
              </a:rPr>
              <a:t>3 · Older, past hypoglycaemia</a:t>
            </a:r>
            <a:endParaRPr lang="en-US" sz="1200" dirty="0"/>
          </a:p>
        </p:txBody>
      </p:sp>
      <p:sp>
        <p:nvSpPr>
          <p:cNvPr id="14" name="Shape 7"/>
          <p:cNvSpPr/>
          <p:nvPr/>
        </p:nvSpPr>
        <p:spPr>
          <a:xfrm>
            <a:off x="457200" y="3657600"/>
            <a:ext cx="365760" cy="310896"/>
          </a:xfrm>
          <a:prstGeom prst="roundRect">
            <a:avLst>
              <a:gd name="adj" fmla="val 14706"/>
            </a:avLst>
          </a:prstGeom>
          <a:solidFill>
            <a:srgbClr val="FADCDC"/>
          </a:solidFill>
          <a:ln w="19050">
            <a:solidFill>
              <a:srgbClr val="8A1010"/>
            </a:solidFill>
            <a:prstDash val="solid"/>
          </a:ln>
        </p:spPr>
      </p:sp>
      <p:sp>
        <p:nvSpPr>
          <p:cNvPr id="15" name="Text 8"/>
          <p:cNvSpPr txBox="1"/>
          <p:nvPr/>
        </p:nvSpPr>
        <p:spPr>
          <a:xfrm>
            <a:off x="960120" y="3630168"/>
            <a:ext cx="3840480" cy="36576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Red = excluded by a cited rule</a:t>
            </a:r>
            <a:endParaRPr lang="en-US" sz="1300" dirty="0"/>
          </a:p>
        </p:txBody>
      </p:sp>
      <p:sp>
        <p:nvSpPr>
          <p:cNvPr id="16" name="Shape 9"/>
          <p:cNvSpPr/>
          <p:nvPr/>
        </p:nvSpPr>
        <p:spPr>
          <a:xfrm>
            <a:off x="457200" y="4114800"/>
            <a:ext cx="365760" cy="310896"/>
          </a:xfrm>
          <a:prstGeom prst="roundRect">
            <a:avLst>
              <a:gd name="adj" fmla="val 14706"/>
            </a:avLst>
          </a:prstGeom>
          <a:solidFill>
            <a:srgbClr val="FBEBCB"/>
          </a:solidFill>
          <a:ln w="19050">
            <a:solidFill>
              <a:srgbClr val="6E4400"/>
            </a:solidFill>
            <a:prstDash val="solid"/>
          </a:ln>
        </p:spPr>
      </p:sp>
      <p:sp>
        <p:nvSpPr>
          <p:cNvPr id="17" name="Text 10"/>
          <p:cNvSpPr txBox="1"/>
          <p:nvPr/>
        </p:nvSpPr>
        <p:spPr>
          <a:xfrm>
            <a:off x="960120" y="4087368"/>
            <a:ext cx="3840480" cy="36576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Amber = caution</a:t>
            </a:r>
            <a:endParaRPr lang="en-US" sz="1300" dirty="0"/>
          </a:p>
        </p:txBody>
      </p:sp>
      <p:sp>
        <p:nvSpPr>
          <p:cNvPr id="18" name="Shape 11"/>
          <p:cNvSpPr/>
          <p:nvPr/>
        </p:nvSpPr>
        <p:spPr>
          <a:xfrm>
            <a:off x="457200" y="4572000"/>
            <a:ext cx="365760" cy="310896"/>
          </a:xfrm>
          <a:prstGeom prst="roundRect">
            <a:avLst>
              <a:gd name="adj" fmla="val 14706"/>
            </a:avLst>
          </a:prstGeom>
          <a:solidFill>
            <a:srgbClr val="ECEEEC"/>
          </a:solidFill>
          <a:ln w="19050">
            <a:solidFill>
              <a:srgbClr val="3F4744"/>
            </a:solidFill>
            <a:prstDash val="solid"/>
          </a:ln>
        </p:spPr>
      </p:sp>
      <p:sp>
        <p:nvSpPr>
          <p:cNvPr id="19" name="Text 12"/>
          <p:cNvSpPr txBox="1"/>
          <p:nvPr/>
        </p:nvSpPr>
        <p:spPr>
          <a:xfrm>
            <a:off x="960120" y="4544568"/>
            <a:ext cx="3840480" cy="36576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Grey = insufficient evidence</a:t>
            </a:r>
            <a:endParaRPr lang="en-US" sz="1300" dirty="0"/>
          </a:p>
        </p:txBody>
      </p:sp>
      <p:sp>
        <p:nvSpPr>
          <p:cNvPr id="20" name="Shape 13"/>
          <p:cNvSpPr/>
          <p:nvPr/>
        </p:nvSpPr>
        <p:spPr>
          <a:xfrm>
            <a:off x="457200" y="5029200"/>
            <a:ext cx="365760" cy="310896"/>
          </a:xfrm>
          <a:prstGeom prst="roundRect">
            <a:avLst>
              <a:gd name="adj" fmla="val 14706"/>
            </a:avLst>
          </a:prstGeom>
          <a:solidFill>
            <a:srgbClr val="E4EEEB"/>
          </a:solidFill>
          <a:ln w="19050">
            <a:solidFill>
              <a:srgbClr val="0E5049"/>
            </a:solidFill>
            <a:prstDash val="solid"/>
          </a:ln>
        </p:spPr>
      </p:sp>
      <p:sp>
        <p:nvSpPr>
          <p:cNvPr id="21" name="Text 14"/>
          <p:cNvSpPr txBox="1"/>
          <p:nvPr/>
        </p:nvSpPr>
        <p:spPr>
          <a:xfrm>
            <a:off x="960120" y="5001768"/>
            <a:ext cx="3840480" cy="365760"/>
          </a:xfrm>
          <a:prstGeom prst="rect">
            <a:avLst/>
          </a:prstGeom>
          <a:noFill/>
          <a:ln/>
        </p:spPr>
        <p:txBody>
          <a:bodyPr wrap="square" lIns="0" tIns="0" rIns="0" bIns="0" rtlCol="0" anchor="ctr"/>
          <a:lstStyle/>
          <a:p>
            <a:pPr indent="0" marL="0">
              <a:buNone/>
            </a:pPr>
            <a:r>
              <a:rPr lang="en-US" sz="1300" dirty="0">
                <a:solidFill>
                  <a:srgbClr val="1F2328"/>
                </a:solidFill>
                <a:latin typeface="Calibri" pitchFamily="34" charset="0"/>
                <a:ea typeface="Calibri" pitchFamily="34" charset="-122"/>
                <a:cs typeface="Calibri" pitchFamily="34" charset="-120"/>
              </a:rPr>
              <a:t>Pine = estimate ± 95% range</a:t>
            </a:r>
            <a:endParaRPr lang="en-US" sz="1300" dirty="0"/>
          </a:p>
        </p:txBody>
      </p:sp>
      <p:pic>
        <p:nvPicPr>
          <p:cNvPr id="22" name="Image 4" descr="/home/user/DiaCausal-CDSS/web/icons/qr.png">    </p:cNvPr>
          <p:cNvPicPr>
            <a:picLocks noChangeAspect="1"/>
          </p:cNvPicPr>
          <p:nvPr/>
        </p:nvPicPr>
        <p:blipFill>
          <a:blip r:embed="rId5"/>
          <a:stretch>
            <a:fillRect/>
          </a:stretch>
        </p:blipFill>
        <p:spPr>
          <a:xfrm>
            <a:off x="6903720" y="3611880"/>
            <a:ext cx="1783080" cy="1783080"/>
          </a:xfrm>
          <a:prstGeom prst="rect">
            <a:avLst/>
          </a:prstGeom>
        </p:spPr>
      </p:pic>
      <p:sp>
        <p:nvSpPr>
          <p:cNvPr id="23" name="Text 15"/>
          <p:cNvSpPr txBox="1"/>
          <p:nvPr/>
        </p:nvSpPr>
        <p:spPr>
          <a:xfrm>
            <a:off x="4663440" y="3749040"/>
            <a:ext cx="2148840" cy="1645920"/>
          </a:xfrm>
          <a:prstGeom prst="rect">
            <a:avLst/>
          </a:prstGeom>
          <a:noFill/>
          <a:ln/>
        </p:spPr>
        <p:txBody>
          <a:bodyPr wrap="square" lIns="0" tIns="0" rIns="0" bIns="0" rtlCol="0" anchor="ctr"/>
          <a:lstStyle/>
          <a:p>
            <a:pPr indent="0" marL="0">
              <a:buNone/>
            </a:pPr>
            <a:r>
              <a:rPr lang="en-US" sz="1400" b="1" dirty="0">
                <a:solidFill>
                  <a:srgbClr val="002060"/>
                </a:solidFill>
                <a:latin typeface="Calibri" pitchFamily="34" charset="0"/>
                <a:ea typeface="Calibri" pitchFamily="34" charset="-122"/>
                <a:cs typeface="Calibri" pitchFamily="34" charset="-120"/>
              </a:rPr>
              <a:t>diacausal.netlify.app</a:t>
            </a:r>
            <a:endParaRPr lang="en-US" sz="1400" dirty="0"/>
          </a:p>
          <a:p>
            <a:pPr indent="0" marL="0">
              <a:buNone/>
            </a:pPr>
            <a:r>
              <a:rPr lang="en-US" sz="1100" dirty="0">
                <a:solidFill>
                  <a:srgbClr val="5B6470"/>
                </a:solidFill>
                <a:latin typeface="Calibri" pitchFamily="34" charset="0"/>
                <a:ea typeface="Calibri" pitchFamily="34" charset="-122"/>
                <a:cs typeface="Calibri" pitchFamily="34" charset="-120"/>
              </a:rPr>
              <a:t>Add to Home Screen · works offline · never green for “recommended”</a:t>
            </a:r>
            <a:endParaRPr lang="en-US" sz="1400" dirty="0"/>
          </a:p>
        </p:txBody>
      </p:sp>
      <p:sp>
        <p:nvSpPr>
          <p:cNvPr id="24" name="Text 16"/>
          <p:cNvSpPr txBox="1"/>
          <p:nvPr/>
        </p:nvSpPr>
        <p:spPr>
          <a:xfrm>
            <a:off x="457200" y="5715000"/>
            <a:ext cx="8229600" cy="365760"/>
          </a:xfrm>
          <a:prstGeom prst="rect">
            <a:avLst/>
          </a:prstGeom>
          <a:noFill/>
          <a:ln/>
        </p:spPr>
        <p:txBody>
          <a:bodyPr wrap="square" lIns="0" tIns="0" rIns="0" bIns="0" rtlCol="0" anchor="ctr"/>
          <a:lstStyle/>
          <a:p>
            <a:pPr indent="0" marL="0">
              <a:buNone/>
            </a:pPr>
            <a:r>
              <a:rPr lang="en-US" sz="1200" i="1" dirty="0">
                <a:solidFill>
                  <a:srgbClr val="5B6470"/>
                </a:solidFill>
                <a:latin typeface="Calibri" pitchFamily="34" charset="0"/>
                <a:ea typeface="Calibri" pitchFamily="34" charset="-122"/>
                <a:cs typeface="Calibri" pitchFamily="34" charset="-120"/>
              </a:rPr>
              <a:t>Backup: 98-second recorded demo (DiaCausal_demo.mp4)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Completed vs Planned</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Advik</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19</a:t>
            </a:r>
            <a:endParaRPr lang="en-US" sz="1000" dirty="0"/>
          </a:p>
        </p:txBody>
      </p:sp>
      <p:sp>
        <p:nvSpPr>
          <p:cNvPr id="8" name="Shape 4"/>
          <p:cNvSpPr/>
          <p:nvPr/>
        </p:nvSpPr>
        <p:spPr>
          <a:xfrm>
            <a:off x="457200" y="1188720"/>
            <a:ext cx="3977640" cy="4846320"/>
          </a:xfrm>
          <a:prstGeom prst="roundRect">
            <a:avLst>
              <a:gd name="adj" fmla="val 1839"/>
            </a:avLst>
          </a:prstGeom>
          <a:solidFill>
            <a:srgbClr val="E6F3F1"/>
          </a:solidFill>
          <a:ln w="9525">
            <a:solidFill>
              <a:srgbClr val="C9D2E3"/>
            </a:solidFill>
            <a:prstDash val="solid"/>
          </a:ln>
        </p:spPr>
      </p:sp>
      <p:sp>
        <p:nvSpPr>
          <p:cNvPr id="9" name="Text 5"/>
          <p:cNvSpPr txBox="1"/>
          <p:nvPr/>
        </p:nvSpPr>
        <p:spPr>
          <a:xfrm>
            <a:off x="640080" y="1280160"/>
            <a:ext cx="3657600" cy="411480"/>
          </a:xfrm>
          <a:prstGeom prst="rect">
            <a:avLst/>
          </a:prstGeom>
          <a:noFill/>
          <a:ln/>
        </p:spPr>
        <p:txBody>
          <a:bodyPr wrap="square" lIns="0" tIns="0" rIns="0" bIns="0" rtlCol="0" anchor="ctr"/>
          <a:lstStyle/>
          <a:p>
            <a:pPr indent="0" marL="0">
              <a:buNone/>
            </a:pPr>
            <a:r>
              <a:rPr lang="en-US" sz="1700" b="1" dirty="0">
                <a:solidFill>
                  <a:srgbClr val="00897B"/>
                </a:solidFill>
                <a:latin typeface="Calibri" pitchFamily="34" charset="0"/>
                <a:ea typeface="Calibri" pitchFamily="34" charset="-122"/>
                <a:cs typeface="Calibri" pitchFamily="34" charset="-120"/>
              </a:rPr>
              <a:t>Completed (by 30 Sept)</a:t>
            </a:r>
            <a:endParaRPr lang="en-US" sz="1700" dirty="0"/>
          </a:p>
        </p:txBody>
      </p:sp>
      <p:sp>
        <p:nvSpPr>
          <p:cNvPr id="10" name="Text 6"/>
          <p:cNvSpPr txBox="1"/>
          <p:nvPr/>
        </p:nvSpPr>
        <p:spPr>
          <a:xfrm>
            <a:off x="640080" y="1737360"/>
            <a:ext cx="3657600" cy="4206240"/>
          </a:xfrm>
          <a:prstGeom prst="rect">
            <a:avLst/>
          </a:prstGeom>
          <a:noFill/>
          <a:ln/>
        </p:spPr>
        <p:txBody>
          <a:bodyPr wrap="square" lIns="635" tIns="635" rIns="635" bIns="635" rtlCol="0" anchor="t"/>
          <a:lstStyle/>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Scope, data strategy, requirements, design</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Synthetic India-calibrated cohort</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Cited safety rules (10)</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Propensity, overlap, IPW, AIPW, DR-learner</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Benchmark, refutation, E-values</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Streamlit demo, FastAPI, 168 tests</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Phone website: accounts, MFA, admin approval</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Evidence search with citations (1st source)</a:t>
            </a:r>
            <a:endParaRPr lang="en-US" sz="1400" dirty="0"/>
          </a:p>
        </p:txBody>
      </p:sp>
      <p:sp>
        <p:nvSpPr>
          <p:cNvPr id="11" name="Shape 7"/>
          <p:cNvSpPr/>
          <p:nvPr/>
        </p:nvSpPr>
        <p:spPr>
          <a:xfrm>
            <a:off x="4709160" y="1188720"/>
            <a:ext cx="3977640" cy="4846320"/>
          </a:xfrm>
          <a:prstGeom prst="roundRect">
            <a:avLst>
              <a:gd name="adj" fmla="val 1839"/>
            </a:avLst>
          </a:prstGeom>
          <a:solidFill>
            <a:srgbClr val="F5F7FB"/>
          </a:solidFill>
          <a:ln w="9525">
            <a:solidFill>
              <a:srgbClr val="C9D2E3"/>
            </a:solidFill>
            <a:prstDash val="solid"/>
          </a:ln>
        </p:spPr>
      </p:sp>
      <p:sp>
        <p:nvSpPr>
          <p:cNvPr id="12" name="Text 8"/>
          <p:cNvSpPr txBox="1"/>
          <p:nvPr/>
        </p:nvSpPr>
        <p:spPr>
          <a:xfrm>
            <a:off x="4892040" y="1280160"/>
            <a:ext cx="3657600" cy="411480"/>
          </a:xfrm>
          <a:prstGeom prst="rect">
            <a:avLst/>
          </a:prstGeom>
          <a:noFill/>
          <a:ln/>
        </p:spPr>
        <p:txBody>
          <a:bodyPr wrap="square" lIns="0" tIns="0" rIns="0" bIns="0" rtlCol="0" anchor="ctr"/>
          <a:lstStyle/>
          <a:p>
            <a:pPr indent="0" marL="0">
              <a:buNone/>
            </a:pPr>
            <a:r>
              <a:rPr lang="en-US" sz="1700" b="1" dirty="0">
                <a:solidFill>
                  <a:srgbClr val="002060"/>
                </a:solidFill>
                <a:latin typeface="Calibri" pitchFamily="34" charset="0"/>
                <a:ea typeface="Calibri" pitchFamily="34" charset="-122"/>
                <a:cs typeface="Calibri" pitchFamily="34" charset="-120"/>
              </a:rPr>
              <a:t>Planned (October)</a:t>
            </a:r>
            <a:endParaRPr lang="en-US" sz="1700" dirty="0"/>
          </a:p>
        </p:txBody>
      </p:sp>
      <p:sp>
        <p:nvSpPr>
          <p:cNvPr id="13" name="Text 9"/>
          <p:cNvSpPr txBox="1"/>
          <p:nvPr/>
        </p:nvSpPr>
        <p:spPr>
          <a:xfrm>
            <a:off x="4892040" y="1737360"/>
            <a:ext cx="3657600" cy="4206240"/>
          </a:xfrm>
          <a:prstGeom prst="rect">
            <a:avLst/>
          </a:prstGeom>
          <a:noFill/>
          <a:ln/>
        </p:spPr>
        <p:txBody>
          <a:bodyPr wrap="square" lIns="635" tIns="635" rIns="635" bIns="635" rtlCol="0" anchor="t"/>
          <a:lstStyle/>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Hypoglycaemia + weight outcomes; printable summary (by 9 Oct)</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More licence-cleared sources; explanation writer (template / free online / offline)</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Gold questions; RAG evaluation (recall, citation precision)</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Engine inside the chat app</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Clinician review of 60 cases; usability (SUS)</a:t>
            </a:r>
            <a:endParaRPr lang="en-US" sz="1400" dirty="0"/>
          </a:p>
          <a:p>
            <a:pPr indent="0" marL="0">
              <a:spcAft>
                <a:spcPts val="800"/>
              </a:spcAft>
              <a:buNone/>
            </a:pPr>
            <a:r>
              <a:rPr lang="en-US" sz="1400" dirty="0">
                <a:solidFill>
                  <a:srgbClr val="1F2328"/>
                </a:solidFill>
                <a:latin typeface="Calibri" pitchFamily="34" charset="0"/>
                <a:ea typeface="Calibri" pitchFamily="34" charset="-122"/>
                <a:cs typeface="Calibri" pitchFamily="34" charset="-120"/>
              </a:rPr>
              <a:t>Results frozen 16 Oct; IEEE paper; final report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Conclusion</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Pratham</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20</a:t>
            </a:r>
            <a:endParaRPr lang="en-US" sz="1000" dirty="0"/>
          </a:p>
        </p:txBody>
      </p:sp>
      <p:sp>
        <p:nvSpPr>
          <p:cNvPr id="8" name="Shape 4"/>
          <p:cNvSpPr/>
          <p:nvPr/>
        </p:nvSpPr>
        <p:spPr>
          <a:xfrm>
            <a:off x="548640" y="1234440"/>
            <a:ext cx="8046720" cy="1005840"/>
          </a:xfrm>
          <a:prstGeom prst="roundRect">
            <a:avLst>
              <a:gd name="adj" fmla="val 7273"/>
            </a:avLst>
          </a:prstGeom>
          <a:solidFill>
            <a:srgbClr val="EEF2F8"/>
          </a:solidFill>
          <a:ln w="9525">
            <a:solidFill>
              <a:srgbClr val="C9D2E3"/>
            </a:solidFill>
            <a:prstDash val="solid"/>
          </a:ln>
        </p:spPr>
      </p:sp>
      <p:sp>
        <p:nvSpPr>
          <p:cNvPr id="9" name="Shape 5"/>
          <p:cNvSpPr/>
          <p:nvPr/>
        </p:nvSpPr>
        <p:spPr>
          <a:xfrm>
            <a:off x="731520" y="1453896"/>
            <a:ext cx="566928" cy="566928"/>
          </a:xfrm>
          <a:prstGeom prst="ellipse">
            <a:avLst/>
          </a:prstGeom>
          <a:solidFill>
            <a:srgbClr val="002060"/>
          </a:solidFill>
          <a:ln w="12700">
            <a:solidFill>
              <a:srgbClr val="002060"/>
            </a:solidFill>
            <a:prstDash val="solid"/>
          </a:ln>
        </p:spPr>
      </p:sp>
      <p:sp>
        <p:nvSpPr>
          <p:cNvPr id="10" name="Text 6"/>
          <p:cNvSpPr txBox="1"/>
          <p:nvPr/>
        </p:nvSpPr>
        <p:spPr>
          <a:xfrm>
            <a:off x="731520" y="145389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7"/>
          <p:cNvSpPr txBox="1"/>
          <p:nvPr/>
        </p:nvSpPr>
        <p:spPr>
          <a:xfrm>
            <a:off x="1463040" y="1234440"/>
            <a:ext cx="6949440" cy="10058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A causal question, answered causally</a:t>
            </a:r>
            <a:endParaRPr lang="en-US" sz="1700" dirty="0"/>
          </a:p>
          <a:p>
            <a:pPr indent="0" marL="0">
              <a:buNone/>
            </a:pPr>
            <a:r>
              <a:rPr lang="en-US" sz="1300" dirty="0">
                <a:solidFill>
                  <a:srgbClr val="5B6470"/>
                </a:solidFill>
                <a:latin typeface="Calibri" pitchFamily="34" charset="0"/>
                <a:ea typeface="Calibri" pitchFamily="34" charset="-122"/>
                <a:cs typeface="Calibri" pitchFamily="34" charset="-120"/>
              </a:rPr>
              <a:t>per-patient 6-month HbA1c change for three add-on drugs</a:t>
            </a:r>
            <a:endParaRPr lang="en-US" sz="1700" dirty="0"/>
          </a:p>
        </p:txBody>
      </p:sp>
      <p:sp>
        <p:nvSpPr>
          <p:cNvPr id="12" name="Shape 8"/>
          <p:cNvSpPr/>
          <p:nvPr/>
        </p:nvSpPr>
        <p:spPr>
          <a:xfrm>
            <a:off x="548640" y="2423160"/>
            <a:ext cx="8046720" cy="1005840"/>
          </a:xfrm>
          <a:prstGeom prst="roundRect">
            <a:avLst>
              <a:gd name="adj" fmla="val 7273"/>
            </a:avLst>
          </a:prstGeom>
          <a:solidFill>
            <a:srgbClr val="EEF2F8"/>
          </a:solidFill>
          <a:ln w="9525">
            <a:solidFill>
              <a:srgbClr val="C9D2E3"/>
            </a:solidFill>
            <a:prstDash val="solid"/>
          </a:ln>
        </p:spPr>
      </p:sp>
      <p:sp>
        <p:nvSpPr>
          <p:cNvPr id="13" name="Shape 9"/>
          <p:cNvSpPr/>
          <p:nvPr/>
        </p:nvSpPr>
        <p:spPr>
          <a:xfrm>
            <a:off x="731520" y="2642616"/>
            <a:ext cx="566928" cy="566928"/>
          </a:xfrm>
          <a:prstGeom prst="ellipse">
            <a:avLst/>
          </a:prstGeom>
          <a:solidFill>
            <a:srgbClr val="002060"/>
          </a:solidFill>
          <a:ln w="12700">
            <a:solidFill>
              <a:srgbClr val="002060"/>
            </a:solidFill>
            <a:prstDash val="solid"/>
          </a:ln>
        </p:spPr>
      </p:sp>
      <p:sp>
        <p:nvSpPr>
          <p:cNvPr id="14" name="Text 10"/>
          <p:cNvSpPr txBox="1"/>
          <p:nvPr/>
        </p:nvSpPr>
        <p:spPr>
          <a:xfrm>
            <a:off x="731520" y="264261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1"/>
          <p:cNvSpPr txBox="1"/>
          <p:nvPr/>
        </p:nvSpPr>
        <p:spPr>
          <a:xfrm>
            <a:off x="1463040" y="2423160"/>
            <a:ext cx="6949440" cy="10058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Safety before prediction</a:t>
            </a:r>
            <a:endParaRPr lang="en-US" sz="1700" dirty="0"/>
          </a:p>
          <a:p>
            <a:pPr indent="0" marL="0">
              <a:buNone/>
            </a:pPr>
            <a:r>
              <a:rPr lang="en-US" sz="1300" dirty="0">
                <a:solidFill>
                  <a:srgbClr val="5B6470"/>
                </a:solidFill>
                <a:latin typeface="Calibri" pitchFamily="34" charset="0"/>
                <a:ea typeface="Calibri" pitchFamily="34" charset="-122"/>
                <a:cs typeface="Calibri" pitchFamily="34" charset="-120"/>
              </a:rPr>
              <a:t>cited rules run first; no doses; excluded options never estimated</a:t>
            </a:r>
            <a:endParaRPr lang="en-US" sz="1700" dirty="0"/>
          </a:p>
        </p:txBody>
      </p:sp>
      <p:sp>
        <p:nvSpPr>
          <p:cNvPr id="16" name="Shape 12"/>
          <p:cNvSpPr/>
          <p:nvPr/>
        </p:nvSpPr>
        <p:spPr>
          <a:xfrm>
            <a:off x="548640" y="3611880"/>
            <a:ext cx="8046720" cy="1005840"/>
          </a:xfrm>
          <a:prstGeom prst="roundRect">
            <a:avLst>
              <a:gd name="adj" fmla="val 7273"/>
            </a:avLst>
          </a:prstGeom>
          <a:solidFill>
            <a:srgbClr val="EEF2F8"/>
          </a:solidFill>
          <a:ln w="9525">
            <a:solidFill>
              <a:srgbClr val="C9D2E3"/>
            </a:solidFill>
            <a:prstDash val="solid"/>
          </a:ln>
        </p:spPr>
      </p:sp>
      <p:sp>
        <p:nvSpPr>
          <p:cNvPr id="17" name="Shape 13"/>
          <p:cNvSpPr/>
          <p:nvPr/>
        </p:nvSpPr>
        <p:spPr>
          <a:xfrm>
            <a:off x="731520" y="3831336"/>
            <a:ext cx="566928" cy="566928"/>
          </a:xfrm>
          <a:prstGeom prst="ellipse">
            <a:avLst/>
          </a:prstGeom>
          <a:solidFill>
            <a:srgbClr val="002060"/>
          </a:solidFill>
          <a:ln w="12700">
            <a:solidFill>
              <a:srgbClr val="002060"/>
            </a:solidFill>
            <a:prstDash val="solid"/>
          </a:ln>
        </p:spPr>
      </p:sp>
      <p:sp>
        <p:nvSpPr>
          <p:cNvPr id="18" name="Text 14"/>
          <p:cNvSpPr txBox="1"/>
          <p:nvPr/>
        </p:nvSpPr>
        <p:spPr>
          <a:xfrm>
            <a:off x="731520" y="383133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5"/>
          <p:cNvSpPr txBox="1"/>
          <p:nvPr/>
        </p:nvSpPr>
        <p:spPr>
          <a:xfrm>
            <a:off x="1463040" y="3611880"/>
            <a:ext cx="6949440" cy="10058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Honest uncertainty</a:t>
            </a:r>
            <a:endParaRPr lang="en-US" sz="1700" dirty="0"/>
          </a:p>
          <a:p>
            <a:pPr indent="0" marL="0">
              <a:buNone/>
            </a:pPr>
            <a:r>
              <a:rPr lang="en-US" sz="1300" dirty="0">
                <a:solidFill>
                  <a:srgbClr val="5B6470"/>
                </a:solidFill>
                <a:latin typeface="Calibri" pitchFamily="34" charset="0"/>
                <a:ea typeface="Calibri" pitchFamily="34" charset="-122"/>
                <a:cs typeface="Calibri" pitchFamily="34" charset="-120"/>
              </a:rPr>
              <a:t>95% intervals; “insufficient evidence” instead of a guess</a:t>
            </a:r>
            <a:endParaRPr lang="en-US" sz="1700" dirty="0"/>
          </a:p>
        </p:txBody>
      </p:sp>
      <p:sp>
        <p:nvSpPr>
          <p:cNvPr id="20" name="Shape 16"/>
          <p:cNvSpPr/>
          <p:nvPr/>
        </p:nvSpPr>
        <p:spPr>
          <a:xfrm>
            <a:off x="548640" y="4800600"/>
            <a:ext cx="8046720" cy="1005840"/>
          </a:xfrm>
          <a:prstGeom prst="roundRect">
            <a:avLst>
              <a:gd name="adj" fmla="val 7273"/>
            </a:avLst>
          </a:prstGeom>
          <a:solidFill>
            <a:srgbClr val="EEF2F8"/>
          </a:solidFill>
          <a:ln w="9525">
            <a:solidFill>
              <a:srgbClr val="C9D2E3"/>
            </a:solidFill>
            <a:prstDash val="solid"/>
          </a:ln>
        </p:spPr>
      </p:sp>
      <p:sp>
        <p:nvSpPr>
          <p:cNvPr id="21" name="Shape 17"/>
          <p:cNvSpPr/>
          <p:nvPr/>
        </p:nvSpPr>
        <p:spPr>
          <a:xfrm>
            <a:off x="731520" y="5020056"/>
            <a:ext cx="566928" cy="566928"/>
          </a:xfrm>
          <a:prstGeom prst="ellipse">
            <a:avLst/>
          </a:prstGeom>
          <a:solidFill>
            <a:srgbClr val="002060"/>
          </a:solidFill>
          <a:ln w="12700">
            <a:solidFill>
              <a:srgbClr val="002060"/>
            </a:solidFill>
            <a:prstDash val="solid"/>
          </a:ln>
        </p:spPr>
      </p:sp>
      <p:sp>
        <p:nvSpPr>
          <p:cNvPr id="22" name="Text 18"/>
          <p:cNvSpPr txBox="1"/>
          <p:nvPr/>
        </p:nvSpPr>
        <p:spPr>
          <a:xfrm>
            <a:off x="731520" y="502005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19"/>
          <p:cNvSpPr txBox="1"/>
          <p:nvPr/>
        </p:nvSpPr>
        <p:spPr>
          <a:xfrm>
            <a:off x="1463040" y="4800600"/>
            <a:ext cx="6949440" cy="1005840"/>
          </a:xfrm>
          <a:prstGeom prst="rect">
            <a:avLst/>
          </a:prstGeom>
          <a:noFill/>
          <a:ln/>
        </p:spPr>
        <p:txBody>
          <a:bodyPr wrap="square" lIns="0" tIns="0" rIns="0" bIns="0" rtlCol="0" anchor="ctr"/>
          <a:lstStyle/>
          <a:p>
            <a:pPr indent="0" marL="0">
              <a:buNone/>
            </a:pPr>
            <a:r>
              <a:rPr lang="en-US" sz="1700" b="1" dirty="0">
                <a:solidFill>
                  <a:srgbClr val="1F2328"/>
                </a:solidFill>
                <a:latin typeface="Calibri" pitchFamily="34" charset="0"/>
                <a:ea typeface="Calibri" pitchFamily="34" charset="-122"/>
                <a:cs typeface="Calibri" pitchFamily="34" charset="-120"/>
              </a:rPr>
              <a:t>Working today</a:t>
            </a:r>
            <a:endParaRPr lang="en-US" sz="1700" dirty="0"/>
          </a:p>
          <a:p>
            <a:pPr indent="0" marL="0">
              <a:buNone/>
            </a:pPr>
            <a:r>
              <a:rPr lang="en-US" sz="1300" dirty="0">
                <a:solidFill>
                  <a:srgbClr val="5B6470"/>
                </a:solidFill>
                <a:latin typeface="Calibri" pitchFamily="34" charset="0"/>
                <a:ea typeface="Calibri" pitchFamily="34" charset="-122"/>
                <a:cs typeface="Calibri" pitchFamily="34" charset="-120"/>
              </a:rPr>
              <a:t>tested engine, live phone website, first cited evidence; the clinician decides</a:t>
            </a:r>
            <a:endParaRPr lang="en-US" sz="1700" dirty="0"/>
          </a:p>
        </p:txBody>
      </p:sp>
      <p:sp>
        <p:nvSpPr>
          <p:cNvPr id="24" name="Text 20"/>
          <p:cNvSpPr txBox="1"/>
          <p:nvPr/>
        </p:nvSpPr>
        <p:spPr>
          <a:xfrm>
            <a:off x="548640" y="5989320"/>
            <a:ext cx="8046720" cy="365760"/>
          </a:xfrm>
          <a:prstGeom prst="rect">
            <a:avLst/>
          </a:prstGeom>
          <a:noFill/>
          <a:ln/>
        </p:spPr>
        <p:txBody>
          <a:bodyPr wrap="square" lIns="0" tIns="0" rIns="0" bIns="0" rtlCol="0" anchor="ctr"/>
          <a:lstStyle/>
          <a:p>
            <a:pPr algn="ctr" indent="0" marL="0">
              <a:buNone/>
            </a:pPr>
            <a:r>
              <a:rPr lang="en-US" sz="1100" i="1" dirty="0">
                <a:solidFill>
                  <a:srgbClr val="5B6470"/>
                </a:solidFill>
                <a:latin typeface="Calibri" pitchFamily="34" charset="0"/>
                <a:ea typeface="Calibri" pitchFamily="34" charset="-122"/>
                <a:cs typeface="Calibri" pitchFamily="34" charset="-120"/>
              </a:rPr>
              <a:t>Research prototype for clinician evaluation; not a marketed medical device; not for unsupervised clinical use.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home/user/DiaCausal-CDSS/docs/midsem/fcritlogo.jpg">    </p:cNvPr>
          <p:cNvPicPr>
            <a:picLocks noChangeAspect="1"/>
          </p:cNvPicPr>
          <p:nvPr/>
        </p:nvPicPr>
        <p:blipFill>
          <a:blip r:embed="rId1"/>
          <a:stretch>
            <a:fillRect/>
          </a:stretch>
        </p:blipFill>
        <p:spPr>
          <a:xfrm>
            <a:off x="8229600" y="109728"/>
            <a:ext cx="713232" cy="722376"/>
          </a:xfrm>
          <a:prstGeom prst="rect">
            <a:avLst/>
          </a:prstGeom>
        </p:spPr>
      </p:pic>
      <p:sp>
        <p:nvSpPr>
          <p:cNvPr id="3" name="Text 0"/>
          <p:cNvSpPr txBox="1"/>
          <p:nvPr/>
        </p:nvSpPr>
        <p:spPr>
          <a:xfrm>
            <a:off x="731520" y="182880"/>
            <a:ext cx="7406640" cy="685800"/>
          </a:xfrm>
          <a:prstGeom prst="rect">
            <a:avLst/>
          </a:prstGeom>
          <a:noFill/>
          <a:ln/>
        </p:spPr>
        <p:txBody>
          <a:bodyPr wrap="square" lIns="0" tIns="0" rIns="0" bIns="0" rtlCol="0" anchor="ctr"/>
          <a:lstStyle/>
          <a:p>
            <a:pPr algn="ctr" indent="0" marL="0">
              <a:buNone/>
            </a:pPr>
            <a:r>
              <a:rPr lang="en-US" sz="2800" b="1" dirty="0">
                <a:solidFill>
                  <a:srgbClr val="002060"/>
                </a:solidFill>
                <a:latin typeface="Times New Roman" pitchFamily="34" charset="0"/>
                <a:ea typeface="Times New Roman" pitchFamily="34" charset="-122"/>
                <a:cs typeface="Times New Roman" pitchFamily="34" charset="-120"/>
              </a:rPr>
              <a:t>References</a:t>
            </a:r>
            <a:endParaRPr lang="en-US" sz="2800" dirty="0"/>
          </a:p>
        </p:txBody>
      </p:sp>
      <p:sp>
        <p:nvSpPr>
          <p:cNvPr id="4" name="Shape 1"/>
          <p:cNvSpPr/>
          <p:nvPr/>
        </p:nvSpPr>
        <p:spPr>
          <a:xfrm>
            <a:off x="365760" y="932688"/>
            <a:ext cx="8412480" cy="0"/>
          </a:xfrm>
          <a:prstGeom prst="line">
            <a:avLst/>
          </a:prstGeom>
          <a:noFill/>
          <a:ln w="15875">
            <a:solidFill>
              <a:srgbClr val="002060"/>
            </a:solidFill>
            <a:prstDash val="solid"/>
          </a:ln>
        </p:spPr>
      </p:sp>
      <p:sp>
        <p:nvSpPr>
          <p:cNvPr id="5" name="Text 2"/>
          <p:cNvSpPr txBox="1"/>
          <p:nvPr/>
        </p:nvSpPr>
        <p:spPr>
          <a:xfrm>
            <a:off x="365760" y="6492240"/>
            <a:ext cx="54864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Group 28 · DiaCausal · Advik</a:t>
            </a:r>
            <a:endParaRPr lang="en-US" sz="1000" dirty="0"/>
          </a:p>
        </p:txBody>
      </p:sp>
      <p:sp>
        <p:nvSpPr>
          <p:cNvPr id="6" name="Text 3"/>
          <p:cNvSpPr txBox="1"/>
          <p:nvPr/>
        </p:nvSpPr>
        <p:spPr>
          <a:xfrm>
            <a:off x="8138160" y="6492240"/>
            <a:ext cx="640080" cy="274320"/>
          </a:xfrm>
          <a:prstGeom prst="rect">
            <a:avLst/>
          </a:prstGeom>
          <a:noFill/>
          <a:ln/>
        </p:spPr>
        <p:txBody>
          <a:bodyPr wrap="square" lIns="0" tIns="0" rIns="0" bIns="0" rtlCol="0" anchor="ctr"/>
          <a:lstStyle/>
          <a:p>
            <a:pPr algn="r" indent="0" marL="0">
              <a:buNone/>
            </a:pPr>
            <a:r>
              <a:rPr lang="en-US" sz="1000" dirty="0">
                <a:solidFill>
                  <a:srgbClr val="5B6470"/>
                </a:solidFill>
                <a:latin typeface="Calibri" pitchFamily="34" charset="0"/>
                <a:ea typeface="Calibri" pitchFamily="34" charset="-122"/>
                <a:cs typeface="Calibri" pitchFamily="34" charset="-120"/>
              </a:rPr>
              <a:t>21</a:t>
            </a:r>
            <a:endParaRPr lang="en-US" sz="1000" dirty="0"/>
          </a:p>
        </p:txBody>
      </p:sp>
      <p:sp>
        <p:nvSpPr>
          <p:cNvPr id="8" name="Text 4"/>
          <p:cNvSpPr txBox="1"/>
          <p:nvPr/>
        </p:nvSpPr>
        <p:spPr>
          <a:xfrm>
            <a:off x="457200" y="1143000"/>
            <a:ext cx="8229600" cy="5212080"/>
          </a:xfrm>
          <a:prstGeom prst="rect">
            <a:avLst/>
          </a:prstGeom>
          <a:noFill/>
          <a:ln/>
        </p:spPr>
        <p:txBody>
          <a:bodyPr wrap="square" lIns="0" tIns="0" rIns="0" bIns="0" rtlCol="0" anchor="t"/>
          <a:lstStyle/>
          <a:p>
            <a:pPr indent="0" marL="0">
              <a:spcAft>
                <a:spcPts val="600"/>
              </a:spcAft>
              <a:buNone/>
            </a:pPr>
            <a:r>
              <a:rPr lang="en-US" sz="1200" dirty="0">
                <a:solidFill>
                  <a:srgbClr val="1F2328"/>
                </a:solidFill>
                <a:latin typeface="Calibri" pitchFamily="34" charset="0"/>
                <a:ea typeface="Calibri" pitchFamily="34" charset="-122"/>
                <a:cs typeface="Calibri" pitchFamily="34" charset="-120"/>
              </a:rPr>
              <a:t>[1] R. M. Anjana et al., “Metabolic non-communicable disease health report of India: ICMR-INDIAB-17,” Lancet Diabetes Endocrinol., vol. 11, no. 7, pp. 474–489, 2023.</a:t>
            </a:r>
            <a:endParaRPr lang="en-US" sz="1200" dirty="0"/>
          </a:p>
          <a:p>
            <a:pPr indent="0" marL="0">
              <a:spcAft>
                <a:spcPts val="600"/>
              </a:spcAft>
              <a:buNone/>
            </a:pPr>
            <a:r>
              <a:rPr lang="en-US" sz="1200" dirty="0">
                <a:solidFill>
                  <a:srgbClr val="1F2328"/>
                </a:solidFill>
                <a:latin typeface="Calibri" pitchFamily="34" charset="0"/>
                <a:ea typeface="Calibri" pitchFamily="34" charset="-122"/>
                <a:cs typeface="Calibri" pitchFamily="34" charset="-120"/>
              </a:rPr>
              <a:t>[2] B. M. Shields et al., “Patient stratification for determining optimal second-line and third-line therapy for type 2 diabetes: the TriMaster study,” Nature Medicine, vol. 29, pp. 376–383, 2023.</a:t>
            </a:r>
            <a:endParaRPr lang="en-US" sz="1200" dirty="0"/>
          </a:p>
          <a:p>
            <a:pPr indent="0" marL="0">
              <a:spcAft>
                <a:spcPts val="600"/>
              </a:spcAft>
              <a:buNone/>
            </a:pPr>
            <a:r>
              <a:rPr lang="en-US" sz="1200" dirty="0">
                <a:solidFill>
                  <a:srgbClr val="1F2328"/>
                </a:solidFill>
                <a:latin typeface="Calibri" pitchFamily="34" charset="0"/>
                <a:ea typeface="Calibri" pitchFamily="34" charset="-122"/>
                <a:cs typeface="Calibri" pitchFamily="34" charset="-120"/>
              </a:rPr>
              <a:t>[3] J. M. Dennis et al., “Development of a treatment selection algorithm for SGLT2 and DPP-4 inhibitor therapies,” Lancet Digit. Health, vol. 4, no. 12, pp. e873–e883, 2022.</a:t>
            </a:r>
            <a:endParaRPr lang="en-US" sz="1200" dirty="0"/>
          </a:p>
          <a:p>
            <a:pPr indent="0" marL="0">
              <a:spcAft>
                <a:spcPts val="600"/>
              </a:spcAft>
              <a:buNone/>
            </a:pPr>
            <a:r>
              <a:rPr lang="en-US" sz="1200" dirty="0">
                <a:solidFill>
                  <a:srgbClr val="1F2328"/>
                </a:solidFill>
                <a:latin typeface="Calibri" pitchFamily="34" charset="0"/>
                <a:ea typeface="Calibri" pitchFamily="34" charset="-122"/>
                <a:cs typeface="Calibri" pitchFamily="34" charset="-120"/>
              </a:rPr>
              <a:t>[4] A. Tsapas et al., “Comparative effectiveness of glucose-lowering drugs for type 2 diabetes,” Ann. Intern. Med., vol. 173, no. 4, pp. 278–286, 2020.</a:t>
            </a:r>
            <a:endParaRPr lang="en-US" sz="1200" dirty="0"/>
          </a:p>
          <a:p>
            <a:pPr indent="0" marL="0">
              <a:spcAft>
                <a:spcPts val="600"/>
              </a:spcAft>
              <a:buNone/>
            </a:pPr>
            <a:r>
              <a:rPr lang="en-US" sz="1200" dirty="0">
                <a:solidFill>
                  <a:srgbClr val="1F2328"/>
                </a:solidFill>
                <a:latin typeface="Calibri" pitchFamily="34" charset="0"/>
                <a:ea typeface="Calibri" pitchFamily="34" charset="-122"/>
                <a:cs typeface="Calibri" pitchFamily="34" charset="-120"/>
              </a:rPr>
              <a:t>[5] E. H. Kennedy, “Towards optimal doubly robust estimation of heterogeneous causal effects,” Electron. J. Stat., vol. 17, no. 2, pp. 3008–3049, 2023.</a:t>
            </a:r>
            <a:endParaRPr lang="en-US" sz="1200" dirty="0"/>
          </a:p>
          <a:p>
            <a:pPr indent="0" marL="0">
              <a:spcAft>
                <a:spcPts val="600"/>
              </a:spcAft>
              <a:buNone/>
            </a:pPr>
            <a:r>
              <a:rPr lang="en-US" sz="1200" dirty="0">
                <a:solidFill>
                  <a:srgbClr val="1F2328"/>
                </a:solidFill>
                <a:latin typeface="Calibri" pitchFamily="34" charset="0"/>
                <a:ea typeface="Calibri" pitchFamily="34" charset="-122"/>
                <a:cs typeface="Calibri" pitchFamily="34" charset="-120"/>
              </a:rPr>
              <a:t>[6] M. A. Hernán and J. M. Robins, Causal Inference: What If. Chapman &amp; Hall/CRC, 2020.</a:t>
            </a:r>
            <a:endParaRPr lang="en-US" sz="1200" dirty="0"/>
          </a:p>
          <a:p>
            <a:pPr indent="0" marL="0">
              <a:spcAft>
                <a:spcPts val="600"/>
              </a:spcAft>
              <a:buNone/>
            </a:pPr>
            <a:r>
              <a:rPr lang="en-US" sz="1200" dirty="0">
                <a:solidFill>
                  <a:srgbClr val="1F2328"/>
                </a:solidFill>
                <a:latin typeface="Calibri" pitchFamily="34" charset="0"/>
                <a:ea typeface="Calibri" pitchFamily="34" charset="-122"/>
                <a:cs typeface="Calibri" pitchFamily="34" charset="-120"/>
              </a:rPr>
              <a:t>[7] P. C. Austin, “Balance diagnostics for comparing the distribution of baseline covariates…,” Stat. Med., vol. 28, no. 25, pp. 3083–3107, 2009.</a:t>
            </a:r>
            <a:endParaRPr lang="en-US" sz="1200" dirty="0"/>
          </a:p>
          <a:p>
            <a:pPr indent="0" marL="0">
              <a:spcAft>
                <a:spcPts val="600"/>
              </a:spcAft>
              <a:buNone/>
            </a:pPr>
            <a:r>
              <a:rPr lang="en-US" sz="1200" dirty="0">
                <a:solidFill>
                  <a:srgbClr val="1F2328"/>
                </a:solidFill>
                <a:latin typeface="Calibri" pitchFamily="34" charset="0"/>
                <a:ea typeface="Calibri" pitchFamily="34" charset="-122"/>
                <a:cs typeface="Calibri" pitchFamily="34" charset="-120"/>
              </a:rPr>
              <a:t>[8] P. Lewis et al., “Retrieval-augmented generation for knowledge-intensive NLP tasks,” in Proc. NeurIPS 33, pp. 9459–9474, 2020.</a:t>
            </a:r>
            <a:endParaRPr lang="en-US" sz="1200" dirty="0"/>
          </a:p>
          <a:p>
            <a:pPr indent="0" marL="0">
              <a:spcAft>
                <a:spcPts val="600"/>
              </a:spcAft>
              <a:buNone/>
            </a:pPr>
            <a:r>
              <a:rPr lang="en-US" sz="1200" dirty="0">
                <a:solidFill>
                  <a:srgbClr val="1F2328"/>
                </a:solidFill>
                <a:latin typeface="Calibri" pitchFamily="34" charset="0"/>
                <a:ea typeface="Calibri" pitchFamily="34" charset="-122"/>
                <a:cs typeface="Calibri" pitchFamily="34" charset="-120"/>
              </a:rPr>
              <a:t>[9] A. Misra et al., “Consensus statement for diagnosis of obesity… for Asian Indians,” J. Assoc. Physicians India, vol. 57, pp. 163–170, 2009.</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2103120"/>
            <a:ext cx="7680960" cy="0"/>
          </a:xfrm>
          <a:prstGeom prst="line">
            <a:avLst/>
          </a:prstGeom>
          <a:noFill/>
          <a:ln w="31750">
            <a:solidFill>
              <a:srgbClr val="002060"/>
            </a:solidFill>
            <a:prstDash val="solid"/>
          </a:ln>
        </p:spPr>
      </p:sp>
      <p:sp>
        <p:nvSpPr>
          <p:cNvPr id="3" name="Shape 1"/>
          <p:cNvSpPr/>
          <p:nvPr/>
        </p:nvSpPr>
        <p:spPr>
          <a:xfrm>
            <a:off x="731520" y="4754880"/>
            <a:ext cx="7680960" cy="0"/>
          </a:xfrm>
          <a:prstGeom prst="line">
            <a:avLst/>
          </a:prstGeom>
          <a:noFill/>
          <a:ln w="31750">
            <a:solidFill>
              <a:srgbClr val="002060"/>
            </a:solidFill>
            <a:prstDash val="solid"/>
          </a:ln>
        </p:spPr>
      </p:sp>
      <p:sp>
        <p:nvSpPr>
          <p:cNvPr id="4" name="Shape 2"/>
          <p:cNvSpPr/>
          <p:nvPr/>
        </p:nvSpPr>
        <p:spPr>
          <a:xfrm>
            <a:off x="2011680" y="1097280"/>
            <a:ext cx="0" cy="4663440"/>
          </a:xfrm>
          <a:prstGeom prst="line">
            <a:avLst/>
          </a:prstGeom>
          <a:noFill/>
          <a:ln w="31750">
            <a:solidFill>
              <a:srgbClr val="002060"/>
            </a:solidFill>
            <a:prstDash val="solid"/>
          </a:ln>
        </p:spPr>
      </p:sp>
      <p:sp>
        <p:nvSpPr>
          <p:cNvPr id="5" name="Shape 3"/>
          <p:cNvSpPr/>
          <p:nvPr/>
        </p:nvSpPr>
        <p:spPr>
          <a:xfrm>
            <a:off x="7132320" y="1097280"/>
            <a:ext cx="0" cy="4663440"/>
          </a:xfrm>
          <a:prstGeom prst="line">
            <a:avLst/>
          </a:prstGeom>
          <a:noFill/>
          <a:ln w="31750">
            <a:solidFill>
              <a:srgbClr val="002060"/>
            </a:solidFill>
            <a:prstDash val="solid"/>
          </a:ln>
        </p:spPr>
      </p:sp>
      <p:sp>
        <p:nvSpPr>
          <p:cNvPr id="6" name="Text 4"/>
          <p:cNvSpPr txBox="1"/>
          <p:nvPr/>
        </p:nvSpPr>
        <p:spPr>
          <a:xfrm>
            <a:off x="2011680" y="2103120"/>
            <a:ext cx="5120640" cy="2651760"/>
          </a:xfrm>
          <a:prstGeom prst="rect">
            <a:avLst/>
          </a:prstGeom>
          <a:noFill/>
          <a:ln/>
        </p:spPr>
        <p:txBody>
          <a:bodyPr wrap="square" lIns="0" tIns="0" rIns="0" bIns="0" rtlCol="0" anchor="ctr"/>
          <a:lstStyle/>
          <a:p>
            <a:pPr algn="ctr" indent="0" marL="0">
              <a:buNone/>
            </a:pPr>
            <a:r>
              <a:rPr lang="en-US" sz="5400" b="1" dirty="0">
                <a:solidFill>
                  <a:srgbClr val="000000"/>
                </a:solidFill>
                <a:latin typeface="Times New Roman" pitchFamily="34" charset="0"/>
                <a:ea typeface="Times New Roman" pitchFamily="34" charset="-122"/>
                <a:cs typeface="Times New Roman" pitchFamily="34" charset="-120"/>
              </a:rPr>
              <a:t>Thank You!</a:t>
            </a:r>
            <a:endParaRPr lang="en-US" sz="5400" dirty="0"/>
          </a:p>
        </p:txBody>
      </p:sp>
      <p:sp>
        <p:nvSpPr>
          <p:cNvPr id="7" name="Text 5"/>
          <p:cNvSpPr txBox="1"/>
          <p:nvPr/>
        </p:nvSpPr>
        <p:spPr>
          <a:xfrm>
            <a:off x="731520" y="5852160"/>
            <a:ext cx="7680960" cy="457200"/>
          </a:xfrm>
          <a:prstGeom prst="rect">
            <a:avLst/>
          </a:prstGeom>
          <a:noFill/>
          <a:ln/>
        </p:spPr>
        <p:txBody>
          <a:bodyPr wrap="square" lIns="0" tIns="0" rIns="0" bIns="0" rtlCol="0" anchor="ctr"/>
          <a:lstStyle/>
          <a:p>
            <a:pPr algn="ctr" indent="0" marL="0">
              <a:buNone/>
            </a:pPr>
            <a:r>
              <a:rPr lang="en-US" sz="1600" dirty="0">
                <a:solidFill>
                  <a:srgbClr val="002060"/>
                </a:solidFill>
                <a:latin typeface="Calibri" pitchFamily="34" charset="0"/>
                <a:ea typeface="Calibri" pitchFamily="34" charset="-122"/>
                <a:cs typeface="Calibri" pitchFamily="34" charset="-120"/>
              </a:rPr>
              <a:t>Questions? · diacausal.netlify.app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DiaCausal — Major Project Progress Presentation-II</dc:title>
  <dc:subject>PptxGenJS Presentation</dc:subject>
  <dc:creator>Group 28, FCRIT Vashi</dc:creator>
  <cp:lastModifiedBy>Group 28, FCRIT Vashi</cp:lastModifiedBy>
  <cp:revision>1</cp:revision>
  <dcterms:created xsi:type="dcterms:W3CDTF">2026-09-26T10:34:35Z</dcterms:created>
  <dcterms:modified xsi:type="dcterms:W3CDTF">2026-09-26T10:34:35Z</dcterms:modified>
</cp:coreProperties>
</file>