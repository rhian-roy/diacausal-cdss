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0" r:id="rId31"/>
    <p:sldId id="281" r:id="rId32"/>
    <p:sldId id="282" r:id="rId33"/>
    <p:sldId id="271" r:id="rId17"/>
    <p:sldId id="272" r:id="rId18"/>
    <p:sldId id="283" r:id="rId34"/>
    <p:sldId id="284" r:id="rId35"/>
    <p:sldId id="273" r:id="rId19"/>
    <p:sldId id="274" r:id="rId20"/>
    <p:sldId id="285" r:id="rId36"/>
    <p:sldId id="275" r:id="rId21"/>
    <p:sldId id="276" r:id="rId22"/>
    <p:sldId id="286" r:id="rId37"/>
    <p:sldId id="277" r:id="rId23"/>
    <p:sldId id="278" r:id="rId24"/>
    <p:sldId id="279" r:id="rId25"/>
    <p:sldId id="287" r:id="rId38"/>
    <p:sldId id="288" r:id="rId39"/>
    <p:sldId id="289" r:id="rId40"/>
    <p:sldId id="290" r:id="rId41"/>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Pratham. Good morning. We are Group 28 from the Computer Engineering Department. This is our Major Project Progress Presentation-II for Semester VII. Our project is an Intelligent Diabetes Clinical Decision Support System. It helps a doctor choose the second medicine for an adult with type 2 diabetes who already takes metformin.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Pratham. We are Pratham Pawar, Graceton Santhmayor, Rhian Roy Kuttikadan and Advik Saxena, and our guide is Mr. Rahul Jadhav. Each of us will present one part of today’s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Pratham. We begin with the problem statement. Then the proposed system with our block diagram and flowchart, the requirements, timeline and system design. Next, the datasets: the synthetic cohort we train and grade on, and the real Indian data we check it against. Then what is implemented, with screens, our results for the causal engine and the evidence search, a short demo, work completed versus planned with our progress, and the conclusion.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Rhian. When metformin alone does not control blood sugar, the doctor adds a second medicine: an SGLT2 inhibitor, a DPP-4 inhibitor or a sulfonylurea. Which one will help this particular patient most? Old records mislead, because sicker patients were given different drugs. In this made-up example the naive difference is minus 0.425, but comparing like with like gives minus 0.15, about three times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Rhian. Every request follows the same order. We take the patient’s details. Safety rules from cited drug labels remove unsafe options. A propensity model checks whether enough similar patients received each drug. If so, we estimate the six-month HbA1c change, the weight change and the low-sugar risk, each with a 95 percent range; if not, we say insufficient evidence. Then cost, then cited evidence from our RAG search, which is built and runs on the website; in October it joins the chat app. The doctor decides, and every request is logged.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Rhian. This block diagram shows the whole system. A user question goes to two pipelines at the same time, with no query router. The RAG pipeline searches documents such as guidelines and research papers, and returns the top evidence chunks. The causal pipeline uses its own dataset and returns structured causal estimates, or NOT_APPLICABLE. Both meet in the evidence fusion layer, which feeds the diabetes-focused LLM and the safety and validation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Rhian. The flowchart shows each stage in order. In the RAG pipeline: document ingestion, chunking, vector storage, hybrid retrieval with dense search and BM25, then reciprocal rank fusion and a cross-encoder reranker. In the causal pipeline: dataset ingestion, the DAG, model selection and estimation, and counterfactual analysis. Evidence integration resolves conflicts, the prompt builder and LLM write the answer, and the safety layer checks accuracy and adds a disclaimer.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Advik. These six rules are never broken, and automated tests check them. The doctor always decides; the system only supports the decision. Safety rules run before any estimate, so an unsafe drug never gets a number. Doses and thresholds come only from cited tables, never from AI. When evidence is thin we refuse to guess. Every estimate carries a 95 percent range, and every request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Advik. Everything runs on an ordinary laptop with at least 8 GB of RAM; we use a MacBook Air. Development uses Python 3.12 with NumPy, pandas, scikit-learn, Matplotlib and pytest, plus Git, GitHub and Claude Code. The demo runs offline on the same laptop, or on our website, diacausal.netlify.app, which has accounts with an authenticator app. The RAG part is built: PDF text extraction, a hybrid BM25 and TF-IDF search, and quoted explanations; Gemini online or Ollama offline can rewrite them, always checked for citations.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Advik. Functional requirements say what the system does, and all of them are now built: patient input with unit checks, cited safety rules, estimates with ranges or insufficient evidence, hypoglycaemia risk and weight change, cost lookup, the audit log, the REST API, evidence with citations and the website with accounts. Prices stay unavailable until confirmed. Non-functional requirements say how well: fast replies, full logging, test coverage, fixed seeds, the intended-use statement and accessibility.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Advik. Navy bars are done, the blue bar is in progress and grey bars are planned. The dashed line marks today, 30 September. Topic, literature, dataset research and the dataset decision are complete. The causal engine, the core of the RAG evidence search and this mid-sem review are finishing now. October covers a medical embedding model and reranker for RAG, frozen results with a doctor’s review, joining everything in the chat app, the paper and the final report. Exams follow in November, and final submission is in December.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Graceton. This is the layered architecture. The clinician uses the website, the Streamlit demo or the chat app, which call our FastAPI service. The API sends each request to the safety rules engine first, then to the causal engine for the propensity and overlap check, AIPW and the DR-learner, and then to cost lookup. The RAG layer is built and reads only licence-cleared documents, today WHO 2018 and seven FDA safety notices; it runs on the website now and joins the API in October. Every request is written to the audit log.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Graceton. Level 0 shows the context: the clinician sends patient details and receives options with 95 percent ranges and sources. Guideline documents feed passages, and every request is recorded in the audit store. Level 1 opens the box into six processes: validate the input, apply safety rules, run the causal engine, look up cost, add the RAG explanation, then log and display. Each process reads its own data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Graceton. Three actors use the system. The clinician enters a patient, views the comparison and evidence, and exports a summary. The evaluator reviews logs and runs the benchmark. The administrator manages rules and sources. The sequence shows one consultation: the API checks the safety rules first, sends only allowed options to the causal engine, asks RAG for evidence, logs the request and returns the result. The doctor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Graceton. The safety rules live in a table, rules.csv: ten rules, each with a source, a section and a status. Unverified cut-offs are flagged for the doctor to confirm. Prices live in prices.csv and stay unavailable until confirmed with a date and source. The API takes the patient’s details and returns each option’s estimate with its 95 percent range, or insufficient evidence, with exclusions, versions and a request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Rhian. Much more than 25 percent is built and tested. The synthetic patient generator, safety rules, propensity and overlap check, all estimators, the DR-learner, the metrics, the new weight and low-sugar outcomes and the benchmark are done. The Streamlit demo, the website with accounts and the API work. 150 engine tests, 33 RAG tests and 19 website tests pass, plus 630 in the chat app. The RAG pipeline is built: WHO 2018 and seven FDA safety notices, hybrid search, and answers that only quote cited sentences.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Rhian. Two short pieces of our real code. The AIPW score starts with the outcome model’s guess, then corrects it using patients who really got that drug, weighted by one over the propensity. If either model is right, the average is right, which is why it is called doubly robust. The DR-learner regresses these scores on patient details, and a robust standard error gives each patient’s 95 percent interval.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Rhian. On synthetic data we know the true answer. The naive comparison overstates the SGLT2 inhibitor’s benefit over the DPP-4 inhibitor, with a bias of minus 0.159. AIPW cuts the bias to 0.002. Its 95 percent intervals contain the truth 90 to 95 percent of the time, and the DR-learner’s per-patient intervals 92.7 to 94.7 percent. All nine refutation checks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Pratham. Top: overlap. The dashed line at 0.05 is where the system refuses to estimate, because too few similar patients got that drug. Top right: balance. After weighting, every patient detail sits below the 0.1 line, so the three drug groups look alike. Bottom: each dot is a fresh test patient, and the estimates lie close to the diagonal, so per-patient effects are recovered.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Graceton, with Rhian driving the laptop. Preset one, a typical patient, gets three estimates with ranges. Preset two has eGFR 40 and past pancreatitis: the SGLT2 inhibitor is excluded in red with its source, and the DPP-4 inhibitor shows an amber caution. Preset three, an older patient with past hypoglycaemia, shows insufficient evidence in grey for the sulfonylurea. Then we switch to the live app; the recorded video is our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Advik. Completed: the problem and research work; the synthetic cohort, now checked against real Indian data; the cited safety rules and all the causal estimators; the weight and low-sugar outcomes with the benchmark and its checks; the RAG evidence search with cited answers and a 60-question test; and the website and chat app. Planned for October: a better search model, frozen results with a doctor’s review, joining the engine and RAG in the chat app, the paper and report, a usability study, and the real-data step with ethics approval.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Pratham. To conclude: the causal engine works on India-calibrated synthetic data and recovers the planted truth, and the evidence search answers only with quoted, cited sentences. Safety rules always run before any estimate. We are honest about uncertainty, with 95 percent ranges, and we refuse to guess when evidence is thin. Next: joining everything in one chat app, a review by a doctor, and our IEEE paper.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Advik. These are our key references in IEEE style. TriMaster and the Dennis algorithm show that the best second-line drug differs between patients, and Gudemann and colleagues validated that algorithm across UK ethnic groups. ICMR-INDIAB gives the Indian context. Kennedy’s paper is the basis of our DR-learner, Lewis and colleagues introduced retrieval-augmented generation, and the TARGET statement guides how we report studies that emulate a trial. We add NMB-2017, the real Indian survey we use as a realism check, and the WHO 2018 guideline, the main source in our evidence search.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Thank you for listening. We are happy to take your questions, and we can show the live demo again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Graceton. These are all the data DiaCausal uses. The causal engine is trained and graded on a synthetic, India-calibrated cohort, because only there do we know the true effect of each drug. The safety rules and the evidence sources are real documents: drug labels, KDIGO, WHO 2018 and seven FDA safety notices. Every number that makes the synthetic patients has a source and a status. And a real Indian survey, NMB-2017, checks that our synthetic patients look like real Indian patients.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Graceton. The generator works in five steps. It draws realistic Indian adults on metformin whose HbA1c is still 7 percent or more. It gives each one a drug the way doctors tend to, which builds in the same bias real records have. It works out what would have happened under all three drugs, using directions from published studies, then keeps only the drug each patient got. The picture shows the first eight patients: only these columns reach the estimators, the same columns a hospital record would have.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Graceton. For real Indian data we use NMB-2017, a nationwide survey of 7,496 adults with HbA1c, free to use. It has no drug choice and no follow-up HbA1c, so it cannot train a causal engine; no public Indian dataset has that. We use it to check realism: our synthetic patients match real Indian adults with diabetes on age, BMI and sex. Our HbA1c is a little lower and narrower than the real data, which we will fix and cite.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Advik. The website, diacausal.netlify.app, runs the same engine in the browser and works offline. Try it shows the three options with their 95 percent ranges, plus weight change and low-sugar risk. Safety rules exclude or caution options, always with the source. The Evidence tab answers only with quoted, cited sentences, and refuses dose questions. Results shows the benchmark. Sign-in needs an approved account and an authenticator app.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Advik. The chat app is FastAPI with React. Sign-in uses a password, a CAPTCHA with an audio option, and an authenticator app. The patient panel sends values alongside the question; the reply lists the six pipeline stages, and today three of them run. Guards remove identifiers such as phone numbers before anything is sent, and refuse out-of-scope questions such as pregnancy. The causal engine and RAG join these stages in October.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Rhian. We test the evidence search on 60 questions. The right source is in the top five for 93 percent of answerable questions. Every quoted sentence cites a passage that really contains it, and all five dose questions are refused: no dose ever leaks. It correctly says insufficient evidence for 80 percent of out-of-scope questions; our target is 90, so this is what the medical embedding model in October must improve.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Pratham. The mid-sem asked for about 25 percent. By our weighted estimate we are at about 64 percent of the whole project. Each part is weighted by its share of the year, and each percentage points to tests or files. Every core part works and is tested on its own. What is left: joining them in the chat app, the doctor’s review and usability study, a better search model, the real-data step and the paper.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questions. Shaded columns are the hidden answers each patient would have had on each drug. Because we know them, we can grade every method. This proves the method recovers a known effect under realistic bias; it does not prove how much each drug lowers HbA1c in Indian patients.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questions. These are the real Indian datasets. None records the add-on drug together with HbA1c months later, which a causal engine needs. NMB-2017 is open, so it is in our repository as a realism check; LASI is the next step for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questions: how it could be used in a real hospital. Real records with ethics approval replace the synthetic cohort with no code change; we check them with the overlap rule, refutation tests and agreement with trials; then a silent pilot. Use in routine care would need a medical-device review.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website and the chat app on a phone.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jpe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e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slideLayout" Target="../slideLayouts/slideLayout1.xml"/><Relationship Id="rId1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image" Target="../media/image-13-16.png"/><Relationship Id="rId17" Type="http://schemas.openxmlformats.org/officeDocument/2006/relationships/image" Target="../media/image-13-17.png"/><Relationship Id="rId18" Type="http://schemas.openxmlformats.org/officeDocument/2006/relationships/image" Target="../media/image-13-18.png"/><Relationship Id="rId19" Type="http://schemas.openxmlformats.org/officeDocument/2006/relationships/image" Target="../media/image-13-19.png"/><Relationship Id="rId20" Type="http://schemas.openxmlformats.org/officeDocument/2006/relationships/slideLayout" Target="../slideLayouts/slideLayout1.xml"/><Relationship Id="rId2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image" Target="../media/image-14-21.png"/><Relationship Id="rId22" Type="http://schemas.openxmlformats.org/officeDocument/2006/relationships/image" Target="../media/image-14-22.png"/><Relationship Id="rId23" Type="http://schemas.openxmlformats.org/officeDocument/2006/relationships/image" Target="../media/image-14-23.png"/><Relationship Id="rId24" Type="http://schemas.openxmlformats.org/officeDocument/2006/relationships/image" Target="../media/image-14-24.png"/><Relationship Id="rId25" Type="http://schemas.openxmlformats.org/officeDocument/2006/relationships/image" Target="../media/image-14-25.png"/><Relationship Id="rId26" Type="http://schemas.openxmlformats.org/officeDocument/2006/relationships/image" Target="../media/image-14-26.png"/><Relationship Id="rId27" Type="http://schemas.openxmlformats.org/officeDocument/2006/relationships/image" Target="../media/image-14-27.png"/><Relationship Id="rId28" Type="http://schemas.openxmlformats.org/officeDocument/2006/relationships/image" Target="../media/image-14-28.png"/><Relationship Id="rId29" Type="http://schemas.openxmlformats.org/officeDocument/2006/relationships/image" Target="../media/image-14-29.png"/><Relationship Id="rId30" Type="http://schemas.openxmlformats.org/officeDocument/2006/relationships/image" Target="../media/image-14-30.png"/><Relationship Id="rId31" Type="http://schemas.openxmlformats.org/officeDocument/2006/relationships/image" Target="../media/image-14-31.png"/><Relationship Id="rId32" Type="http://schemas.openxmlformats.org/officeDocument/2006/relationships/image" Target="../media/image-14-32.png"/><Relationship Id="rId33" Type="http://schemas.openxmlformats.org/officeDocument/2006/relationships/image" Target="../media/image-14-33.png"/><Relationship Id="rId34" Type="http://schemas.openxmlformats.org/officeDocument/2006/relationships/image" Target="../media/image-14-34.png"/><Relationship Id="rId35" Type="http://schemas.openxmlformats.org/officeDocument/2006/relationships/image" Target="../media/image-14-35.png"/><Relationship Id="rId36" Type="http://schemas.openxmlformats.org/officeDocument/2006/relationships/image" Target="../media/image-14-36.png"/><Relationship Id="rId37" Type="http://schemas.openxmlformats.org/officeDocument/2006/relationships/image" Target="../media/image-14-37.png"/><Relationship Id="rId38" Type="http://schemas.openxmlformats.org/officeDocument/2006/relationships/image" Target="../media/image-14-38.png"/><Relationship Id="rId39" Type="http://schemas.openxmlformats.org/officeDocument/2006/relationships/slideLayout" Target="../slideLayouts/slideLayout1.xml"/><Relationship Id="rId4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1-1.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1-1.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1-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1-1.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ollege logo">    </p:cNvPr>
          <p:cNvPicPr>
            <a:picLocks noChangeAspect="1"/>
          </p:cNvPicPr>
          <p:nvPr/>
        </p:nvPicPr>
        <p:blipFill>
          <a:blip r:embed="rId1"/>
          <a:srcRect l="-59" r="-59" t="0" b="0"/>
          <a:stretch/>
        </p:blipFill>
        <p:spPr>
          <a:xfrm>
            <a:off x="1498575" y="254000"/>
            <a:ext cx="1295383" cy="1244575"/>
          </a:xfrm>
          <a:prstGeom prst="rect">
            <a:avLst/>
          </a:prstGeom>
        </p:spPr>
      </p:pic>
      <p:sp>
        <p:nvSpPr>
          <p:cNvPr id="3" name="Text 0"/>
          <p:cNvSpPr/>
          <p:nvPr/>
        </p:nvSpPr>
        <p:spPr>
          <a:xfrm>
            <a:off x="2867343" y="313697"/>
            <a:ext cx="8044815" cy="284444"/>
          </a:xfrm>
          <a:prstGeom prst="rect">
            <a:avLst/>
          </a:prstGeom>
          <a:noFill/>
          <a:ln/>
        </p:spPr>
        <p:txBody>
          <a:bodyPr wrap="square" lIns="0" tIns="0" rIns="0" bIns="0" rtlCol="0" anchor="t">
            <a:normAutofit/>
          </a:bodyPr>
          <a:lstStyle/>
          <a:p>
            <a:pPr algn="ctr" indent="0" marL="0">
              <a:lnSpc>
                <a:spcPts val="2040"/>
              </a:lnSpc>
              <a:buNone/>
            </a:pPr>
            <a:r>
              <a:rPr lang="en-US" sz="1700" i="1" dirty="0">
                <a:solidFill>
                  <a:srgbClr val="000000"/>
                </a:solidFill>
                <a:latin typeface="Times New Roman" pitchFamily="34" charset="0"/>
                <a:ea typeface="Times New Roman" pitchFamily="34" charset="-122"/>
                <a:cs typeface="Times New Roman" pitchFamily="34" charset="-120"/>
              </a:rPr>
              <a:t>Agnel Charities’</a:t>
            </a:r>
            <a:endParaRPr lang="en-US" sz="1700" dirty="0"/>
          </a:p>
        </p:txBody>
      </p:sp>
      <p:sp>
        <p:nvSpPr>
          <p:cNvPr id="4" name="Text 1"/>
          <p:cNvSpPr/>
          <p:nvPr/>
        </p:nvSpPr>
        <p:spPr>
          <a:xfrm>
            <a:off x="2867343" y="585432"/>
            <a:ext cx="8044815" cy="391145"/>
          </a:xfrm>
          <a:prstGeom prst="rect">
            <a:avLst/>
          </a:prstGeom>
          <a:noFill/>
          <a:ln/>
        </p:spPr>
        <p:txBody>
          <a:bodyPr wrap="square" lIns="0" tIns="0" rIns="0" bIns="0" rtlCol="0" anchor="t">
            <a:normAutofit/>
          </a:bodyPr>
          <a:lstStyle/>
          <a:p>
            <a:pPr algn="ctr" indent="0" marL="0">
              <a:lnSpc>
                <a:spcPts val="2880"/>
              </a:lnSpc>
              <a:buNone/>
            </a:pPr>
            <a:r>
              <a:rPr lang="en-US" sz="2400" b="1" dirty="0">
                <a:solidFill>
                  <a:srgbClr val="000000"/>
                </a:solidFill>
                <a:latin typeface="Times New Roman" pitchFamily="34" charset="0"/>
                <a:ea typeface="Times New Roman" pitchFamily="34" charset="-122"/>
                <a:cs typeface="Times New Roman" pitchFamily="34" charset="-120"/>
              </a:rPr>
              <a:t>Fr. C. Rodrigues Institute of Technology, Vashi</a:t>
            </a:r>
            <a:endParaRPr lang="en-US" sz="2400" dirty="0"/>
          </a:p>
        </p:txBody>
      </p:sp>
      <p:sp>
        <p:nvSpPr>
          <p:cNvPr id="5" name="Text 2"/>
          <p:cNvSpPr/>
          <p:nvPr/>
        </p:nvSpPr>
        <p:spPr>
          <a:xfrm>
            <a:off x="2867343" y="963869"/>
            <a:ext cx="8044815" cy="238762"/>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FF0000"/>
                </a:solidFill>
                <a:latin typeface="Times New Roman" pitchFamily="34" charset="0"/>
                <a:ea typeface="Times New Roman" pitchFamily="34" charset="-122"/>
                <a:cs typeface="Times New Roman" pitchFamily="34" charset="-120"/>
              </a:rPr>
              <a:t>(An Autonomous Institute &amp; Permanently Affiliated to University of Mumbai)</a:t>
            </a:r>
            <a:endParaRPr lang="en-US" sz="1400" dirty="0"/>
          </a:p>
        </p:txBody>
      </p:sp>
      <p:sp>
        <p:nvSpPr>
          <p:cNvPr id="6" name="Text 3"/>
          <p:cNvSpPr/>
          <p:nvPr/>
        </p:nvSpPr>
        <p:spPr>
          <a:xfrm>
            <a:off x="2867343" y="1189922"/>
            <a:ext cx="8044815" cy="299740"/>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000000"/>
                </a:solidFill>
                <a:latin typeface="Times New Roman" pitchFamily="34" charset="0"/>
                <a:ea typeface="Times New Roman" pitchFamily="34" charset="-122"/>
                <a:cs typeface="Times New Roman" pitchFamily="34" charset="-120"/>
              </a:rPr>
              <a:t>Computer Engineering Department</a:t>
            </a:r>
            <a:endParaRPr lang="en-US" sz="1800" dirty="0"/>
          </a:p>
        </p:txBody>
      </p:sp>
      <p:sp>
        <p:nvSpPr>
          <p:cNvPr id="7" name="Shape 4"/>
          <p:cNvSpPr/>
          <p:nvPr/>
        </p:nvSpPr>
        <p:spPr>
          <a:xfrm>
            <a:off x="1657350" y="2416621"/>
            <a:ext cx="8877300" cy="1701800"/>
          </a:xfrm>
          <a:prstGeom prst="rect">
            <a:avLst/>
          </a:prstGeom>
          <a:solidFill>
            <a:srgbClr val="002060"/>
          </a:solidFill>
          <a:ln w="12700">
            <a:solidFill>
              <a:srgbClr val="C0504D"/>
            </a:solidFill>
            <a:prstDash val="solid"/>
          </a:ln>
          <a:effectLst>
            <a:outerShdw sx="100000" sy="100000" kx="0" ky="0" algn="bl" rotWithShape="0" blurRad="76200" dist="53882" dir="2700000">
              <a:srgbClr val="000000">
                <a:alpha val="35000"/>
              </a:srgbClr>
            </a:outerShdw>
          </a:effectLst>
        </p:spPr>
      </p:sp>
      <p:sp>
        <p:nvSpPr>
          <p:cNvPr id="8" name="Text 5"/>
          <p:cNvSpPr/>
          <p:nvPr/>
        </p:nvSpPr>
        <p:spPr>
          <a:xfrm>
            <a:off x="2668455" y="2776678"/>
            <a:ext cx="6855048" cy="521948"/>
          </a:xfrm>
          <a:prstGeom prst="rect">
            <a:avLst/>
          </a:prstGeom>
          <a:noFill/>
          <a:ln/>
        </p:spPr>
        <p:txBody>
          <a:bodyPr wrap="square" lIns="0" tIns="0" rIns="0" bIns="0" rtlCol="0" anchor="t">
            <a:normAutofit/>
          </a:bodyPr>
          <a:lstStyle/>
          <a:p>
            <a:pPr algn="ctr" indent="0" marL="0">
              <a:lnSpc>
                <a:spcPts val="3910"/>
              </a:lnSpc>
              <a:buNone/>
            </a:pPr>
            <a:r>
              <a:rPr lang="en-US" sz="3400" dirty="0">
                <a:solidFill>
                  <a:srgbClr val="FFFFFF"/>
                </a:solidFill>
                <a:latin typeface="Times New Roman" pitchFamily="34" charset="0"/>
                <a:ea typeface="Times New Roman" pitchFamily="34" charset="-122"/>
                <a:cs typeface="Times New Roman" pitchFamily="34" charset="-120"/>
              </a:rPr>
              <a:t>Major Project Progress Presentation-II</a:t>
            </a:r>
            <a:endParaRPr lang="en-US" sz="3400" dirty="0"/>
          </a:p>
        </p:txBody>
      </p:sp>
      <p:sp>
        <p:nvSpPr>
          <p:cNvPr id="9" name="Text 6"/>
          <p:cNvSpPr/>
          <p:nvPr/>
        </p:nvSpPr>
        <p:spPr>
          <a:xfrm>
            <a:off x="2892731" y="3349418"/>
            <a:ext cx="6406496" cy="434347"/>
          </a:xfrm>
          <a:prstGeom prst="rect">
            <a:avLst/>
          </a:prstGeom>
          <a:noFill/>
          <a:ln/>
        </p:spPr>
        <p:txBody>
          <a:bodyPr wrap="square" lIns="0" tIns="0" rIns="0" bIns="0" rtlCol="0" anchor="t">
            <a:normAutofit/>
          </a:bodyPr>
          <a:lstStyle/>
          <a:p>
            <a:pPr algn="ctr" indent="0" marL="0">
              <a:lnSpc>
                <a:spcPts val="3220"/>
              </a:lnSpc>
              <a:buNone/>
            </a:pPr>
            <a:r>
              <a:rPr lang="en-US" sz="2800" dirty="0">
                <a:solidFill>
                  <a:srgbClr val="FFFFFF"/>
                </a:solidFill>
                <a:latin typeface="Times New Roman" pitchFamily="34" charset="0"/>
                <a:ea typeface="Times New Roman" pitchFamily="34" charset="-122"/>
                <a:cs typeface="Times New Roman" pitchFamily="34" charset="-120"/>
              </a:rPr>
              <a:t>B.Tech in Computer Engineering Sem - VII</a:t>
            </a:r>
            <a:endParaRPr lang="en-US" sz="2800" dirty="0"/>
          </a:p>
        </p:txBody>
      </p:sp>
      <p:sp>
        <p:nvSpPr>
          <p:cNvPr id="10" name="Text 7"/>
          <p:cNvSpPr/>
          <p:nvPr/>
        </p:nvSpPr>
        <p:spPr>
          <a:xfrm>
            <a:off x="4133850" y="4826000"/>
            <a:ext cx="3924300" cy="634975"/>
          </a:xfrm>
          <a:prstGeom prst="rect">
            <a:avLst/>
          </a:prstGeom>
          <a:noFill/>
          <a:ln/>
        </p:spPr>
        <p:txBody>
          <a:bodyPr wrap="square" lIns="0" tIns="0" rIns="0" bIns="0" rtlCol="0" anchor="t">
            <a:normAutofit/>
          </a:bodyPr>
          <a:lstStyle/>
          <a:p>
            <a:pPr algn="ctr" indent="0" marL="0">
              <a:lnSpc>
                <a:spcPts val="4800"/>
              </a:lnSpc>
              <a:buNone/>
            </a:pPr>
            <a:r>
              <a:rPr lang="en-US" sz="4000" b="1" dirty="0">
                <a:solidFill>
                  <a:srgbClr val="595959"/>
                </a:solidFill>
                <a:latin typeface="Times New Roman" pitchFamily="34" charset="0"/>
                <a:ea typeface="Times New Roman" pitchFamily="34" charset="-122"/>
                <a:cs typeface="Times New Roman" pitchFamily="34" charset="-120"/>
              </a:rPr>
              <a:t>2026-27</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08000"/>
            <a:ext cx="9906000" cy="1587500"/>
          </a:xfrm>
          <a:prstGeom prst="rect">
            <a:avLst/>
          </a:prstGeom>
          <a:solidFill>
            <a:srgbClr val="002060"/>
          </a:solidFill>
          <a:ln/>
        </p:spPr>
      </p:sp>
      <p:sp>
        <p:nvSpPr>
          <p:cNvPr id="3" name="Text 1"/>
          <p:cNvSpPr/>
          <p:nvPr/>
        </p:nvSpPr>
        <p:spPr>
          <a:xfrm>
            <a:off x="2298349" y="776015"/>
            <a:ext cx="5309302" cy="1076871"/>
          </a:xfrm>
          <a:prstGeom prst="rect">
            <a:avLst/>
          </a:prstGeom>
          <a:noFill/>
          <a:ln/>
        </p:spPr>
        <p:txBody>
          <a:bodyPr wrap="square" lIns="0" tIns="0" rIns="0" bIns="0" rtlCol="0" anchor="t">
            <a:normAutofit/>
          </a:bodyPr>
          <a:lstStyle/>
          <a:p>
            <a:pPr algn="ctr" indent="0" marL="0">
              <a:lnSpc>
                <a:spcPts val="4140"/>
              </a:lnSpc>
              <a:buNone/>
            </a:pPr>
            <a:r>
              <a:rPr lang="en-US" sz="3600" dirty="0">
                <a:solidFill>
                  <a:srgbClr val="FFFFFF"/>
                </a:solidFill>
                <a:latin typeface="Times New Roman" pitchFamily="34" charset="0"/>
                <a:ea typeface="Times New Roman" pitchFamily="34" charset="-122"/>
                <a:cs typeface="Times New Roman" pitchFamily="34" charset="-120"/>
              </a:rPr>
              <a:t>Intelligent Diabetes Clinical</a:t>
            </a:r>
            <a:endParaRPr lang="en-US" sz="3600" dirty="0"/>
          </a:p>
          <a:p>
            <a:pPr algn="ctr" indent="0" marL="0">
              <a:lnSpc>
                <a:spcPts val="4140"/>
              </a:lnSpc>
              <a:buNone/>
            </a:pPr>
            <a:r>
              <a:rPr lang="en-US" sz="3600" dirty="0">
                <a:solidFill>
                  <a:srgbClr val="FFFFFF"/>
                </a:solidFill>
                <a:latin typeface="Times New Roman" pitchFamily="34" charset="0"/>
                <a:ea typeface="Times New Roman" pitchFamily="34" charset="-122"/>
                <a:cs typeface="Times New Roman" pitchFamily="34" charset="-120"/>
              </a:rPr>
              <a:t>Decision Support System</a:t>
            </a:r>
            <a:endParaRPr lang="en-US" sz="3600" dirty="0"/>
          </a:p>
        </p:txBody>
      </p:sp>
      <p:pic>
        <p:nvPicPr>
          <p:cNvPr id="4" name="Image 0" descr="College logo">    </p:cNvPr>
          <p:cNvPicPr>
            <a:picLocks noChangeAspect="1"/>
          </p:cNvPicPr>
          <p:nvPr/>
        </p:nvPicPr>
        <p:blipFill>
          <a:blip r:embed="rId1"/>
          <a:srcRect l="-55" r="-55" t="0" b="0"/>
          <a:stretch/>
        </p:blipFill>
        <p:spPr>
          <a:xfrm>
            <a:off x="10350500" y="584191"/>
            <a:ext cx="1460500" cy="1403325"/>
          </a:xfrm>
          <a:prstGeom prst="rect">
            <a:avLst/>
          </a:prstGeom>
        </p:spPr>
      </p:pic>
      <p:sp>
        <p:nvSpPr>
          <p:cNvPr id="5" name="Text 2"/>
          <p:cNvSpPr/>
          <p:nvPr/>
        </p:nvSpPr>
        <p:spPr>
          <a:xfrm>
            <a:off x="2825750" y="2508250"/>
            <a:ext cx="6540500" cy="452123"/>
          </a:xfrm>
          <a:prstGeom prst="rect">
            <a:avLst/>
          </a:prstGeom>
          <a:noFill/>
          <a:ln/>
        </p:spPr>
        <p:txBody>
          <a:bodyPr wrap="square" lIns="0" tIns="0" rIns="0" bIns="0" rtlCol="0" anchor="t">
            <a:normAutofit/>
          </a:bodyPr>
          <a:lstStyle/>
          <a:p>
            <a:pPr algn="ctr" indent="0" marL="0">
              <a:lnSpc>
                <a:spcPts val="3360"/>
              </a:lnSpc>
              <a:buNone/>
            </a:pPr>
            <a:r>
              <a:rPr lang="en-US" sz="2800" b="1" dirty="0">
                <a:solidFill>
                  <a:srgbClr val="000000"/>
                </a:solidFill>
                <a:latin typeface="Carlito" pitchFamily="34" charset="0"/>
                <a:ea typeface="Carlito" pitchFamily="34" charset="-122"/>
                <a:cs typeface="Carlito" pitchFamily="34" charset="-120"/>
              </a:rPr>
              <a:t>Group No. 28</a:t>
            </a:r>
            <a:endParaRPr lang="en-US" sz="2800" dirty="0"/>
          </a:p>
        </p:txBody>
      </p:sp>
      <p:sp>
        <p:nvSpPr>
          <p:cNvPr id="6" name="Text 3"/>
          <p:cNvSpPr/>
          <p:nvPr/>
        </p:nvSpPr>
        <p:spPr>
          <a:xfrm>
            <a:off x="3429000" y="3175000"/>
            <a:ext cx="3924300" cy="375932"/>
          </a:xfrm>
          <a:prstGeom prst="rect">
            <a:avLst/>
          </a:prstGeom>
          <a:noFill/>
          <a:ln/>
        </p:spPr>
        <p:txBody>
          <a:bodyPr wrap="square" lIns="0" tIns="0" rIns="0" bIns="0" rtlCol="0" anchor="t">
            <a:normAutofit/>
          </a:bodyPr>
          <a:lstStyle/>
          <a:p>
            <a:pPr algn="l" indent="0" marL="0">
              <a:lnSpc>
                <a:spcPts val="2760"/>
              </a:lnSpc>
              <a:buNone/>
            </a:pPr>
            <a:r>
              <a:rPr lang="en-US" sz="2300" dirty="0">
                <a:solidFill>
                  <a:srgbClr val="000000"/>
                </a:solidFill>
                <a:latin typeface="Carlito" pitchFamily="34" charset="0"/>
                <a:ea typeface="Carlito" pitchFamily="34" charset="-122"/>
                <a:cs typeface="Carlito" pitchFamily="34" charset="-120"/>
              </a:rPr>
              <a:t>Pratham Pawar</a:t>
            </a:r>
            <a:endParaRPr lang="en-US" sz="2300" dirty="0"/>
          </a:p>
        </p:txBody>
      </p:sp>
      <p:sp>
        <p:nvSpPr>
          <p:cNvPr id="7" name="Text 4"/>
          <p:cNvSpPr/>
          <p:nvPr/>
        </p:nvSpPr>
        <p:spPr>
          <a:xfrm>
            <a:off x="7289775" y="3175000"/>
            <a:ext cx="1574800" cy="375932"/>
          </a:xfrm>
          <a:prstGeom prst="rect">
            <a:avLst/>
          </a:prstGeom>
          <a:noFill/>
          <a:ln/>
        </p:spPr>
        <p:txBody>
          <a:bodyPr wrap="square" lIns="0" tIns="0" rIns="0" bIns="0" rtlCol="0" anchor="t">
            <a:normAutofit/>
          </a:bodyPr>
          <a:lstStyle/>
          <a:p>
            <a:pPr algn="r" indent="0" marL="0">
              <a:lnSpc>
                <a:spcPts val="2760"/>
              </a:lnSpc>
              <a:buNone/>
            </a:pPr>
            <a:r>
              <a:rPr lang="en-US" sz="2300" dirty="0">
                <a:solidFill>
                  <a:srgbClr val="000000"/>
                </a:solidFill>
                <a:latin typeface="Carlito" pitchFamily="34" charset="0"/>
                <a:ea typeface="Carlito" pitchFamily="34" charset="-122"/>
                <a:cs typeface="Carlito" pitchFamily="34" charset="-120"/>
              </a:rPr>
              <a:t>1023226</a:t>
            </a:r>
            <a:endParaRPr lang="en-US" sz="2300" dirty="0"/>
          </a:p>
        </p:txBody>
      </p:sp>
      <p:sp>
        <p:nvSpPr>
          <p:cNvPr id="8" name="Text 5"/>
          <p:cNvSpPr/>
          <p:nvPr/>
        </p:nvSpPr>
        <p:spPr>
          <a:xfrm>
            <a:off x="3429000" y="3627107"/>
            <a:ext cx="3924300" cy="375932"/>
          </a:xfrm>
          <a:prstGeom prst="rect">
            <a:avLst/>
          </a:prstGeom>
          <a:noFill/>
          <a:ln/>
        </p:spPr>
        <p:txBody>
          <a:bodyPr wrap="square" lIns="0" tIns="0" rIns="0" bIns="0" rtlCol="0" anchor="t">
            <a:normAutofit/>
          </a:bodyPr>
          <a:lstStyle/>
          <a:p>
            <a:pPr algn="l" indent="0" marL="0">
              <a:lnSpc>
                <a:spcPts val="2760"/>
              </a:lnSpc>
              <a:buNone/>
            </a:pPr>
            <a:r>
              <a:rPr lang="en-US" sz="2300" dirty="0">
                <a:solidFill>
                  <a:srgbClr val="000000"/>
                </a:solidFill>
                <a:latin typeface="Carlito" pitchFamily="34" charset="0"/>
                <a:ea typeface="Carlito" pitchFamily="34" charset="-122"/>
                <a:cs typeface="Carlito" pitchFamily="34" charset="-120"/>
              </a:rPr>
              <a:t>Graceton Santhmayor</a:t>
            </a:r>
            <a:endParaRPr lang="en-US" sz="2300" dirty="0"/>
          </a:p>
        </p:txBody>
      </p:sp>
      <p:sp>
        <p:nvSpPr>
          <p:cNvPr id="9" name="Text 6"/>
          <p:cNvSpPr/>
          <p:nvPr/>
        </p:nvSpPr>
        <p:spPr>
          <a:xfrm>
            <a:off x="7289775" y="3627107"/>
            <a:ext cx="1574800" cy="375932"/>
          </a:xfrm>
          <a:prstGeom prst="rect">
            <a:avLst/>
          </a:prstGeom>
          <a:noFill/>
          <a:ln/>
        </p:spPr>
        <p:txBody>
          <a:bodyPr wrap="square" lIns="0" tIns="0" rIns="0" bIns="0" rtlCol="0" anchor="t">
            <a:normAutofit/>
          </a:bodyPr>
          <a:lstStyle/>
          <a:p>
            <a:pPr algn="r" indent="0" marL="0">
              <a:lnSpc>
                <a:spcPts val="2760"/>
              </a:lnSpc>
              <a:buNone/>
            </a:pPr>
            <a:r>
              <a:rPr lang="en-US" sz="2300" dirty="0">
                <a:solidFill>
                  <a:srgbClr val="000000"/>
                </a:solidFill>
                <a:latin typeface="Carlito" pitchFamily="34" charset="0"/>
                <a:ea typeface="Carlito" pitchFamily="34" charset="-122"/>
                <a:cs typeface="Carlito" pitchFamily="34" charset="-120"/>
              </a:rPr>
              <a:t>1022246</a:t>
            </a:r>
            <a:endParaRPr lang="en-US" sz="2300" dirty="0"/>
          </a:p>
        </p:txBody>
      </p:sp>
      <p:sp>
        <p:nvSpPr>
          <p:cNvPr id="10" name="Text 7"/>
          <p:cNvSpPr/>
          <p:nvPr/>
        </p:nvSpPr>
        <p:spPr>
          <a:xfrm>
            <a:off x="3429000" y="4079213"/>
            <a:ext cx="3924300" cy="375932"/>
          </a:xfrm>
          <a:prstGeom prst="rect">
            <a:avLst/>
          </a:prstGeom>
          <a:noFill/>
          <a:ln/>
        </p:spPr>
        <p:txBody>
          <a:bodyPr wrap="square" lIns="0" tIns="0" rIns="0" bIns="0" rtlCol="0" anchor="t">
            <a:normAutofit/>
          </a:bodyPr>
          <a:lstStyle/>
          <a:p>
            <a:pPr algn="l" indent="0" marL="0">
              <a:lnSpc>
                <a:spcPts val="2760"/>
              </a:lnSpc>
              <a:buNone/>
            </a:pPr>
            <a:r>
              <a:rPr lang="en-US" sz="2300" dirty="0">
                <a:solidFill>
                  <a:srgbClr val="000000"/>
                </a:solidFill>
                <a:latin typeface="Carlito" pitchFamily="34" charset="0"/>
                <a:ea typeface="Carlito" pitchFamily="34" charset="-122"/>
                <a:cs typeface="Carlito" pitchFamily="34" charset="-120"/>
              </a:rPr>
              <a:t>Rhian Roy Kuttikadan</a:t>
            </a:r>
            <a:endParaRPr lang="en-US" sz="2300" dirty="0"/>
          </a:p>
        </p:txBody>
      </p:sp>
      <p:sp>
        <p:nvSpPr>
          <p:cNvPr id="11" name="Text 8"/>
          <p:cNvSpPr/>
          <p:nvPr/>
        </p:nvSpPr>
        <p:spPr>
          <a:xfrm>
            <a:off x="7289775" y="4079213"/>
            <a:ext cx="1574800" cy="375932"/>
          </a:xfrm>
          <a:prstGeom prst="rect">
            <a:avLst/>
          </a:prstGeom>
          <a:noFill/>
          <a:ln/>
        </p:spPr>
        <p:txBody>
          <a:bodyPr wrap="square" lIns="0" tIns="0" rIns="0" bIns="0" rtlCol="0" anchor="t">
            <a:normAutofit/>
          </a:bodyPr>
          <a:lstStyle/>
          <a:p>
            <a:pPr algn="r" indent="0" marL="0">
              <a:lnSpc>
                <a:spcPts val="2760"/>
              </a:lnSpc>
              <a:buNone/>
            </a:pPr>
            <a:r>
              <a:rPr lang="en-US" sz="2300" dirty="0">
                <a:solidFill>
                  <a:srgbClr val="000000"/>
                </a:solidFill>
                <a:latin typeface="Carlito" pitchFamily="34" charset="0"/>
                <a:ea typeface="Carlito" pitchFamily="34" charset="-122"/>
                <a:cs typeface="Carlito" pitchFamily="34" charset="-120"/>
              </a:rPr>
              <a:t>1023268</a:t>
            </a:r>
            <a:endParaRPr lang="en-US" sz="2300" dirty="0"/>
          </a:p>
        </p:txBody>
      </p:sp>
      <p:sp>
        <p:nvSpPr>
          <p:cNvPr id="12" name="Text 9"/>
          <p:cNvSpPr/>
          <p:nvPr/>
        </p:nvSpPr>
        <p:spPr>
          <a:xfrm>
            <a:off x="3429000" y="4531320"/>
            <a:ext cx="3924300" cy="375932"/>
          </a:xfrm>
          <a:prstGeom prst="rect">
            <a:avLst/>
          </a:prstGeom>
          <a:noFill/>
          <a:ln/>
        </p:spPr>
        <p:txBody>
          <a:bodyPr wrap="square" lIns="0" tIns="0" rIns="0" bIns="0" rtlCol="0" anchor="t">
            <a:normAutofit/>
          </a:bodyPr>
          <a:lstStyle/>
          <a:p>
            <a:pPr algn="l" indent="0" marL="0">
              <a:lnSpc>
                <a:spcPts val="2760"/>
              </a:lnSpc>
              <a:buNone/>
            </a:pPr>
            <a:r>
              <a:rPr lang="en-US" sz="2300" dirty="0">
                <a:solidFill>
                  <a:srgbClr val="000000"/>
                </a:solidFill>
                <a:latin typeface="Carlito" pitchFamily="34" charset="0"/>
                <a:ea typeface="Carlito" pitchFamily="34" charset="-122"/>
                <a:cs typeface="Carlito" pitchFamily="34" charset="-120"/>
              </a:rPr>
              <a:t>Advik Saxena</a:t>
            </a:r>
            <a:endParaRPr lang="en-US" sz="2300" dirty="0"/>
          </a:p>
        </p:txBody>
      </p:sp>
      <p:sp>
        <p:nvSpPr>
          <p:cNvPr id="13" name="Text 10"/>
          <p:cNvSpPr/>
          <p:nvPr/>
        </p:nvSpPr>
        <p:spPr>
          <a:xfrm>
            <a:off x="7289775" y="4531320"/>
            <a:ext cx="1574800" cy="375932"/>
          </a:xfrm>
          <a:prstGeom prst="rect">
            <a:avLst/>
          </a:prstGeom>
          <a:noFill/>
          <a:ln/>
        </p:spPr>
        <p:txBody>
          <a:bodyPr wrap="square" lIns="0" tIns="0" rIns="0" bIns="0" rtlCol="0" anchor="t">
            <a:normAutofit/>
          </a:bodyPr>
          <a:lstStyle/>
          <a:p>
            <a:pPr algn="r" indent="0" marL="0">
              <a:lnSpc>
                <a:spcPts val="2760"/>
              </a:lnSpc>
              <a:buNone/>
            </a:pPr>
            <a:r>
              <a:rPr lang="en-US" sz="2300" dirty="0">
                <a:solidFill>
                  <a:srgbClr val="000000"/>
                </a:solidFill>
                <a:latin typeface="Carlito" pitchFamily="34" charset="0"/>
                <a:ea typeface="Carlito" pitchFamily="34" charset="-122"/>
                <a:cs typeface="Carlito" pitchFamily="34" charset="-120"/>
              </a:rPr>
              <a:t>1023245</a:t>
            </a:r>
            <a:endParaRPr lang="en-US" sz="2300" dirty="0"/>
          </a:p>
        </p:txBody>
      </p:sp>
      <p:sp>
        <p:nvSpPr>
          <p:cNvPr id="14" name="Text 11"/>
          <p:cNvSpPr/>
          <p:nvPr/>
        </p:nvSpPr>
        <p:spPr>
          <a:xfrm>
            <a:off x="2825750" y="5397500"/>
            <a:ext cx="6540500" cy="406400"/>
          </a:xfrm>
          <a:prstGeom prst="rect">
            <a:avLst/>
          </a:prstGeom>
          <a:noFill/>
          <a:ln/>
        </p:spPr>
        <p:txBody>
          <a:bodyPr wrap="square" lIns="0" tIns="0" rIns="0" bIns="0" rtlCol="0" anchor="t">
            <a:normAutofit/>
          </a:bodyPr>
          <a:lstStyle/>
          <a:p>
            <a:pPr algn="ctr" indent="0" marL="0">
              <a:lnSpc>
                <a:spcPts val="3000"/>
              </a:lnSpc>
              <a:buNone/>
            </a:pPr>
            <a:r>
              <a:rPr lang="en-US" sz="2500" b="1" dirty="0">
                <a:solidFill>
                  <a:srgbClr val="000000"/>
                </a:solidFill>
                <a:latin typeface="Carlito" pitchFamily="34" charset="0"/>
                <a:ea typeface="Carlito" pitchFamily="34" charset="-122"/>
                <a:cs typeface="Carlito" pitchFamily="34" charset="-120"/>
              </a:rPr>
              <a:t>Guide:</a:t>
            </a:r>
            <a:r>
              <a:rPr lang="en-US" sz="2500" dirty="0">
                <a:solidFill>
                  <a:srgbClr val="000000"/>
                </a:solidFill>
                <a:latin typeface="Carlito" pitchFamily="34" charset="0"/>
                <a:ea typeface="Carlito" pitchFamily="34" charset="-122"/>
                <a:cs typeface="Carlito" pitchFamily="34" charset="-120"/>
              </a:rPr>
              <a:t> Mr. Rahul Jadhav</a:t>
            </a:r>
            <a:endParaRPr lang="en-US" sz="2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91"/>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Presentation Outline</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sp>
        <p:nvSpPr>
          <p:cNvPr id="5" name="Text 1"/>
          <p:cNvSpPr/>
          <p:nvPr/>
        </p:nvSpPr>
        <p:spPr>
          <a:xfrm>
            <a:off x="0" y="1523070"/>
            <a:ext cx="12557760" cy="3837260"/>
          </a:xfrm>
          <a:prstGeom prst="rect">
            <a:avLst/>
          </a:prstGeom>
          <a:noFill/>
          <a:ln/>
        </p:spPr>
        <p:txBody>
          <a:bodyPr wrap="square" lIns="0" tIns="0" rIns="0" bIns="0" rtlCol="0" anchor="t">
            <a:normAutofit/>
          </a:bodyPr>
          <a:lstStyle/>
          <a:p>
            <a:pPr algn="l" marL="350520" indent="-246126">
              <a:lnSpc>
                <a:spcPts val="3335"/>
              </a:lnSpc>
              <a:buSzPct val="100000"/>
              <a:buChar char="•"/>
            </a:pPr>
            <a:r>
              <a:rPr lang="en-US" sz="2300" dirty="0">
                <a:solidFill>
                  <a:srgbClr val="000000"/>
                </a:solidFill>
                <a:latin typeface="Carlito" pitchFamily="34" charset="0"/>
                <a:ea typeface="Carlito" pitchFamily="34" charset="-122"/>
                <a:cs typeface="Carlito" pitchFamily="34" charset="-120"/>
              </a:rPr>
              <a:t>Problem Statement</a:t>
            </a:r>
            <a:endParaRPr lang="en-US" sz="2300" dirty="0"/>
          </a:p>
          <a:p>
            <a:pPr algn="l" marL="350520" indent="-246126">
              <a:lnSpc>
                <a:spcPts val="3335"/>
              </a:lnSpc>
              <a:buSzPct val="100000"/>
              <a:buChar char="•"/>
            </a:pPr>
            <a:r>
              <a:rPr lang="en-US" sz="2300" dirty="0">
                <a:solidFill>
                  <a:srgbClr val="000000"/>
                </a:solidFill>
                <a:latin typeface="Carlito" pitchFamily="34" charset="0"/>
                <a:ea typeface="Carlito" pitchFamily="34" charset="-122"/>
                <a:cs typeface="Carlito" pitchFamily="34" charset="-120"/>
              </a:rPr>
              <a:t>Proposed System</a:t>
            </a:r>
            <a:endParaRPr lang="en-US" sz="2300" dirty="0"/>
          </a:p>
          <a:p>
            <a:pPr algn="l" marL="350520" indent="-246126">
              <a:lnSpc>
                <a:spcPts val="3335"/>
              </a:lnSpc>
              <a:buSzPct val="100000"/>
              <a:buChar char="•"/>
            </a:pPr>
            <a:r>
              <a:rPr lang="en-US" sz="2300" dirty="0">
                <a:solidFill>
                  <a:srgbClr val="000000"/>
                </a:solidFill>
                <a:latin typeface="Carlito" pitchFamily="34" charset="0"/>
                <a:ea typeface="Carlito" pitchFamily="34" charset="-122"/>
                <a:cs typeface="Carlito" pitchFamily="34" charset="-120"/>
              </a:rPr>
              <a:t>Hardware &amp; Software Requirements</a:t>
            </a:r>
            <a:endParaRPr lang="en-US" sz="2300" dirty="0"/>
          </a:p>
          <a:p>
            <a:pPr algn="l" marL="350520" indent="-246126">
              <a:lnSpc>
                <a:spcPts val="3335"/>
              </a:lnSpc>
              <a:buSzPct val="100000"/>
              <a:buChar char="•"/>
            </a:pPr>
            <a:r>
              <a:rPr lang="en-US" sz="2300" dirty="0">
                <a:solidFill>
                  <a:srgbClr val="000000"/>
                </a:solidFill>
                <a:latin typeface="Carlito" pitchFamily="34" charset="0"/>
                <a:ea typeface="Carlito" pitchFamily="34" charset="-122"/>
                <a:cs typeface="Carlito" pitchFamily="34" charset="-120"/>
              </a:rPr>
              <a:t>Timeline / Gantt Chart</a:t>
            </a:r>
            <a:endParaRPr lang="en-US" sz="2300" dirty="0"/>
          </a:p>
          <a:p>
            <a:pPr algn="l" marL="350520" indent="-246126">
              <a:lnSpc>
                <a:spcPts val="3335"/>
              </a:lnSpc>
              <a:buSzPct val="100000"/>
              <a:buChar char="•"/>
            </a:pPr>
            <a:r>
              <a:rPr lang="en-US" sz="2300" dirty="0">
                <a:solidFill>
                  <a:srgbClr val="000000"/>
                </a:solidFill>
                <a:latin typeface="Carlito" pitchFamily="34" charset="0"/>
                <a:ea typeface="Carlito" pitchFamily="34" charset="-122"/>
                <a:cs typeface="Carlito" pitchFamily="34" charset="-120"/>
              </a:rPr>
              <a:t>System Design</a:t>
            </a:r>
            <a:endParaRPr lang="en-US" sz="2300" dirty="0"/>
          </a:p>
          <a:p>
            <a:pPr algn="l" marL="350520" indent="-246126">
              <a:lnSpc>
                <a:spcPts val="3335"/>
              </a:lnSpc>
              <a:buSzPct val="100000"/>
              <a:buChar char="•"/>
            </a:pPr>
            <a:r>
              <a:rPr lang="en-US" sz="2300" dirty="0">
                <a:solidFill>
                  <a:srgbClr val="000000"/>
                </a:solidFill>
                <a:latin typeface="Carlito" pitchFamily="34" charset="0"/>
                <a:ea typeface="Carlito" pitchFamily="34" charset="-122"/>
                <a:cs typeface="Carlito" pitchFamily="34" charset="-120"/>
              </a:rPr>
              <a:t>Datasets (synthetic and real Indian data)</a:t>
            </a:r>
            <a:endParaRPr lang="en-US" sz="2300" dirty="0"/>
          </a:p>
          <a:p>
            <a:pPr algn="l" marL="350520" indent="-246126">
              <a:lnSpc>
                <a:spcPts val="3335"/>
              </a:lnSpc>
              <a:buSzPct val="100000"/>
              <a:buChar char="•"/>
            </a:pPr>
            <a:r>
              <a:rPr lang="en-US" sz="2300" dirty="0">
                <a:solidFill>
                  <a:srgbClr val="000000"/>
                </a:solidFill>
                <a:latin typeface="Carlito" pitchFamily="34" charset="0"/>
                <a:ea typeface="Carlito" pitchFamily="34" charset="-122"/>
                <a:cs typeface="Carlito" pitchFamily="34" charset="-120"/>
              </a:rPr>
              <a:t>Implementation and screens</a:t>
            </a:r>
            <a:endParaRPr lang="en-US" sz="2300" dirty="0"/>
          </a:p>
          <a:p>
            <a:pPr algn="l" marL="350520" indent="-246126">
              <a:lnSpc>
                <a:spcPts val="3335"/>
              </a:lnSpc>
              <a:buSzPct val="100000"/>
              <a:buChar char="•"/>
            </a:pPr>
            <a:r>
              <a:rPr lang="en-US" sz="2300" dirty="0">
                <a:solidFill>
                  <a:srgbClr val="000000"/>
                </a:solidFill>
                <a:latin typeface="Carlito" pitchFamily="34" charset="0"/>
                <a:ea typeface="Carlito" pitchFamily="34" charset="-122"/>
                <a:cs typeface="Carlito" pitchFamily="34" charset="-120"/>
              </a:rPr>
              <a:t>Initial Results / Demo</a:t>
            </a:r>
            <a:endParaRPr lang="en-US" sz="2300" dirty="0"/>
          </a:p>
          <a:p>
            <a:pPr algn="l" marL="350520" indent="-246126">
              <a:lnSpc>
                <a:spcPts val="3335"/>
              </a:lnSpc>
              <a:buSzPct val="100000"/>
              <a:buChar char="•"/>
            </a:pPr>
            <a:r>
              <a:rPr lang="en-US" sz="2300" dirty="0">
                <a:solidFill>
                  <a:srgbClr val="000000"/>
                </a:solidFill>
                <a:latin typeface="Carlito" pitchFamily="34" charset="0"/>
                <a:ea typeface="Carlito" pitchFamily="34" charset="-122"/>
                <a:cs typeface="Carlito" pitchFamily="34" charset="-120"/>
              </a:rPr>
              <a:t>Work Completed vs Planned, progress</a:t>
            </a:r>
            <a:endParaRPr lang="en-US" sz="2300" dirty="0"/>
          </a:p>
          <a:p>
            <a:pPr algn="l" marL="350520" indent="-246126">
              <a:lnSpc>
                <a:spcPts val="3335"/>
              </a:lnSpc>
              <a:buSzPct val="100000"/>
              <a:buChar char="•"/>
            </a:pPr>
            <a:r>
              <a:rPr lang="en-US" sz="2300" dirty="0">
                <a:solidFill>
                  <a:srgbClr val="000000"/>
                </a:solidFill>
                <a:latin typeface="Carlito" pitchFamily="34" charset="0"/>
                <a:ea typeface="Carlito" pitchFamily="34" charset="-122"/>
                <a:cs typeface="Carlito" pitchFamily="34" charset="-120"/>
              </a:rPr>
              <a:t>Conclusion</a:t>
            </a:r>
            <a:endParaRPr lang="en-US"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91"/>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Problem Statement</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sp>
        <p:nvSpPr>
          <p:cNvPr id="5" name="Text 1"/>
          <p:cNvSpPr/>
          <p:nvPr/>
        </p:nvSpPr>
        <p:spPr>
          <a:xfrm>
            <a:off x="609575" y="1301750"/>
            <a:ext cx="11302035" cy="1092126"/>
          </a:xfrm>
          <a:prstGeom prst="rect">
            <a:avLst/>
          </a:prstGeom>
          <a:noFill/>
          <a:ln/>
        </p:spPr>
        <p:txBody>
          <a:bodyPr wrap="square" lIns="0" tIns="0" rIns="0" bIns="0" rtlCol="0" anchor="t">
            <a:normAutofit/>
          </a:bodyPr>
          <a:lstStyle/>
          <a:p>
            <a:pPr algn="l" marL="304800" indent="-218440">
              <a:lnSpc>
                <a:spcPts val="2800"/>
              </a:lnSpc>
              <a:buSzPct val="100000"/>
              <a:buChar char="•"/>
            </a:pPr>
            <a:r>
              <a:rPr lang="en-US" sz="2000" dirty="0">
                <a:solidFill>
                  <a:srgbClr val="000000"/>
                </a:solidFill>
                <a:latin typeface="Carlito" pitchFamily="34" charset="0"/>
                <a:ea typeface="Carlito" pitchFamily="34" charset="-122"/>
                <a:cs typeface="Carlito" pitchFamily="34" charset="-120"/>
              </a:rPr>
              <a:t>After </a:t>
            </a:r>
            <a:r>
              <a:rPr lang="en-US" sz="2000" b="1" dirty="0">
                <a:solidFill>
                  <a:srgbClr val="000000"/>
                </a:solidFill>
                <a:latin typeface="Carlito" pitchFamily="34" charset="0"/>
                <a:ea typeface="Carlito" pitchFamily="34" charset="-122"/>
                <a:cs typeface="Carlito" pitchFamily="34" charset="-120"/>
              </a:rPr>
              <a:t>metformin</a:t>
            </a:r>
            <a:r>
              <a:rPr lang="en-US" sz="2000" dirty="0">
                <a:solidFill>
                  <a:srgbClr val="000000"/>
                </a:solidFill>
                <a:latin typeface="Carlito" pitchFamily="34" charset="0"/>
                <a:ea typeface="Carlito" pitchFamily="34" charset="-122"/>
                <a:cs typeface="Carlito" pitchFamily="34" charset="-120"/>
              </a:rPr>
              <a:t>, doctors choose between </a:t>
            </a:r>
            <a:r>
              <a:rPr lang="en-US" sz="2000" b="1" dirty="0">
                <a:solidFill>
                  <a:srgbClr val="000000"/>
                </a:solidFill>
                <a:latin typeface="Carlito" pitchFamily="34" charset="0"/>
                <a:ea typeface="Carlito" pitchFamily="34" charset="-122"/>
                <a:cs typeface="Carlito" pitchFamily="34" charset="-120"/>
              </a:rPr>
              <a:t>SGLT2 inhibitors</a:t>
            </a:r>
            <a:r>
              <a:rPr lang="en-US" sz="2000" dirty="0">
                <a:solidFill>
                  <a:srgbClr val="000000"/>
                </a:solidFill>
                <a:latin typeface="Carlito" pitchFamily="34" charset="0"/>
                <a:ea typeface="Carlito" pitchFamily="34" charset="-122"/>
                <a:cs typeface="Carlito" pitchFamily="34" charset="-120"/>
              </a:rPr>
              <a:t>, </a:t>
            </a:r>
            <a:r>
              <a:rPr lang="en-US" sz="2000" b="1" dirty="0">
                <a:solidFill>
                  <a:srgbClr val="000000"/>
                </a:solidFill>
                <a:latin typeface="Carlito" pitchFamily="34" charset="0"/>
                <a:ea typeface="Carlito" pitchFamily="34" charset="-122"/>
                <a:cs typeface="Carlito" pitchFamily="34" charset="-120"/>
              </a:rPr>
              <a:t>DPP-4 inhibitors</a:t>
            </a:r>
            <a:r>
              <a:rPr lang="en-US" sz="2000" dirty="0">
                <a:solidFill>
                  <a:srgbClr val="000000"/>
                </a:solidFill>
                <a:latin typeface="Carlito" pitchFamily="34" charset="0"/>
                <a:ea typeface="Carlito" pitchFamily="34" charset="-122"/>
                <a:cs typeface="Carlito" pitchFamily="34" charset="-120"/>
              </a:rPr>
              <a:t> and </a:t>
            </a:r>
            <a:r>
              <a:rPr lang="en-US" sz="2000" b="1" dirty="0">
                <a:solidFill>
                  <a:srgbClr val="000000"/>
                </a:solidFill>
                <a:latin typeface="Carlito" pitchFamily="34" charset="0"/>
                <a:ea typeface="Carlito" pitchFamily="34" charset="-122"/>
                <a:cs typeface="Carlito" pitchFamily="34" charset="-120"/>
              </a:rPr>
              <a:t>sulfonylureas</a:t>
            </a:r>
            <a:endParaRPr lang="en-US" sz="2000" dirty="0"/>
          </a:p>
          <a:p>
            <a:pPr algn="l" marL="304800" indent="-218440">
              <a:lnSpc>
                <a:spcPts val="2800"/>
              </a:lnSpc>
              <a:buSzPct val="100000"/>
              <a:buChar char="•"/>
            </a:pPr>
            <a:r>
              <a:rPr lang="en-US" sz="2000" b="1" dirty="0">
                <a:solidFill>
                  <a:srgbClr val="000000"/>
                </a:solidFill>
                <a:latin typeface="Carlito" pitchFamily="34" charset="0"/>
                <a:ea typeface="Carlito" pitchFamily="34" charset="-122"/>
                <a:cs typeface="Carlito" pitchFamily="34" charset="-120"/>
              </a:rPr>
              <a:t>Question:</a:t>
            </a:r>
            <a:r>
              <a:rPr lang="en-US" sz="2000" dirty="0">
                <a:solidFill>
                  <a:srgbClr val="000000"/>
                </a:solidFill>
                <a:latin typeface="Carlito" pitchFamily="34" charset="0"/>
                <a:ea typeface="Carlito" pitchFamily="34" charset="-122"/>
                <a:cs typeface="Carlito" pitchFamily="34" charset="-120"/>
              </a:rPr>
              <a:t> which option lowers HbA1c most for </a:t>
            </a:r>
            <a:r>
              <a:rPr lang="en-US" sz="2000" b="1" dirty="0">
                <a:solidFill>
                  <a:srgbClr val="000000"/>
                </a:solidFill>
                <a:latin typeface="Carlito" pitchFamily="34" charset="0"/>
                <a:ea typeface="Carlito" pitchFamily="34" charset="-122"/>
                <a:cs typeface="Carlito" pitchFamily="34" charset="-120"/>
              </a:rPr>
              <a:t>this patient</a:t>
            </a:r>
            <a:r>
              <a:rPr lang="en-US" sz="2000" dirty="0">
                <a:solidFill>
                  <a:srgbClr val="000000"/>
                </a:solidFill>
                <a:latin typeface="Carlito" pitchFamily="34" charset="0"/>
                <a:ea typeface="Carlito" pitchFamily="34" charset="-122"/>
                <a:cs typeface="Carlito" pitchFamily="34" charset="-120"/>
              </a:rPr>
              <a:t>?</a:t>
            </a:r>
            <a:endParaRPr lang="en-US" sz="2000" dirty="0"/>
          </a:p>
          <a:p>
            <a:pPr algn="l" marL="304800" indent="-218440">
              <a:lnSpc>
                <a:spcPts val="2800"/>
              </a:lnSpc>
              <a:buSzPct val="100000"/>
              <a:buChar char="•"/>
            </a:pPr>
            <a:r>
              <a:rPr lang="en-US" sz="2000" b="1" dirty="0">
                <a:solidFill>
                  <a:srgbClr val="000000"/>
                </a:solidFill>
                <a:latin typeface="Carlito" pitchFamily="34" charset="0"/>
                <a:ea typeface="Carlito" pitchFamily="34" charset="-122"/>
                <a:cs typeface="Carlito" pitchFamily="34" charset="-120"/>
              </a:rPr>
              <a:t>Old records mislead:</a:t>
            </a:r>
            <a:r>
              <a:rPr lang="en-US" sz="2000" dirty="0">
                <a:solidFill>
                  <a:srgbClr val="000000"/>
                </a:solidFill>
                <a:latin typeface="Carlito" pitchFamily="34" charset="0"/>
                <a:ea typeface="Carlito" pitchFamily="34" charset="-122"/>
                <a:cs typeface="Carlito" pitchFamily="34" charset="-120"/>
              </a:rPr>
              <a:t> different patients get different drugs</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0159" y="2544134"/>
          <a:ext cx="10962266" cy="1855391"/>
        </p:xfrm>
        <a:graphic>
          <a:graphicData uri="http://schemas.openxmlformats.org/drawingml/2006/table">
            <a:tbl>
              <a:tblPr/>
              <a:tblGrid>
                <a:gridCol w="2959812"/>
                <a:gridCol w="2850189"/>
                <a:gridCol w="2850189"/>
                <a:gridCol w="2302076"/>
              </a:tblGrid>
              <a:tr h="463848">
                <a:tc>
                  <a:txBody>
                    <a:bodyPr/>
                    <a:lstStyle/>
                    <a:p>
                      <a:pPr indent="0" marL="0">
                        <a:lnSpc>
                          <a:spcPts val="2380"/>
                        </a:lnSpc>
                        <a:buNone/>
                      </a:pPr>
                      <a:r>
                        <a:rPr lang="en-US" sz="1700" b="1" dirty="0">
                          <a:solidFill>
                            <a:srgbClr val="FFFFFF"/>
                          </a:solidFill>
                          <a:latin typeface="Carlito" pitchFamily="34" charset="0"/>
                          <a:ea typeface="Carlito" pitchFamily="34" charset="-122"/>
                          <a:cs typeface="Carlito" pitchFamily="34" charset="-120"/>
                        </a:rPr>
                        <a:t>Starting HbA1c</a:t>
                      </a:r>
                      <a:endParaRPr lang="en-US" sz="1700" dirty="0">
                        <a:latin typeface="Carlito" charset="0"/>
                        <a:ea typeface="Carlito" charset="0"/>
                        <a:cs typeface="Carlito"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algn="ctr" indent="0" marL="0">
                        <a:lnSpc>
                          <a:spcPts val="2380"/>
                        </a:lnSpc>
                        <a:buNone/>
                      </a:pPr>
                      <a:r>
                        <a:rPr lang="en-US" sz="1700" b="1" dirty="0">
                          <a:solidFill>
                            <a:srgbClr val="FFFFFF"/>
                          </a:solidFill>
                          <a:latin typeface="Carlito" pitchFamily="34" charset="0"/>
                          <a:ea typeface="Carlito" pitchFamily="34" charset="-122"/>
                          <a:cs typeface="Carlito" pitchFamily="34" charset="-120"/>
                        </a:rPr>
                        <a:t>Got SGLT2 inhibitor</a:t>
                      </a:r>
                      <a:endParaRPr lang="en-US" sz="1700" dirty="0">
                        <a:latin typeface="Carlito" charset="0"/>
                        <a:ea typeface="Carlito" charset="0"/>
                        <a:cs typeface="Carlito" charset="0"/>
                      </a:endParaRPr>
                    </a:p>
                  </a:txBody>
                  <a:tcPr marL="75565" marR="75565" marT="75565" marB="75565"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algn="ctr" indent="0" marL="0">
                        <a:lnSpc>
                          <a:spcPts val="2380"/>
                        </a:lnSpc>
                        <a:buNone/>
                      </a:pPr>
                      <a:r>
                        <a:rPr lang="en-US" sz="1700" b="1" dirty="0">
                          <a:solidFill>
                            <a:srgbClr val="FFFFFF"/>
                          </a:solidFill>
                          <a:latin typeface="Carlito" pitchFamily="34" charset="0"/>
                          <a:ea typeface="Carlito" pitchFamily="34" charset="-122"/>
                          <a:cs typeface="Carlito" pitchFamily="34" charset="-120"/>
                        </a:rPr>
                        <a:t>Got sulfonylurea</a:t>
                      </a:r>
                      <a:endParaRPr lang="en-US" sz="1700" dirty="0">
                        <a:latin typeface="Carlito" charset="0"/>
                        <a:ea typeface="Carlito" charset="0"/>
                        <a:cs typeface="Carlito" charset="0"/>
                      </a:endParaRPr>
                    </a:p>
                  </a:txBody>
                  <a:tcPr marL="75565" marR="75565" marT="75565" marB="75565"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algn="ctr" indent="0" marL="0">
                        <a:lnSpc>
                          <a:spcPts val="2380"/>
                        </a:lnSpc>
                        <a:buNone/>
                      </a:pPr>
                      <a:r>
                        <a:rPr lang="en-US" sz="1700" b="1" dirty="0">
                          <a:solidFill>
                            <a:srgbClr val="FFFFFF"/>
                          </a:solidFill>
                          <a:latin typeface="Carlito" pitchFamily="34" charset="0"/>
                          <a:ea typeface="Carlito" pitchFamily="34" charset="-122"/>
                          <a:cs typeface="Carlito" pitchFamily="34" charset="-120"/>
                        </a:rPr>
                        <a:t>Difference</a:t>
                      </a:r>
                      <a:endParaRPr lang="en-US" sz="1700" dirty="0">
                        <a:latin typeface="Carlito" charset="0"/>
                        <a:ea typeface="Carlito" charset="0"/>
                        <a:cs typeface="Carlito" charset="0"/>
                      </a:endParaRPr>
                    </a:p>
                  </a:txBody>
                  <a:tcPr marL="75565" marR="75565" marT="75565" marB="75565"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r>
              <a:tr h="463848">
                <a:tc>
                  <a:txBody>
                    <a:bodyPr/>
                    <a:lstStyle/>
                    <a:p>
                      <a:pPr indent="0" marL="0">
                        <a:lnSpc>
                          <a:spcPts val="2380"/>
                        </a:lnSpc>
                        <a:buNone/>
                      </a:pPr>
                      <a:r>
                        <a:rPr lang="en-US" sz="1700" dirty="0">
                          <a:solidFill>
                            <a:srgbClr val="000000"/>
                          </a:solidFill>
                          <a:latin typeface="Carlito" pitchFamily="34" charset="0"/>
                          <a:ea typeface="Carlito" pitchFamily="34" charset="-122"/>
                          <a:cs typeface="Carlito" pitchFamily="34" charset="-120"/>
                        </a:rPr>
                        <a:t>High</a:t>
                      </a:r>
                      <a:endParaRPr lang="en-US" sz="1700" dirty="0">
                        <a:latin typeface="Carlito" charset="0"/>
                        <a:ea typeface="Carlito" charset="0"/>
                        <a:cs typeface="Carlito"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380"/>
                        </a:lnSpc>
                        <a:buNone/>
                      </a:pPr>
                      <a:r>
                        <a:rPr lang="en-US" sz="1700" dirty="0">
                          <a:solidFill>
                            <a:srgbClr val="000000"/>
                          </a:solidFill>
                          <a:latin typeface="Carlito" pitchFamily="34" charset="0"/>
                          <a:ea typeface="Carlito" pitchFamily="34" charset="-122"/>
                          <a:cs typeface="Carlito" pitchFamily="34" charset="-120"/>
                        </a:rPr>
                        <a:t>300 patients, −1.2</a:t>
                      </a:r>
                      <a:endParaRPr lang="en-US" sz="1700" dirty="0">
                        <a:latin typeface="Carlito" charset="0"/>
                        <a:ea typeface="Carlito" charset="0"/>
                        <a:cs typeface="Carlito"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380"/>
                        </a:lnSpc>
                        <a:buNone/>
                      </a:pPr>
                      <a:r>
                        <a:rPr lang="en-US" sz="1700" dirty="0">
                          <a:solidFill>
                            <a:srgbClr val="000000"/>
                          </a:solidFill>
                          <a:latin typeface="Carlito" pitchFamily="34" charset="0"/>
                          <a:ea typeface="Carlito" pitchFamily="34" charset="-122"/>
                          <a:cs typeface="Carlito" pitchFamily="34" charset="-120"/>
                        </a:rPr>
                        <a:t>100 patients, −1.0</a:t>
                      </a:r>
                      <a:endParaRPr lang="en-US" sz="1700" dirty="0">
                        <a:latin typeface="Carlito" charset="0"/>
                        <a:ea typeface="Carlito" charset="0"/>
                        <a:cs typeface="Carlito"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380"/>
                        </a:lnSpc>
                        <a:buNone/>
                      </a:pPr>
                      <a:r>
                        <a:rPr lang="en-US" sz="1700" dirty="0">
                          <a:solidFill>
                            <a:srgbClr val="000000"/>
                          </a:solidFill>
                          <a:latin typeface="Carlito" pitchFamily="34" charset="0"/>
                          <a:ea typeface="Carlito" pitchFamily="34" charset="-122"/>
                          <a:cs typeface="Carlito" pitchFamily="34" charset="-120"/>
                        </a:rPr>
                        <a:t>−0.2</a:t>
                      </a:r>
                      <a:endParaRPr lang="en-US" sz="1700" dirty="0">
                        <a:latin typeface="Carlito" charset="0"/>
                        <a:ea typeface="Carlito" charset="0"/>
                        <a:cs typeface="Carlito"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63848">
                <a:tc>
                  <a:txBody>
                    <a:bodyPr/>
                    <a:lstStyle/>
                    <a:p>
                      <a:pPr indent="0" marL="0">
                        <a:lnSpc>
                          <a:spcPts val="2380"/>
                        </a:lnSpc>
                        <a:buNone/>
                      </a:pPr>
                      <a:r>
                        <a:rPr lang="en-US" sz="1700" dirty="0">
                          <a:solidFill>
                            <a:srgbClr val="000000"/>
                          </a:solidFill>
                          <a:latin typeface="Carlito" pitchFamily="34" charset="0"/>
                          <a:ea typeface="Carlito" pitchFamily="34" charset="-122"/>
                          <a:cs typeface="Carlito" pitchFamily="34" charset="-120"/>
                        </a:rPr>
                        <a:t>Lower</a:t>
                      </a:r>
                      <a:endParaRPr lang="en-US" sz="1700" dirty="0">
                        <a:latin typeface="Carlito" charset="0"/>
                        <a:ea typeface="Carlito" charset="0"/>
                        <a:cs typeface="Carlito"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380"/>
                        </a:lnSpc>
                        <a:buNone/>
                      </a:pPr>
                      <a:r>
                        <a:rPr lang="en-US" sz="1700" dirty="0">
                          <a:solidFill>
                            <a:srgbClr val="000000"/>
                          </a:solidFill>
                          <a:latin typeface="Carlito" pitchFamily="34" charset="0"/>
                          <a:ea typeface="Carlito" pitchFamily="34" charset="-122"/>
                          <a:cs typeface="Carlito" pitchFamily="34" charset="-120"/>
                        </a:rPr>
                        <a:t>100 patients, −0.6</a:t>
                      </a:r>
                      <a:endParaRPr lang="en-US" sz="1700" dirty="0">
                        <a:latin typeface="Carlito" charset="0"/>
                        <a:ea typeface="Carlito" charset="0"/>
                        <a:cs typeface="Carlito"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380"/>
                        </a:lnSpc>
                        <a:buNone/>
                      </a:pPr>
                      <a:r>
                        <a:rPr lang="en-US" sz="1700" dirty="0">
                          <a:solidFill>
                            <a:srgbClr val="000000"/>
                          </a:solidFill>
                          <a:latin typeface="Carlito" pitchFamily="34" charset="0"/>
                          <a:ea typeface="Carlito" pitchFamily="34" charset="-122"/>
                          <a:cs typeface="Carlito" pitchFamily="34" charset="-120"/>
                        </a:rPr>
                        <a:t>300 patients, −0.5</a:t>
                      </a:r>
                      <a:endParaRPr lang="en-US" sz="1700" dirty="0">
                        <a:latin typeface="Carlito" charset="0"/>
                        <a:ea typeface="Carlito" charset="0"/>
                        <a:cs typeface="Carlito"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380"/>
                        </a:lnSpc>
                        <a:buNone/>
                      </a:pPr>
                      <a:r>
                        <a:rPr lang="en-US" sz="1700" dirty="0">
                          <a:solidFill>
                            <a:srgbClr val="000000"/>
                          </a:solidFill>
                          <a:latin typeface="Carlito" pitchFamily="34" charset="0"/>
                          <a:ea typeface="Carlito" pitchFamily="34" charset="-122"/>
                          <a:cs typeface="Carlito" pitchFamily="34" charset="-120"/>
                        </a:rPr>
                        <a:t>−0.1</a:t>
                      </a:r>
                      <a:endParaRPr lang="en-US" sz="1700" dirty="0">
                        <a:latin typeface="Carlito" charset="0"/>
                        <a:ea typeface="Carlito" charset="0"/>
                        <a:cs typeface="Carlito"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63848">
                <a:tc>
                  <a:txBody>
                    <a:bodyPr/>
                    <a:lstStyle/>
                    <a:p>
                      <a:pPr indent="0" marL="0">
                        <a:lnSpc>
                          <a:spcPts val="2380"/>
                        </a:lnSpc>
                        <a:buNone/>
                      </a:pPr>
                      <a:r>
                        <a:rPr lang="en-US" sz="1700" dirty="0">
                          <a:solidFill>
                            <a:srgbClr val="002060"/>
                          </a:solidFill>
                          <a:latin typeface="Carlito" pitchFamily="34" charset="0"/>
                          <a:ea typeface="Carlito" pitchFamily="34" charset="-122"/>
                          <a:cs typeface="Carlito" pitchFamily="34" charset="-120"/>
                        </a:rPr>
                        <a:t>All patients (naive)</a:t>
                      </a:r>
                      <a:endParaRPr lang="en-US" sz="1700" dirty="0">
                        <a:latin typeface="Carlito" charset="0"/>
                        <a:ea typeface="Carlito" charset="0"/>
                        <a:cs typeface="Carlito" charset="0"/>
                      </a:endParaRPr>
                    </a:p>
                  </a:txBody>
                  <a:tcPr marL="75565" marR="75565" marT="75565" marB="75565" anchor="t">
                    <a:lnL w="12700" cap="flat" cmpd="sng" algn="ctr">
                      <a:solidFill>
                        <a:srgbClr val="CBCBCB"/>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algn="ctr" indent="0" marL="0">
                        <a:lnSpc>
                          <a:spcPts val="2380"/>
                        </a:lnSpc>
                        <a:buNone/>
                      </a:pPr>
                      <a:r>
                        <a:rPr lang="en-US" sz="1700" dirty="0">
                          <a:solidFill>
                            <a:srgbClr val="000000"/>
                          </a:solidFill>
                          <a:latin typeface="Carlito" pitchFamily="34" charset="0"/>
                          <a:ea typeface="Carlito" pitchFamily="34" charset="-122"/>
                          <a:cs typeface="Carlito" pitchFamily="34" charset="-120"/>
                        </a:rPr>
                        <a:t>−1.05</a:t>
                      </a:r>
                      <a:endParaRPr lang="en-US" sz="1700" dirty="0">
                        <a:latin typeface="Carlito" charset="0"/>
                        <a:ea typeface="Carlito" charset="0"/>
                        <a:cs typeface="Carlito" charset="0"/>
                      </a:endParaRPr>
                    </a:p>
                  </a:txBody>
                  <a:tcPr marL="75565" marR="75565" marT="75565" marB="75565"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algn="ctr" indent="0" marL="0">
                        <a:lnSpc>
                          <a:spcPts val="2380"/>
                        </a:lnSpc>
                        <a:buNone/>
                      </a:pPr>
                      <a:r>
                        <a:rPr lang="en-US" sz="1700" dirty="0">
                          <a:solidFill>
                            <a:srgbClr val="000000"/>
                          </a:solidFill>
                          <a:latin typeface="Carlito" pitchFamily="34" charset="0"/>
                          <a:ea typeface="Carlito" pitchFamily="34" charset="-122"/>
                          <a:cs typeface="Carlito" pitchFamily="34" charset="-120"/>
                        </a:rPr>
                        <a:t>−0.625</a:t>
                      </a:r>
                      <a:endParaRPr lang="en-US" sz="1700" dirty="0">
                        <a:latin typeface="Carlito" charset="0"/>
                        <a:ea typeface="Carlito" charset="0"/>
                        <a:cs typeface="Carlito" charset="0"/>
                      </a:endParaRPr>
                    </a:p>
                  </a:txBody>
                  <a:tcPr marL="75565" marR="75565" marT="75565" marB="75565"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c>
                  <a:txBody>
                    <a:bodyPr/>
                    <a:lstStyle/>
                    <a:p>
                      <a:pPr algn="ctr" indent="0" marL="0">
                        <a:lnSpc>
                          <a:spcPts val="2380"/>
                        </a:lnSpc>
                        <a:buNone/>
                      </a:pPr>
                      <a:r>
                        <a:rPr lang="en-US" sz="1700" dirty="0">
                          <a:solidFill>
                            <a:srgbClr val="002060"/>
                          </a:solidFill>
                          <a:latin typeface="Carlito" pitchFamily="34" charset="0"/>
                          <a:ea typeface="Carlito" pitchFamily="34" charset="-122"/>
                          <a:cs typeface="Carlito" pitchFamily="34" charset="-120"/>
                        </a:rPr>
                        <a:t>−0.425</a:t>
                      </a:r>
                      <a:endParaRPr lang="en-US" sz="1700" dirty="0">
                        <a:latin typeface="Carlito" charset="0"/>
                        <a:ea typeface="Carlito" charset="0"/>
                        <a:cs typeface="Carlito" charset="0"/>
                      </a:endParaRPr>
                    </a:p>
                  </a:txBody>
                  <a:tcPr marL="75565" marR="75565" marT="75565" marB="75565" anchor="t">
                    <a:lnL w="12700" cap="flat" cmpd="sng" algn="ctr">
                      <a:solidFill>
                        <a:srgbClr val="BEC1C6"/>
                      </a:solidFill>
                      <a:prstDash val="solid"/>
                      <a:round/>
                      <a:headEnd type="none" w="med" len="med"/>
                      <a:tailEnd type="none" w="med" len="med"/>
                    </a:lnL>
                    <a:lnR w="12700" cap="flat" cmpd="sng" algn="ctr">
                      <a:solidFill>
                        <a:srgbClr val="BEC1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1C6"/>
                      </a:solidFill>
                      <a:prstDash val="solid"/>
                      <a:round/>
                      <a:headEnd type="none" w="med" len="med"/>
                      <a:tailEnd type="none" w="med" len="med"/>
                    </a:lnB>
                    <a:solidFill>
                      <a:srgbClr val="EEF2F8"/>
                    </a:solidFill>
                  </a:tcPr>
                </a:tc>
              </a:tr>
            </a:tbl>
          </a:graphicData>
        </a:graphic>
      </p:graphicFrame>
      <p:sp>
        <p:nvSpPr>
          <p:cNvPr id="7" name="Shape 2"/>
          <p:cNvSpPr/>
          <p:nvPr/>
        </p:nvSpPr>
        <p:spPr>
          <a:xfrm>
            <a:off x="619100" y="4574124"/>
            <a:ext cx="10953800" cy="913275"/>
          </a:xfrm>
          <a:prstGeom prst="rect">
            <a:avLst/>
          </a:prstGeom>
          <a:solidFill>
            <a:srgbClr val="E9EEF6"/>
          </a:solidFill>
          <a:ln w="19050">
            <a:solidFill>
              <a:srgbClr val="002060"/>
            </a:solidFill>
            <a:prstDash val="solid"/>
          </a:ln>
        </p:spPr>
      </p:sp>
      <p:sp>
        <p:nvSpPr>
          <p:cNvPr id="8" name="Text 3"/>
          <p:cNvSpPr/>
          <p:nvPr/>
        </p:nvSpPr>
        <p:spPr>
          <a:xfrm>
            <a:off x="2616165" y="4722813"/>
            <a:ext cx="6959629" cy="355592"/>
          </a:xfrm>
          <a:prstGeom prst="rect">
            <a:avLst/>
          </a:prstGeom>
          <a:noFill/>
          <a:ln/>
        </p:spPr>
        <p:txBody>
          <a:bodyPr wrap="square" lIns="0" tIns="0" rIns="0" bIns="0" rtlCol="0" anchor="t">
            <a:normAutofit/>
          </a:bodyPr>
          <a:lstStyle/>
          <a:p>
            <a:pPr algn="ctr" indent="0" marL="0">
              <a:lnSpc>
                <a:spcPts val="2600"/>
              </a:lnSpc>
              <a:buNone/>
            </a:pPr>
            <a:r>
              <a:rPr lang="en-US" sz="2000" dirty="0">
                <a:solidFill>
                  <a:srgbClr val="000000"/>
                </a:solidFill>
                <a:latin typeface="Carlito" pitchFamily="34" charset="0"/>
                <a:ea typeface="Carlito" pitchFamily="34" charset="-122"/>
                <a:cs typeface="Carlito" pitchFamily="34" charset="-120"/>
              </a:rPr>
              <a:t>Naive difference </a:t>
            </a:r>
            <a:r>
              <a:rPr lang="en-US" sz="2000" b="1" dirty="0">
                <a:solidFill>
                  <a:srgbClr val="002060"/>
                </a:solidFill>
                <a:latin typeface="Carlito" pitchFamily="34" charset="0"/>
                <a:ea typeface="Carlito" pitchFamily="34" charset="-122"/>
                <a:cs typeface="Carlito" pitchFamily="34" charset="-120"/>
              </a:rPr>
              <a:t>−0.425</a:t>
            </a:r>
            <a:r>
              <a:rPr lang="en-US" sz="2000" dirty="0">
                <a:solidFill>
                  <a:srgbClr val="000000"/>
                </a:solidFill>
                <a:latin typeface="Carlito" pitchFamily="34" charset="0"/>
                <a:ea typeface="Carlito" pitchFamily="34" charset="-122"/>
                <a:cs typeface="Carlito" pitchFamily="34" charset="-120"/>
              </a:rPr>
              <a:t> vs fair difference </a:t>
            </a:r>
            <a:r>
              <a:rPr lang="en-US" sz="2000" b="1" dirty="0">
                <a:solidFill>
                  <a:srgbClr val="002060"/>
                </a:solidFill>
                <a:latin typeface="Carlito" pitchFamily="34" charset="0"/>
                <a:ea typeface="Carlito" pitchFamily="34" charset="-122"/>
                <a:cs typeface="Carlito" pitchFamily="34" charset="-120"/>
              </a:rPr>
              <a:t>−0.15</a:t>
            </a:r>
            <a:r>
              <a:rPr lang="en-US" sz="2000" dirty="0">
                <a:solidFill>
                  <a:srgbClr val="000000"/>
                </a:solidFill>
                <a:latin typeface="Carlito" pitchFamily="34" charset="0"/>
                <a:ea typeface="Carlito" pitchFamily="34" charset="-122"/>
                <a:cs typeface="Carlito" pitchFamily="34" charset="-120"/>
              </a:rPr>
              <a:t> (about 3× too big)</a:t>
            </a:r>
            <a:endParaRPr lang="en-US" sz="2000" dirty="0"/>
          </a:p>
        </p:txBody>
      </p:sp>
      <p:sp>
        <p:nvSpPr>
          <p:cNvPr id="9" name="Text 4"/>
          <p:cNvSpPr/>
          <p:nvPr/>
        </p:nvSpPr>
        <p:spPr>
          <a:xfrm>
            <a:off x="3501942" y="5091078"/>
            <a:ext cx="5188115" cy="273033"/>
          </a:xfrm>
          <a:prstGeom prst="rect">
            <a:avLst/>
          </a:prstGeom>
          <a:noFill/>
          <a:ln/>
        </p:spPr>
        <p:txBody>
          <a:bodyPr wrap="square" lIns="0" tIns="0" rIns="0" bIns="0" rtlCol="0" anchor="t">
            <a:normAutofit/>
          </a:bodyPr>
          <a:lstStyle/>
          <a:p>
            <a:pPr algn="ctr" indent="0" marL="0">
              <a:lnSpc>
                <a:spcPts val="1950"/>
              </a:lnSpc>
              <a:buNone/>
            </a:pPr>
            <a:r>
              <a:rPr lang="en-US" sz="1500" dirty="0">
                <a:solidFill>
                  <a:srgbClr val="595959"/>
                </a:solidFill>
                <a:latin typeface="Carlito" pitchFamily="34" charset="0"/>
                <a:ea typeface="Carlito" pitchFamily="34" charset="-122"/>
                <a:cs typeface="Carlito" pitchFamily="34" charset="-120"/>
              </a:rPr>
              <a:t>Fair = compare like with like, then average: ½ × (−0.2) + ½ × (−0.1)</a:t>
            </a:r>
            <a:endParaRPr lang="en-US" sz="1500" dirty="0"/>
          </a:p>
        </p:txBody>
      </p:sp>
      <p:sp>
        <p:nvSpPr>
          <p:cNvPr id="10" name="Text 5"/>
          <p:cNvSpPr/>
          <p:nvPr/>
        </p:nvSpPr>
        <p:spPr>
          <a:xfrm>
            <a:off x="444982" y="5661999"/>
            <a:ext cx="11302035" cy="274315"/>
          </a:xfrm>
          <a:prstGeom prst="rect">
            <a:avLst/>
          </a:prstGeom>
          <a:noFill/>
          <a:ln/>
        </p:spPr>
        <p:txBody>
          <a:bodyPr wrap="square" lIns="0" tIns="0" rIns="0" bIns="0" rtlCol="0" anchor="t">
            <a:normAutofit/>
          </a:bodyPr>
          <a:lstStyle/>
          <a:p>
            <a:pPr algn="ctr" indent="0" marL="0">
              <a:lnSpc>
                <a:spcPts val="1960"/>
              </a:lnSpc>
              <a:buNone/>
            </a:pPr>
            <a:r>
              <a:rPr lang="en-US" sz="1400" i="1" dirty="0">
                <a:solidFill>
                  <a:srgbClr val="595959"/>
                </a:solidFill>
                <a:latin typeface="Carlito" pitchFamily="34" charset="0"/>
                <a:ea typeface="Carlito" pitchFamily="34" charset="-122"/>
                <a:cs typeface="Carlito" pitchFamily="34" charset="-120"/>
              </a:rPr>
              <a:t>Illustrative synthetic numbers; HbA1c change in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91"/>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Proposed System – How DiaCausal Works</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sp>
        <p:nvSpPr>
          <p:cNvPr id="5" name="Shape 1"/>
          <p:cNvSpPr/>
          <p:nvPr/>
        </p:nvSpPr>
        <p:spPr>
          <a:xfrm>
            <a:off x="619100" y="1311275"/>
            <a:ext cx="7283450" cy="450833"/>
          </a:xfrm>
          <a:prstGeom prst="rect">
            <a:avLst/>
          </a:prstGeom>
          <a:solidFill>
            <a:srgbClr val="FFFFFF"/>
          </a:solidFill>
          <a:ln w="19050">
            <a:solidFill>
              <a:srgbClr val="002060"/>
            </a:solidFill>
            <a:prstDash val="solid"/>
          </a:ln>
        </p:spPr>
        <p:txBody>
          <a:bodyPr/>
          <a:p/>
        </p:txBody>
      </p:sp>
      <p:sp>
        <p:nvSpPr>
          <p:cNvPr id="6" name="Text 2"/>
          <p:cNvSpPr/>
          <p:nvPr/>
        </p:nvSpPr>
        <p:spPr>
          <a:xfrm>
            <a:off x="805863" y="1376660"/>
            <a:ext cx="279375"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02060"/>
                </a:solidFill>
                <a:latin typeface="Carlito" pitchFamily="34" charset="0"/>
                <a:ea typeface="Carlito" pitchFamily="34" charset="-122"/>
                <a:cs typeface="Carlito" pitchFamily="34" charset="-120"/>
              </a:rPr>
              <a:t>1</a:t>
            </a:r>
            <a:endParaRPr lang="en-US" sz="1800" dirty="0"/>
          </a:p>
        </p:txBody>
      </p:sp>
      <p:sp>
        <p:nvSpPr>
          <p:cNvPr id="7" name="Text 3"/>
          <p:cNvSpPr/>
          <p:nvPr/>
        </p:nvSpPr>
        <p:spPr>
          <a:xfrm>
            <a:off x="1174130" y="1393816"/>
            <a:ext cx="6737907"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000000"/>
                </a:solidFill>
                <a:latin typeface="Carlito" pitchFamily="34" charset="0"/>
                <a:ea typeface="Carlito" pitchFamily="34" charset="-122"/>
                <a:cs typeface="Carlito" pitchFamily="34" charset="-120"/>
              </a:rPr>
              <a:t>Patient details</a:t>
            </a:r>
            <a:endParaRPr lang="en-US" sz="1800" dirty="0"/>
          </a:p>
        </p:txBody>
      </p:sp>
      <p:sp>
        <p:nvSpPr>
          <p:cNvPr id="8" name="Shape 4"/>
          <p:cNvSpPr/>
          <p:nvPr/>
        </p:nvSpPr>
        <p:spPr>
          <a:xfrm>
            <a:off x="619100" y="1984350"/>
            <a:ext cx="7283450" cy="450833"/>
          </a:xfrm>
          <a:prstGeom prst="rect">
            <a:avLst/>
          </a:prstGeom>
          <a:solidFill>
            <a:srgbClr val="FFFFFF"/>
          </a:solidFill>
          <a:ln w="19050">
            <a:solidFill>
              <a:srgbClr val="002060"/>
            </a:solidFill>
            <a:prstDash val="solid"/>
          </a:ln>
        </p:spPr>
        <p:txBody>
          <a:bodyPr/>
          <a:p/>
        </p:txBody>
      </p:sp>
      <p:sp>
        <p:nvSpPr>
          <p:cNvPr id="9" name="Text 5"/>
          <p:cNvSpPr/>
          <p:nvPr/>
        </p:nvSpPr>
        <p:spPr>
          <a:xfrm>
            <a:off x="805863" y="2049735"/>
            <a:ext cx="279375"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02060"/>
                </a:solidFill>
                <a:latin typeface="Carlito" pitchFamily="34" charset="0"/>
                <a:ea typeface="Carlito" pitchFamily="34" charset="-122"/>
                <a:cs typeface="Carlito" pitchFamily="34" charset="-120"/>
              </a:rPr>
              <a:t>2</a:t>
            </a:r>
            <a:endParaRPr lang="en-US" sz="1800" dirty="0"/>
          </a:p>
        </p:txBody>
      </p:sp>
      <p:sp>
        <p:nvSpPr>
          <p:cNvPr id="10" name="Text 6"/>
          <p:cNvSpPr/>
          <p:nvPr/>
        </p:nvSpPr>
        <p:spPr>
          <a:xfrm>
            <a:off x="1174130" y="2066891"/>
            <a:ext cx="6737907"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000000"/>
                </a:solidFill>
                <a:latin typeface="Carlito" pitchFamily="34" charset="0"/>
                <a:ea typeface="Carlito" pitchFamily="34" charset="-122"/>
                <a:cs typeface="Carlito" pitchFamily="34" charset="-120"/>
              </a:rPr>
              <a:t>Safety rules</a:t>
            </a:r>
            <a:r>
              <a:rPr lang="en-US" sz="1800" dirty="0">
                <a:solidFill>
                  <a:srgbClr val="000000"/>
                </a:solidFill>
                <a:latin typeface="Carlito" pitchFamily="34" charset="0"/>
                <a:ea typeface="Carlito" pitchFamily="34" charset="-122"/>
                <a:cs typeface="Carlito" pitchFamily="34" charset="-120"/>
              </a:rPr>
              <a:t> (cited drug labels)</a:t>
            </a:r>
            <a:endParaRPr lang="en-US" sz="1800" dirty="0"/>
          </a:p>
        </p:txBody>
      </p:sp>
      <p:sp>
        <p:nvSpPr>
          <p:cNvPr id="11" name="Shape 7"/>
          <p:cNvSpPr/>
          <p:nvPr/>
        </p:nvSpPr>
        <p:spPr>
          <a:xfrm>
            <a:off x="619100" y="2657466"/>
            <a:ext cx="7283450" cy="450833"/>
          </a:xfrm>
          <a:prstGeom prst="rect">
            <a:avLst/>
          </a:prstGeom>
          <a:solidFill>
            <a:srgbClr val="FFFFFF"/>
          </a:solidFill>
          <a:ln w="19050">
            <a:solidFill>
              <a:srgbClr val="002060"/>
            </a:solidFill>
            <a:prstDash val="solid"/>
          </a:ln>
        </p:spPr>
        <p:txBody>
          <a:bodyPr/>
          <a:p/>
        </p:txBody>
      </p:sp>
      <p:sp>
        <p:nvSpPr>
          <p:cNvPr id="12" name="Text 8"/>
          <p:cNvSpPr/>
          <p:nvPr/>
        </p:nvSpPr>
        <p:spPr>
          <a:xfrm>
            <a:off x="805863" y="2722851"/>
            <a:ext cx="279375"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02060"/>
                </a:solidFill>
                <a:latin typeface="Carlito" pitchFamily="34" charset="0"/>
                <a:ea typeface="Carlito" pitchFamily="34" charset="-122"/>
                <a:cs typeface="Carlito" pitchFamily="34" charset="-120"/>
              </a:rPr>
              <a:t>3</a:t>
            </a:r>
            <a:endParaRPr lang="en-US" sz="1800" dirty="0"/>
          </a:p>
        </p:txBody>
      </p:sp>
      <p:sp>
        <p:nvSpPr>
          <p:cNvPr id="13" name="Text 9"/>
          <p:cNvSpPr/>
          <p:nvPr/>
        </p:nvSpPr>
        <p:spPr>
          <a:xfrm>
            <a:off x="1174130" y="2740006"/>
            <a:ext cx="6737907"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000000"/>
                </a:solidFill>
                <a:latin typeface="Carlito" pitchFamily="34" charset="0"/>
                <a:ea typeface="Carlito" pitchFamily="34" charset="-122"/>
                <a:cs typeface="Carlito" pitchFamily="34" charset="-120"/>
              </a:rPr>
              <a:t>Propensity and overlap check</a:t>
            </a:r>
            <a:endParaRPr lang="en-US" sz="1800" dirty="0"/>
          </a:p>
        </p:txBody>
      </p:sp>
      <p:sp>
        <p:nvSpPr>
          <p:cNvPr id="14" name="Shape 10"/>
          <p:cNvSpPr/>
          <p:nvPr/>
        </p:nvSpPr>
        <p:spPr>
          <a:xfrm>
            <a:off x="619100" y="3330541"/>
            <a:ext cx="7283450" cy="692142"/>
          </a:xfrm>
          <a:prstGeom prst="rect">
            <a:avLst/>
          </a:prstGeom>
          <a:solidFill>
            <a:srgbClr val="FFFFFF"/>
          </a:solidFill>
          <a:ln w="19050">
            <a:solidFill>
              <a:srgbClr val="002060"/>
            </a:solidFill>
            <a:prstDash val="solid"/>
          </a:ln>
        </p:spPr>
        <p:txBody>
          <a:bodyPr/>
          <a:p/>
        </p:txBody>
      </p:sp>
      <p:sp>
        <p:nvSpPr>
          <p:cNvPr id="15" name="Text 11"/>
          <p:cNvSpPr/>
          <p:nvPr/>
        </p:nvSpPr>
        <p:spPr>
          <a:xfrm>
            <a:off x="805863" y="3516561"/>
            <a:ext cx="279375"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02060"/>
                </a:solidFill>
                <a:latin typeface="Carlito" pitchFamily="34" charset="0"/>
                <a:ea typeface="Carlito" pitchFamily="34" charset="-122"/>
                <a:cs typeface="Carlito" pitchFamily="34" charset="-120"/>
              </a:rPr>
              <a:t>4</a:t>
            </a:r>
            <a:endParaRPr lang="en-US" sz="1800" dirty="0"/>
          </a:p>
        </p:txBody>
      </p:sp>
      <p:sp>
        <p:nvSpPr>
          <p:cNvPr id="16" name="Text 12"/>
          <p:cNvSpPr/>
          <p:nvPr/>
        </p:nvSpPr>
        <p:spPr>
          <a:xfrm>
            <a:off x="1174130" y="3390841"/>
            <a:ext cx="6737907" cy="596900"/>
          </a:xfrm>
          <a:prstGeom prst="rect">
            <a:avLst/>
          </a:prstGeom>
          <a:noFill/>
          <a:ln/>
        </p:spPr>
        <p:txBody>
          <a:bodyPr wrap="square" lIns="0" tIns="0" rIns="0" bIns="0" rtlCol="0" anchor="t"/>
          <a:lstStyle/>
          <a:p>
            <a:pPr algn="l" indent="0" marL="0">
              <a:lnSpc>
                <a:spcPts val="2250"/>
              </a:lnSpc>
              <a:buNone/>
            </a:pPr>
            <a:r>
              <a:rPr lang="en-US" sz="1800" dirty="0">
                <a:solidFill>
                  <a:srgbClr val="000000"/>
                </a:solidFill>
                <a:latin typeface="Carlito" pitchFamily="34" charset="0"/>
                <a:ea typeface="Carlito" pitchFamily="34" charset="-122"/>
                <a:cs typeface="Carlito" pitchFamily="34" charset="-120"/>
              </a:rPr>
              <a:t>6-month HbA1c change, weight and low-sugar risk (95% ranges), or “insufficient evidence”</a:t>
            </a:r>
            <a:endParaRPr lang="en-US" sz="1800" dirty="0"/>
          </a:p>
        </p:txBody>
      </p:sp>
      <p:sp>
        <p:nvSpPr>
          <p:cNvPr id="17" name="Shape 13"/>
          <p:cNvSpPr/>
          <p:nvPr/>
        </p:nvSpPr>
        <p:spPr>
          <a:xfrm>
            <a:off x="619100" y="4244966"/>
            <a:ext cx="7283450" cy="450833"/>
          </a:xfrm>
          <a:prstGeom prst="rect">
            <a:avLst/>
          </a:prstGeom>
          <a:solidFill>
            <a:srgbClr val="FFFFFF"/>
          </a:solidFill>
          <a:ln w="19050">
            <a:solidFill>
              <a:srgbClr val="002060"/>
            </a:solidFill>
            <a:prstDash val="solid"/>
          </a:ln>
        </p:spPr>
        <p:txBody>
          <a:bodyPr/>
          <a:p/>
        </p:txBody>
      </p:sp>
      <p:sp>
        <p:nvSpPr>
          <p:cNvPr id="18" name="Text 14"/>
          <p:cNvSpPr/>
          <p:nvPr/>
        </p:nvSpPr>
        <p:spPr>
          <a:xfrm>
            <a:off x="805863" y="4310351"/>
            <a:ext cx="279375"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02060"/>
                </a:solidFill>
                <a:latin typeface="Carlito" pitchFamily="34" charset="0"/>
                <a:ea typeface="Carlito" pitchFamily="34" charset="-122"/>
                <a:cs typeface="Carlito" pitchFamily="34" charset="-120"/>
              </a:rPr>
              <a:t>5</a:t>
            </a:r>
            <a:endParaRPr lang="en-US" sz="1800" dirty="0"/>
          </a:p>
        </p:txBody>
      </p:sp>
      <p:sp>
        <p:nvSpPr>
          <p:cNvPr id="19" name="Text 15"/>
          <p:cNvSpPr/>
          <p:nvPr/>
        </p:nvSpPr>
        <p:spPr>
          <a:xfrm>
            <a:off x="1174130" y="4327506"/>
            <a:ext cx="6737907"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000000"/>
                </a:solidFill>
                <a:latin typeface="Carlito" pitchFamily="34" charset="0"/>
                <a:ea typeface="Carlito" pitchFamily="34" charset="-122"/>
                <a:cs typeface="Carlito" pitchFamily="34" charset="-120"/>
              </a:rPr>
              <a:t>Cost</a:t>
            </a:r>
            <a:r>
              <a:rPr lang="en-US" sz="1800" dirty="0">
                <a:solidFill>
                  <a:srgbClr val="000000"/>
                </a:solidFill>
                <a:latin typeface="Carlito" pitchFamily="34" charset="0"/>
                <a:ea typeface="Carlito" pitchFamily="34" charset="-122"/>
                <a:cs typeface="Carlito" pitchFamily="34" charset="-120"/>
              </a:rPr>
              <a:t> (INR/month)</a:t>
            </a:r>
            <a:endParaRPr lang="en-US" sz="1800" dirty="0"/>
          </a:p>
        </p:txBody>
      </p:sp>
      <p:sp>
        <p:nvSpPr>
          <p:cNvPr id="20" name="Shape 16"/>
          <p:cNvSpPr/>
          <p:nvPr/>
        </p:nvSpPr>
        <p:spPr>
          <a:xfrm>
            <a:off x="619100" y="4918041"/>
            <a:ext cx="7283450" cy="450833"/>
          </a:xfrm>
          <a:prstGeom prst="rect">
            <a:avLst/>
          </a:prstGeom>
          <a:solidFill>
            <a:srgbClr val="FFFFFF"/>
          </a:solidFill>
          <a:ln w="19050">
            <a:solidFill>
              <a:srgbClr val="002060"/>
            </a:solidFill>
            <a:prstDash val="dash"/>
          </a:ln>
        </p:spPr>
        <p:txBody>
          <a:bodyPr/>
          <a:p/>
        </p:txBody>
      </p:sp>
      <p:sp>
        <p:nvSpPr>
          <p:cNvPr id="21" name="Text 17"/>
          <p:cNvSpPr/>
          <p:nvPr/>
        </p:nvSpPr>
        <p:spPr>
          <a:xfrm>
            <a:off x="805863" y="4983426"/>
            <a:ext cx="279375"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02060"/>
                </a:solidFill>
                <a:latin typeface="Carlito" pitchFamily="34" charset="0"/>
                <a:ea typeface="Carlito" pitchFamily="34" charset="-122"/>
                <a:cs typeface="Carlito" pitchFamily="34" charset="-120"/>
              </a:rPr>
              <a:t>6</a:t>
            </a:r>
            <a:endParaRPr lang="en-US" sz="1800" dirty="0"/>
          </a:p>
        </p:txBody>
      </p:sp>
      <p:sp>
        <p:nvSpPr>
          <p:cNvPr id="22" name="Text 18"/>
          <p:cNvSpPr/>
          <p:nvPr/>
        </p:nvSpPr>
        <p:spPr>
          <a:xfrm>
            <a:off x="1174130" y="5000582"/>
            <a:ext cx="6737907" cy="311150"/>
          </a:xfrm>
          <a:prstGeom prst="rect">
            <a:avLst/>
          </a:prstGeom>
          <a:noFill/>
          <a:ln/>
        </p:spPr>
        <p:txBody>
          <a:bodyPr wrap="square" lIns="0" tIns="0" rIns="0" bIns="0" rtlCol="0" anchor="t"/>
          <a:lstStyle/>
          <a:p>
            <a:pPr algn="l" indent="0" marL="0">
              <a:lnSpc>
                <a:spcPts val="2250"/>
              </a:lnSpc>
              <a:buNone/>
            </a:pPr>
            <a:r>
              <a:rPr lang="en-US" sz="1800" b="1" dirty="0">
                <a:solidFill>
                  <a:srgbClr val="000000"/>
                </a:solidFill>
                <a:latin typeface="Carlito" pitchFamily="34" charset="0"/>
                <a:ea typeface="Carlito" pitchFamily="34" charset="-122"/>
                <a:cs typeface="Carlito" pitchFamily="34" charset="-120"/>
              </a:rPr>
              <a:t>Evidence with citations</a:t>
            </a:r>
            <a:r>
              <a:rPr lang="en-US" sz="1800" dirty="0">
                <a:solidFill>
                  <a:srgbClr val="000000"/>
                </a:solidFill>
                <a:latin typeface="Carlito" pitchFamily="34" charset="0"/>
                <a:ea typeface="Carlito" pitchFamily="34" charset="-122"/>
                <a:cs typeface="Carlito" pitchFamily="34" charset="-120"/>
              </a:rPr>
              <a:t> (RAG: quoted, cited passages)</a:t>
            </a:r>
            <a:endParaRPr lang="en-US" sz="1800" dirty="0"/>
          </a:p>
        </p:txBody>
      </p:sp>
      <p:sp>
        <p:nvSpPr>
          <p:cNvPr id="23" name="Shape 19"/>
          <p:cNvSpPr/>
          <p:nvPr/>
        </p:nvSpPr>
        <p:spPr>
          <a:xfrm>
            <a:off x="619100" y="5591156"/>
            <a:ext cx="7283450" cy="450833"/>
          </a:xfrm>
          <a:prstGeom prst="rect">
            <a:avLst/>
          </a:prstGeom>
          <a:solidFill>
            <a:srgbClr val="002060"/>
          </a:solidFill>
          <a:ln w="19050">
            <a:solidFill>
              <a:srgbClr val="002060"/>
            </a:solidFill>
            <a:prstDash val="solid"/>
          </a:ln>
        </p:spPr>
        <p:txBody>
          <a:bodyPr/>
          <a:p/>
        </p:txBody>
      </p:sp>
      <p:sp>
        <p:nvSpPr>
          <p:cNvPr id="24" name="Text 20"/>
          <p:cNvSpPr/>
          <p:nvPr/>
        </p:nvSpPr>
        <p:spPr>
          <a:xfrm>
            <a:off x="805863" y="5656542"/>
            <a:ext cx="279375"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FFFFF"/>
                </a:solidFill>
                <a:latin typeface="Carlito" pitchFamily="34" charset="0"/>
                <a:ea typeface="Carlito" pitchFamily="34" charset="-122"/>
                <a:cs typeface="Carlito" pitchFamily="34" charset="-120"/>
              </a:rPr>
              <a:t>7</a:t>
            </a:r>
            <a:endParaRPr lang="en-US" sz="1800" dirty="0"/>
          </a:p>
        </p:txBody>
      </p:sp>
      <p:sp>
        <p:nvSpPr>
          <p:cNvPr id="25" name="Text 21"/>
          <p:cNvSpPr/>
          <p:nvPr/>
        </p:nvSpPr>
        <p:spPr>
          <a:xfrm>
            <a:off x="1174130" y="5673700"/>
            <a:ext cx="6737907"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FFFFF"/>
                </a:solidFill>
                <a:latin typeface="Carlito" pitchFamily="34" charset="0"/>
                <a:ea typeface="Carlito" pitchFamily="34" charset="-122"/>
                <a:cs typeface="Carlito" pitchFamily="34" charset="-120"/>
              </a:rPr>
              <a:t>Doctor decides</a:t>
            </a:r>
            <a:endParaRPr lang="en-US" sz="1800" dirty="0"/>
          </a:p>
        </p:txBody>
      </p:sp>
      <p:pic>
        <p:nvPicPr>
          <p:cNvPr id="26" name="Image 2" descr="connector">    </p:cNvPr>
          <p:cNvPicPr>
            <a:picLocks noChangeAspect="1"/>
          </p:cNvPicPr>
          <p:nvPr/>
        </p:nvPicPr>
        <p:blipFill>
          <a:blip r:embed="rId3"/>
          <a:srcRect l="0" r="0" t="-7" b="-7"/>
          <a:stretch/>
        </p:blipFill>
        <p:spPr>
          <a:xfrm>
            <a:off x="4210017" y="1720825"/>
            <a:ext cx="101575" cy="304767"/>
          </a:xfrm>
          <a:prstGeom prst="rect">
            <a:avLst/>
          </a:prstGeom>
        </p:spPr>
      </p:pic>
      <p:pic>
        <p:nvPicPr>
          <p:cNvPr id="27" name="Image 3" descr="connector">    </p:cNvPr>
          <p:cNvPicPr>
            <a:picLocks noChangeAspect="1"/>
          </p:cNvPicPr>
          <p:nvPr/>
        </p:nvPicPr>
        <p:blipFill>
          <a:blip r:embed="rId4"/>
          <a:srcRect l="0" r="0" t="-7" b="-7"/>
          <a:stretch/>
        </p:blipFill>
        <p:spPr>
          <a:xfrm>
            <a:off x="4210017" y="2393941"/>
            <a:ext cx="101575" cy="304767"/>
          </a:xfrm>
          <a:prstGeom prst="rect">
            <a:avLst/>
          </a:prstGeom>
        </p:spPr>
      </p:pic>
      <p:pic>
        <p:nvPicPr>
          <p:cNvPr id="28" name="Image 4" descr="connector">    </p:cNvPr>
          <p:cNvPicPr>
            <a:picLocks noChangeAspect="1"/>
          </p:cNvPicPr>
          <p:nvPr/>
        </p:nvPicPr>
        <p:blipFill>
          <a:blip r:embed="rId5"/>
          <a:srcRect l="0" r="0" t="-7" b="-7"/>
          <a:stretch/>
        </p:blipFill>
        <p:spPr>
          <a:xfrm>
            <a:off x="4210017" y="3067016"/>
            <a:ext cx="101575" cy="304767"/>
          </a:xfrm>
          <a:prstGeom prst="rect">
            <a:avLst/>
          </a:prstGeom>
        </p:spPr>
      </p:pic>
      <p:pic>
        <p:nvPicPr>
          <p:cNvPr id="29" name="Image 5" descr="connector">    </p:cNvPr>
          <p:cNvPicPr>
            <a:picLocks noChangeAspect="1"/>
          </p:cNvPicPr>
          <p:nvPr/>
        </p:nvPicPr>
        <p:blipFill>
          <a:blip r:embed="rId6"/>
          <a:srcRect l="0" r="0" t="-7" b="-7"/>
          <a:stretch/>
        </p:blipFill>
        <p:spPr>
          <a:xfrm>
            <a:off x="4210017" y="3981441"/>
            <a:ext cx="101575" cy="304767"/>
          </a:xfrm>
          <a:prstGeom prst="rect">
            <a:avLst/>
          </a:prstGeom>
        </p:spPr>
      </p:pic>
      <p:pic>
        <p:nvPicPr>
          <p:cNvPr id="30" name="Image 6" descr="connector">    </p:cNvPr>
          <p:cNvPicPr>
            <a:picLocks noChangeAspect="1"/>
          </p:cNvPicPr>
          <p:nvPr/>
        </p:nvPicPr>
        <p:blipFill>
          <a:blip r:embed="rId7"/>
          <a:srcRect l="0" r="0" t="-7" b="-7"/>
          <a:stretch/>
        </p:blipFill>
        <p:spPr>
          <a:xfrm>
            <a:off x="4210017" y="4654516"/>
            <a:ext cx="101575" cy="304767"/>
          </a:xfrm>
          <a:prstGeom prst="rect">
            <a:avLst/>
          </a:prstGeom>
        </p:spPr>
      </p:pic>
      <p:pic>
        <p:nvPicPr>
          <p:cNvPr id="31" name="Image 7" descr="connector">    </p:cNvPr>
          <p:cNvPicPr>
            <a:picLocks noChangeAspect="1"/>
          </p:cNvPicPr>
          <p:nvPr/>
        </p:nvPicPr>
        <p:blipFill>
          <a:blip r:embed="rId8"/>
          <a:srcRect l="0" r="0" t="-7" b="-7"/>
          <a:stretch/>
        </p:blipFill>
        <p:spPr>
          <a:xfrm>
            <a:off x="4210017" y="5327631"/>
            <a:ext cx="101575" cy="304767"/>
          </a:xfrm>
          <a:prstGeom prst="rect">
            <a:avLst/>
          </a:prstGeom>
        </p:spPr>
      </p:pic>
      <p:sp>
        <p:nvSpPr>
          <p:cNvPr id="32" name="Shape 22"/>
          <p:cNvSpPr/>
          <p:nvPr/>
        </p:nvSpPr>
        <p:spPr>
          <a:xfrm>
            <a:off x="8455025" y="3121025"/>
            <a:ext cx="3117833" cy="1138089"/>
          </a:xfrm>
          <a:prstGeom prst="rect">
            <a:avLst/>
          </a:prstGeom>
          <a:solidFill>
            <a:srgbClr val="E9EEF6"/>
          </a:solidFill>
          <a:ln w="19050">
            <a:solidFill>
              <a:srgbClr val="002060"/>
            </a:solidFill>
            <a:prstDash val="solid"/>
          </a:ln>
        </p:spPr>
        <p:txBody>
          <a:bodyPr/>
          <a:p/>
        </p:txBody>
      </p:sp>
      <p:sp>
        <p:nvSpPr>
          <p:cNvPr id="33" name="Text 23"/>
          <p:cNvSpPr/>
          <p:nvPr/>
        </p:nvSpPr>
        <p:spPr>
          <a:xfrm>
            <a:off x="8893924" y="3282404"/>
            <a:ext cx="2239994" cy="345463"/>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002060"/>
                </a:solidFill>
                <a:latin typeface="Carlito" pitchFamily="34" charset="0"/>
                <a:ea typeface="Carlito" pitchFamily="34" charset="-122"/>
                <a:cs typeface="Carlito" pitchFamily="34" charset="-120"/>
              </a:rPr>
              <a:t>Every request is logged</a:t>
            </a:r>
            <a:endParaRPr lang="en-US" sz="1800" dirty="0"/>
          </a:p>
        </p:txBody>
      </p:sp>
      <p:sp>
        <p:nvSpPr>
          <p:cNvPr id="34" name="Text 24"/>
          <p:cNvSpPr/>
          <p:nvPr/>
        </p:nvSpPr>
        <p:spPr>
          <a:xfrm>
            <a:off x="8574478" y="3653234"/>
            <a:ext cx="2878927" cy="46990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000000"/>
                </a:solidFill>
                <a:latin typeface="Carlito" pitchFamily="34" charset="0"/>
                <a:ea typeface="Carlito" pitchFamily="34" charset="-122"/>
                <a:cs typeface="Carlito" pitchFamily="34" charset="-120"/>
              </a:rPr>
              <a:t>request ID, versions and decisions; no patient values</a:t>
            </a:r>
            <a:endParaRPr lang="en-US" sz="1400" dirty="0"/>
          </a:p>
        </p:txBody>
      </p:sp>
      <p:pic>
        <p:nvPicPr>
          <p:cNvPr id="35" name="Image 8" descr="connector">    </p:cNvPr>
          <p:cNvPicPr>
            <a:picLocks noChangeAspect="1"/>
          </p:cNvPicPr>
          <p:nvPr/>
        </p:nvPicPr>
        <p:blipFill>
          <a:blip r:embed="rId9"/>
          <a:srcRect l="-12" r="-12" t="0" b="0"/>
          <a:stretch/>
        </p:blipFill>
        <p:spPr>
          <a:xfrm>
            <a:off x="7861267" y="3625825"/>
            <a:ext cx="635000" cy="101575"/>
          </a:xfrm>
          <a:prstGeom prst="rect">
            <a:avLst/>
          </a:prstGeom>
        </p:spPr>
      </p:pic>
      <p:sp>
        <p:nvSpPr>
          <p:cNvPr id="36" name="Text 25"/>
          <p:cNvSpPr/>
          <p:nvPr/>
        </p:nvSpPr>
        <p:spPr>
          <a:xfrm>
            <a:off x="8398447" y="5560000"/>
            <a:ext cx="3230990" cy="520000"/>
          </a:xfrm>
          <a:prstGeom prst="rect">
            <a:avLst/>
          </a:prstGeom>
          <a:noFill/>
          <a:ln/>
        </p:spPr>
        <p:txBody>
          <a:bodyPr wrap="square" lIns="0" tIns="0" rIns="0" bIns="0" rtlCol="0" anchor="t"/>
          <a:lstStyle/>
          <a:p>
            <a:pPr algn="ctr" indent="0" marL="0">
              <a:lnSpc>
                <a:spcPts val="1820"/>
              </a:lnSpc>
              <a:buNone/>
            </a:pPr>
            <a:r>
              <a:rPr lang="en-US" sz="1300" i="1" dirty="0">
                <a:solidFill>
                  <a:srgbClr val="595959"/>
                </a:solidFill>
                <a:latin typeface="Carlito" pitchFamily="34" charset="0"/>
                <a:ea typeface="Carlito" pitchFamily="34" charset="-122"/>
                <a:cs typeface="Carlito" pitchFamily="34" charset="-120"/>
              </a:rPr>
              <a:t>Dashed = built separately; joins the chat app in October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91"/>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Proposed System – Block Diagram</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pic>
        <p:nvPicPr>
          <p:cNvPr id="5" name="Image 2" descr="Block diagram: a user question goes to the RAG pipeline and the causal pipeline in parallel; both feed the evidence fusion layer, prompt builder, diabetes-focused LLM and safety and validation layer before the final response">    </p:cNvPr>
          <p:cNvPicPr>
            <a:picLocks noChangeAspect="1"/>
          </p:cNvPicPr>
          <p:nvPr/>
        </p:nvPicPr>
        <p:blipFill>
          <a:blip r:embed="rId3"/>
          <a:srcRect l="-113" r="-113" t="0" b="0"/>
          <a:stretch/>
        </p:blipFill>
        <p:spPr>
          <a:xfrm>
            <a:off x="1689083" y="1282700"/>
            <a:ext cx="8813791" cy="4800600"/>
          </a:xfrm>
          <a:prstGeom prst="rect">
            <a:avLst/>
          </a:prstGeom>
        </p:spPr>
      </p:pic>
      <p:sp>
        <p:nvSpPr>
          <p:cNvPr id="6" name="Shape 1"/>
          <p:cNvSpPr/>
          <p:nvPr/>
        </p:nvSpPr>
        <p:spPr>
          <a:xfrm>
            <a:off x="1682733" y="1276350"/>
            <a:ext cx="8826491" cy="4813300"/>
          </a:xfrm>
          <a:prstGeom prst="rect">
            <a:avLst/>
          </a:prstGeom>
          <a:noFill/>
          <a:ln w="12700">
            <a:solidFill>
              <a:srgbClr val="BFBFBF"/>
            </a:solidFill>
            <a:prstDash val="solid"/>
          </a:ln>
        </p:spPr>
      </p:sp>
      <p:sp>
        <p:nvSpPr>
          <p:cNvPr id="7" name="Text 2"/>
          <p:cNvSpPr/>
          <p:nvPr/>
        </p:nvSpPr>
        <p:spPr>
          <a:xfrm>
            <a:off x="3167423" y="6210266"/>
            <a:ext cx="5857154" cy="309868"/>
          </a:xfrm>
          <a:prstGeom prst="rect">
            <a:avLst/>
          </a:prstGeom>
          <a:noFill/>
          <a:ln/>
        </p:spPr>
        <p:txBody>
          <a:bodyPr wrap="square" lIns="0" tIns="0" rIns="0" bIns="0" rtlCol="0" anchor="t">
            <a:normAutofit/>
          </a:bodyPr>
          <a:lstStyle/>
          <a:p>
            <a:pPr algn="ctr" indent="0" marL="0">
              <a:lnSpc>
                <a:spcPts val="2240"/>
              </a:lnSpc>
              <a:buNone/>
            </a:pPr>
            <a:r>
              <a:rPr lang="en-US" sz="1600" i="1" dirty="0">
                <a:solidFill>
                  <a:srgbClr val="595959"/>
                </a:solidFill>
                <a:latin typeface="Carlito" pitchFamily="34" charset="0"/>
                <a:ea typeface="Carlito" pitchFamily="34" charset="-122"/>
                <a:cs typeface="Carlito" pitchFamily="34" charset="-120"/>
              </a:rPr>
              <a:t>RAG and causal pipelines run in parallel, then meet in evidence fusion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91"/>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Proposed System – Flowchart</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pic>
        <p:nvPicPr>
          <p:cNvPr id="5" name="Image 2" descr="Detailed flowchart: RAG pipeline stages from document ingestion to retrieval fusion, causal inference pipeline stages from dataset ingestion to causal output, then evidence integration, prompt builder, context parser, diabetes-focused LLM, safety and validation, final response">    </p:cNvPr>
          <p:cNvPicPr>
            <a:picLocks noChangeAspect="1"/>
          </p:cNvPicPr>
          <p:nvPr/>
        </p:nvPicPr>
        <p:blipFill>
          <a:blip r:embed="rId3"/>
          <a:srcRect l="-113" r="-113" t="0" b="0"/>
          <a:stretch/>
        </p:blipFill>
        <p:spPr>
          <a:xfrm>
            <a:off x="1689083" y="1282700"/>
            <a:ext cx="8813791" cy="4800600"/>
          </a:xfrm>
          <a:prstGeom prst="rect">
            <a:avLst/>
          </a:prstGeom>
        </p:spPr>
      </p:pic>
      <p:sp>
        <p:nvSpPr>
          <p:cNvPr id="6" name="Shape 1"/>
          <p:cNvSpPr/>
          <p:nvPr/>
        </p:nvSpPr>
        <p:spPr>
          <a:xfrm>
            <a:off x="1682733" y="1276350"/>
            <a:ext cx="8826491" cy="4813300"/>
          </a:xfrm>
          <a:prstGeom prst="rect">
            <a:avLst/>
          </a:prstGeom>
          <a:noFill/>
          <a:ln w="12700">
            <a:solidFill>
              <a:srgbClr val="BFBFBF"/>
            </a:solidFill>
            <a:prstDash val="solid"/>
          </a:ln>
        </p:spPr>
      </p:sp>
      <p:sp>
        <p:nvSpPr>
          <p:cNvPr id="7" name="Text 2"/>
          <p:cNvSpPr/>
          <p:nvPr/>
        </p:nvSpPr>
        <p:spPr>
          <a:xfrm>
            <a:off x="3431342" y="6210266"/>
            <a:ext cx="5329315" cy="309868"/>
          </a:xfrm>
          <a:prstGeom prst="rect">
            <a:avLst/>
          </a:prstGeom>
          <a:noFill/>
          <a:ln/>
        </p:spPr>
        <p:txBody>
          <a:bodyPr wrap="square" lIns="0" tIns="0" rIns="0" bIns="0" rtlCol="0" anchor="t">
            <a:normAutofit/>
          </a:bodyPr>
          <a:lstStyle/>
          <a:p>
            <a:pPr algn="ctr" indent="0" marL="0">
              <a:lnSpc>
                <a:spcPts val="2240"/>
              </a:lnSpc>
              <a:buNone/>
            </a:pPr>
            <a:r>
              <a:rPr lang="en-US" sz="1600" i="1" dirty="0">
                <a:solidFill>
                  <a:srgbClr val="595959"/>
                </a:solidFill>
                <a:latin typeface="Carlito" pitchFamily="34" charset="0"/>
                <a:ea typeface="Carlito" pitchFamily="34" charset="-122"/>
                <a:cs typeface="Carlito" pitchFamily="34" charset="-120"/>
              </a:rPr>
              <a:t>Every stage from ingestion to final response, with safety checks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91"/>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Proposed System – Safety Rules</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sp>
        <p:nvSpPr>
          <p:cNvPr id="5" name="Shape 1"/>
          <p:cNvSpPr/>
          <p:nvPr/>
        </p:nvSpPr>
        <p:spPr>
          <a:xfrm>
            <a:off x="952459" y="1365250"/>
            <a:ext cx="457192" cy="457192"/>
          </a:xfrm>
          <a:prstGeom prst="roundRect">
            <a:avLst>
              <a:gd name="adj" fmla="val 50000"/>
            </a:avLst>
          </a:prstGeom>
          <a:solidFill>
            <a:srgbClr val="002060"/>
          </a:solidFill>
          <a:ln/>
        </p:spPr>
      </p:sp>
      <p:sp>
        <p:nvSpPr>
          <p:cNvPr id="6" name="Text 2"/>
          <p:cNvSpPr/>
          <p:nvPr/>
        </p:nvSpPr>
        <p:spPr>
          <a:xfrm>
            <a:off x="927059" y="1365250"/>
            <a:ext cx="507992" cy="482592"/>
          </a:xfrm>
          <a:prstGeom prst="rect">
            <a:avLst/>
          </a:prstGeom>
          <a:noFill/>
          <a:ln/>
        </p:spPr>
        <p:txBody>
          <a:bodyPr wrap="square" lIns="0" tIns="0" rIns="0" bIns="0" rtlCol="0" anchor="t">
            <a:normAutofit/>
          </a:bodyPr>
          <a:lstStyle/>
          <a:p>
            <a:pPr algn="ctr" indent="0" marL="0">
              <a:lnSpc>
                <a:spcPts val="3600"/>
              </a:lnSpc>
              <a:buNone/>
            </a:pPr>
            <a:r>
              <a:rPr lang="en-US" sz="1800" b="1" dirty="0">
                <a:solidFill>
                  <a:srgbClr val="FFFFFF"/>
                </a:solidFill>
                <a:latin typeface="Carlito" pitchFamily="34" charset="0"/>
                <a:ea typeface="Carlito" pitchFamily="34" charset="-122"/>
                <a:cs typeface="Carlito" pitchFamily="34" charset="-120"/>
              </a:rPr>
              <a:t>1</a:t>
            </a:r>
            <a:endParaRPr lang="en-US" sz="1800" dirty="0"/>
          </a:p>
        </p:txBody>
      </p:sp>
      <p:sp>
        <p:nvSpPr>
          <p:cNvPr id="7" name="Text 3"/>
          <p:cNvSpPr/>
          <p:nvPr/>
        </p:nvSpPr>
        <p:spPr>
          <a:xfrm>
            <a:off x="1612842" y="1389351"/>
            <a:ext cx="3270335" cy="434347"/>
          </a:xfrm>
          <a:prstGeom prst="rect">
            <a:avLst/>
          </a:prstGeom>
          <a:noFill/>
          <a:ln/>
        </p:spPr>
        <p:txBody>
          <a:bodyPr wrap="square" lIns="0" tIns="0" rIns="0" bIns="0" rtlCol="0" anchor="t">
            <a:normAutofit/>
          </a:bodyPr>
          <a:lstStyle/>
          <a:p>
            <a:pPr algn="l" indent="0" marL="0">
              <a:lnSpc>
                <a:spcPts val="3220"/>
              </a:lnSpc>
              <a:buNone/>
            </a:pPr>
            <a:r>
              <a:rPr lang="en-US" sz="2300" dirty="0">
                <a:solidFill>
                  <a:srgbClr val="000000"/>
                </a:solidFill>
                <a:latin typeface="Carlito" pitchFamily="34" charset="0"/>
                <a:ea typeface="Carlito" pitchFamily="34" charset="-122"/>
                <a:cs typeface="Carlito" pitchFamily="34" charset="-120"/>
              </a:rPr>
              <a:t>The </a:t>
            </a:r>
            <a:r>
              <a:rPr lang="en-US" sz="2300" b="1" dirty="0">
                <a:solidFill>
                  <a:srgbClr val="000000"/>
                </a:solidFill>
                <a:latin typeface="Carlito" pitchFamily="34" charset="0"/>
                <a:ea typeface="Carlito" pitchFamily="34" charset="-122"/>
                <a:cs typeface="Carlito" pitchFamily="34" charset="-120"/>
              </a:rPr>
              <a:t>doctor always decides</a:t>
            </a:r>
            <a:endParaRPr lang="en-US" sz="2300" dirty="0"/>
          </a:p>
        </p:txBody>
      </p:sp>
      <p:sp>
        <p:nvSpPr>
          <p:cNvPr id="8" name="Shape 4"/>
          <p:cNvSpPr/>
          <p:nvPr/>
        </p:nvSpPr>
        <p:spPr>
          <a:xfrm>
            <a:off x="952459" y="2000207"/>
            <a:ext cx="457192" cy="457192"/>
          </a:xfrm>
          <a:prstGeom prst="roundRect">
            <a:avLst>
              <a:gd name="adj" fmla="val 50000"/>
            </a:avLst>
          </a:prstGeom>
          <a:solidFill>
            <a:srgbClr val="002060"/>
          </a:solidFill>
          <a:ln/>
        </p:spPr>
      </p:sp>
      <p:sp>
        <p:nvSpPr>
          <p:cNvPr id="9" name="Text 5"/>
          <p:cNvSpPr/>
          <p:nvPr/>
        </p:nvSpPr>
        <p:spPr>
          <a:xfrm>
            <a:off x="927059" y="2000207"/>
            <a:ext cx="507992" cy="482592"/>
          </a:xfrm>
          <a:prstGeom prst="rect">
            <a:avLst/>
          </a:prstGeom>
          <a:noFill/>
          <a:ln/>
        </p:spPr>
        <p:txBody>
          <a:bodyPr wrap="square" lIns="0" tIns="0" rIns="0" bIns="0" rtlCol="0" anchor="t">
            <a:normAutofit/>
          </a:bodyPr>
          <a:lstStyle/>
          <a:p>
            <a:pPr algn="ctr" indent="0" marL="0">
              <a:lnSpc>
                <a:spcPts val="3600"/>
              </a:lnSpc>
              <a:buNone/>
            </a:pPr>
            <a:r>
              <a:rPr lang="en-US" sz="1800" b="1" dirty="0">
                <a:solidFill>
                  <a:srgbClr val="FFFFFF"/>
                </a:solidFill>
                <a:latin typeface="Carlito" pitchFamily="34" charset="0"/>
                <a:ea typeface="Carlito" pitchFamily="34" charset="-122"/>
                <a:cs typeface="Carlito" pitchFamily="34" charset="-120"/>
              </a:rPr>
              <a:t>2</a:t>
            </a:r>
            <a:endParaRPr lang="en-US" sz="1800" dirty="0"/>
          </a:p>
        </p:txBody>
      </p:sp>
      <p:sp>
        <p:nvSpPr>
          <p:cNvPr id="10" name="Text 6"/>
          <p:cNvSpPr/>
          <p:nvPr/>
        </p:nvSpPr>
        <p:spPr>
          <a:xfrm>
            <a:off x="1612842" y="2024311"/>
            <a:ext cx="4470363" cy="434347"/>
          </a:xfrm>
          <a:prstGeom prst="rect">
            <a:avLst/>
          </a:prstGeom>
          <a:noFill/>
          <a:ln/>
        </p:spPr>
        <p:txBody>
          <a:bodyPr wrap="square" lIns="0" tIns="0" rIns="0" bIns="0" rtlCol="0" anchor="t">
            <a:normAutofit/>
          </a:bodyPr>
          <a:lstStyle/>
          <a:p>
            <a:pPr algn="l" indent="0" marL="0">
              <a:lnSpc>
                <a:spcPts val="3220"/>
              </a:lnSpc>
              <a:buNone/>
            </a:pPr>
            <a:r>
              <a:rPr lang="en-US" sz="2300" b="1" dirty="0">
                <a:solidFill>
                  <a:srgbClr val="000000"/>
                </a:solidFill>
                <a:latin typeface="Carlito" pitchFamily="34" charset="0"/>
                <a:ea typeface="Carlito" pitchFamily="34" charset="-122"/>
                <a:cs typeface="Carlito" pitchFamily="34" charset="-120"/>
              </a:rPr>
              <a:t>Safety rules run before</a:t>
            </a:r>
            <a:r>
              <a:rPr lang="en-US" sz="2300" dirty="0">
                <a:solidFill>
                  <a:srgbClr val="000000"/>
                </a:solidFill>
                <a:latin typeface="Carlito" pitchFamily="34" charset="0"/>
                <a:ea typeface="Carlito" pitchFamily="34" charset="-122"/>
                <a:cs typeface="Carlito" pitchFamily="34" charset="-120"/>
              </a:rPr>
              <a:t> any estimate</a:t>
            </a:r>
            <a:endParaRPr lang="en-US" sz="2300" dirty="0"/>
          </a:p>
        </p:txBody>
      </p:sp>
      <p:sp>
        <p:nvSpPr>
          <p:cNvPr id="11" name="Shape 7"/>
          <p:cNvSpPr/>
          <p:nvPr/>
        </p:nvSpPr>
        <p:spPr>
          <a:xfrm>
            <a:off x="952459" y="2635166"/>
            <a:ext cx="457192" cy="457192"/>
          </a:xfrm>
          <a:prstGeom prst="roundRect">
            <a:avLst>
              <a:gd name="adj" fmla="val 50000"/>
            </a:avLst>
          </a:prstGeom>
          <a:solidFill>
            <a:srgbClr val="002060"/>
          </a:solidFill>
          <a:ln/>
        </p:spPr>
      </p:sp>
      <p:sp>
        <p:nvSpPr>
          <p:cNvPr id="12" name="Text 8"/>
          <p:cNvSpPr/>
          <p:nvPr/>
        </p:nvSpPr>
        <p:spPr>
          <a:xfrm>
            <a:off x="927059" y="2635166"/>
            <a:ext cx="507992" cy="482592"/>
          </a:xfrm>
          <a:prstGeom prst="rect">
            <a:avLst/>
          </a:prstGeom>
          <a:noFill/>
          <a:ln/>
        </p:spPr>
        <p:txBody>
          <a:bodyPr wrap="square" lIns="0" tIns="0" rIns="0" bIns="0" rtlCol="0" anchor="t">
            <a:normAutofit/>
          </a:bodyPr>
          <a:lstStyle/>
          <a:p>
            <a:pPr algn="ctr" indent="0" marL="0">
              <a:lnSpc>
                <a:spcPts val="3600"/>
              </a:lnSpc>
              <a:buNone/>
            </a:pPr>
            <a:r>
              <a:rPr lang="en-US" sz="1800" b="1" dirty="0">
                <a:solidFill>
                  <a:srgbClr val="FFFFFF"/>
                </a:solidFill>
                <a:latin typeface="Carlito" pitchFamily="34" charset="0"/>
                <a:ea typeface="Carlito" pitchFamily="34" charset="-122"/>
                <a:cs typeface="Carlito" pitchFamily="34" charset="-120"/>
              </a:rPr>
              <a:t>3</a:t>
            </a:r>
            <a:endParaRPr lang="en-US" sz="1800" dirty="0"/>
          </a:p>
        </p:txBody>
      </p:sp>
      <p:sp>
        <p:nvSpPr>
          <p:cNvPr id="13" name="Text 9"/>
          <p:cNvSpPr/>
          <p:nvPr/>
        </p:nvSpPr>
        <p:spPr>
          <a:xfrm>
            <a:off x="1612842" y="2659267"/>
            <a:ext cx="7205621" cy="434347"/>
          </a:xfrm>
          <a:prstGeom prst="rect">
            <a:avLst/>
          </a:prstGeom>
          <a:noFill/>
          <a:ln/>
        </p:spPr>
        <p:txBody>
          <a:bodyPr wrap="square" lIns="0" tIns="0" rIns="0" bIns="0" rtlCol="0" anchor="t">
            <a:normAutofit/>
          </a:bodyPr>
          <a:lstStyle/>
          <a:p>
            <a:pPr algn="l" indent="0" marL="0">
              <a:lnSpc>
                <a:spcPts val="3220"/>
              </a:lnSpc>
              <a:buNone/>
            </a:pPr>
            <a:r>
              <a:rPr lang="en-US" sz="2300" b="1" dirty="0">
                <a:solidFill>
                  <a:srgbClr val="000000"/>
                </a:solidFill>
                <a:latin typeface="Carlito" pitchFamily="34" charset="0"/>
                <a:ea typeface="Carlito" pitchFamily="34" charset="-122"/>
                <a:cs typeface="Carlito" pitchFamily="34" charset="-120"/>
              </a:rPr>
              <a:t>Doses and thresholds</a:t>
            </a:r>
            <a:r>
              <a:rPr lang="en-US" sz="2300" dirty="0">
                <a:solidFill>
                  <a:srgbClr val="000000"/>
                </a:solidFill>
                <a:latin typeface="Carlito" pitchFamily="34" charset="0"/>
                <a:ea typeface="Carlito" pitchFamily="34" charset="-122"/>
                <a:cs typeface="Carlito" pitchFamily="34" charset="-120"/>
              </a:rPr>
              <a:t> only from cited tables, never from AI</a:t>
            </a:r>
            <a:endParaRPr lang="en-US" sz="2300" dirty="0"/>
          </a:p>
        </p:txBody>
      </p:sp>
      <p:sp>
        <p:nvSpPr>
          <p:cNvPr id="14" name="Shape 10"/>
          <p:cNvSpPr/>
          <p:nvPr/>
        </p:nvSpPr>
        <p:spPr>
          <a:xfrm>
            <a:off x="952459" y="3270126"/>
            <a:ext cx="457192" cy="457192"/>
          </a:xfrm>
          <a:prstGeom prst="roundRect">
            <a:avLst>
              <a:gd name="adj" fmla="val 50000"/>
            </a:avLst>
          </a:prstGeom>
          <a:solidFill>
            <a:srgbClr val="002060"/>
          </a:solidFill>
          <a:ln/>
        </p:spPr>
      </p:sp>
      <p:sp>
        <p:nvSpPr>
          <p:cNvPr id="15" name="Text 11"/>
          <p:cNvSpPr/>
          <p:nvPr/>
        </p:nvSpPr>
        <p:spPr>
          <a:xfrm>
            <a:off x="927059" y="3270126"/>
            <a:ext cx="507992" cy="482592"/>
          </a:xfrm>
          <a:prstGeom prst="rect">
            <a:avLst/>
          </a:prstGeom>
          <a:noFill/>
          <a:ln/>
        </p:spPr>
        <p:txBody>
          <a:bodyPr wrap="square" lIns="0" tIns="0" rIns="0" bIns="0" rtlCol="0" anchor="t">
            <a:normAutofit/>
          </a:bodyPr>
          <a:lstStyle/>
          <a:p>
            <a:pPr algn="ctr" indent="0" marL="0">
              <a:lnSpc>
                <a:spcPts val="3600"/>
              </a:lnSpc>
              <a:buNone/>
            </a:pPr>
            <a:r>
              <a:rPr lang="en-US" sz="1800" b="1" dirty="0">
                <a:solidFill>
                  <a:srgbClr val="FFFFFF"/>
                </a:solidFill>
                <a:latin typeface="Carlito" pitchFamily="34" charset="0"/>
                <a:ea typeface="Carlito" pitchFamily="34" charset="-122"/>
                <a:cs typeface="Carlito" pitchFamily="34" charset="-120"/>
              </a:rPr>
              <a:t>4</a:t>
            </a:r>
            <a:endParaRPr lang="en-US" sz="1800" dirty="0"/>
          </a:p>
        </p:txBody>
      </p:sp>
      <p:sp>
        <p:nvSpPr>
          <p:cNvPr id="16" name="Text 12"/>
          <p:cNvSpPr/>
          <p:nvPr/>
        </p:nvSpPr>
        <p:spPr>
          <a:xfrm>
            <a:off x="1612842" y="3294227"/>
            <a:ext cx="4951192" cy="434347"/>
          </a:xfrm>
          <a:prstGeom prst="rect">
            <a:avLst/>
          </a:prstGeom>
          <a:noFill/>
          <a:ln/>
        </p:spPr>
        <p:txBody>
          <a:bodyPr wrap="square" lIns="0" tIns="0" rIns="0" bIns="0" rtlCol="0" anchor="t">
            <a:normAutofit/>
          </a:bodyPr>
          <a:lstStyle/>
          <a:p>
            <a:pPr algn="l" indent="0" marL="0">
              <a:lnSpc>
                <a:spcPts val="3220"/>
              </a:lnSpc>
              <a:buNone/>
            </a:pPr>
            <a:r>
              <a:rPr lang="en-US" sz="2300" b="1" dirty="0">
                <a:solidFill>
                  <a:srgbClr val="000000"/>
                </a:solidFill>
                <a:latin typeface="Carlito" pitchFamily="34" charset="0"/>
                <a:ea typeface="Carlito" pitchFamily="34" charset="-122"/>
                <a:cs typeface="Carlito" pitchFamily="34" charset="-120"/>
              </a:rPr>
              <a:t>Refuse to guess</a:t>
            </a:r>
            <a:r>
              <a:rPr lang="en-US" sz="2300" dirty="0">
                <a:solidFill>
                  <a:srgbClr val="000000"/>
                </a:solidFill>
                <a:latin typeface="Carlito" pitchFamily="34" charset="0"/>
                <a:ea typeface="Carlito" pitchFamily="34" charset="-122"/>
                <a:cs typeface="Carlito" pitchFamily="34" charset="-120"/>
              </a:rPr>
              <a:t> (“insufficient evidence”)</a:t>
            </a:r>
            <a:endParaRPr lang="en-US" sz="2300" dirty="0"/>
          </a:p>
        </p:txBody>
      </p:sp>
      <p:sp>
        <p:nvSpPr>
          <p:cNvPr id="17" name="Shape 13"/>
          <p:cNvSpPr/>
          <p:nvPr/>
        </p:nvSpPr>
        <p:spPr>
          <a:xfrm>
            <a:off x="952459" y="3905083"/>
            <a:ext cx="457192" cy="457192"/>
          </a:xfrm>
          <a:prstGeom prst="roundRect">
            <a:avLst>
              <a:gd name="adj" fmla="val 50000"/>
            </a:avLst>
          </a:prstGeom>
          <a:solidFill>
            <a:srgbClr val="002060"/>
          </a:solidFill>
          <a:ln/>
        </p:spPr>
      </p:sp>
      <p:sp>
        <p:nvSpPr>
          <p:cNvPr id="18" name="Text 14"/>
          <p:cNvSpPr/>
          <p:nvPr/>
        </p:nvSpPr>
        <p:spPr>
          <a:xfrm>
            <a:off x="927059" y="3905083"/>
            <a:ext cx="507992" cy="482592"/>
          </a:xfrm>
          <a:prstGeom prst="rect">
            <a:avLst/>
          </a:prstGeom>
          <a:noFill/>
          <a:ln/>
        </p:spPr>
        <p:txBody>
          <a:bodyPr wrap="square" lIns="0" tIns="0" rIns="0" bIns="0" rtlCol="0" anchor="t">
            <a:normAutofit/>
          </a:bodyPr>
          <a:lstStyle/>
          <a:p>
            <a:pPr algn="ctr" indent="0" marL="0">
              <a:lnSpc>
                <a:spcPts val="3600"/>
              </a:lnSpc>
              <a:buNone/>
            </a:pPr>
            <a:r>
              <a:rPr lang="en-US" sz="1800" b="1" dirty="0">
                <a:solidFill>
                  <a:srgbClr val="FFFFFF"/>
                </a:solidFill>
                <a:latin typeface="Carlito" pitchFamily="34" charset="0"/>
                <a:ea typeface="Carlito" pitchFamily="34" charset="-122"/>
                <a:cs typeface="Carlito" pitchFamily="34" charset="-120"/>
              </a:rPr>
              <a:t>5</a:t>
            </a:r>
            <a:endParaRPr lang="en-US" sz="1800" dirty="0"/>
          </a:p>
        </p:txBody>
      </p:sp>
      <p:sp>
        <p:nvSpPr>
          <p:cNvPr id="19" name="Text 15"/>
          <p:cNvSpPr/>
          <p:nvPr/>
        </p:nvSpPr>
        <p:spPr>
          <a:xfrm>
            <a:off x="1612842" y="3929187"/>
            <a:ext cx="3855148" cy="434347"/>
          </a:xfrm>
          <a:prstGeom prst="rect">
            <a:avLst/>
          </a:prstGeom>
          <a:noFill/>
          <a:ln/>
        </p:spPr>
        <p:txBody>
          <a:bodyPr wrap="square" lIns="0" tIns="0" rIns="0" bIns="0" rtlCol="0" anchor="t">
            <a:normAutofit/>
          </a:bodyPr>
          <a:lstStyle/>
          <a:p>
            <a:pPr algn="l" indent="0" marL="0">
              <a:lnSpc>
                <a:spcPts val="3220"/>
              </a:lnSpc>
              <a:buNone/>
            </a:pPr>
            <a:r>
              <a:rPr lang="en-US" sz="2300" dirty="0">
                <a:solidFill>
                  <a:srgbClr val="000000"/>
                </a:solidFill>
                <a:latin typeface="Carlito" pitchFamily="34" charset="0"/>
                <a:ea typeface="Carlito" pitchFamily="34" charset="-122"/>
                <a:cs typeface="Carlito" pitchFamily="34" charset="-120"/>
              </a:rPr>
              <a:t>Every estimate has a </a:t>
            </a:r>
            <a:r>
              <a:rPr lang="en-US" sz="2300" b="1" dirty="0">
                <a:solidFill>
                  <a:srgbClr val="000000"/>
                </a:solidFill>
                <a:latin typeface="Carlito" pitchFamily="34" charset="0"/>
                <a:ea typeface="Carlito" pitchFamily="34" charset="-122"/>
                <a:cs typeface="Carlito" pitchFamily="34" charset="-120"/>
              </a:rPr>
              <a:t>95% range</a:t>
            </a:r>
            <a:endParaRPr lang="en-US" sz="2300" dirty="0"/>
          </a:p>
        </p:txBody>
      </p:sp>
      <p:sp>
        <p:nvSpPr>
          <p:cNvPr id="20" name="Shape 16"/>
          <p:cNvSpPr/>
          <p:nvPr/>
        </p:nvSpPr>
        <p:spPr>
          <a:xfrm>
            <a:off x="952459" y="4540039"/>
            <a:ext cx="457192" cy="457192"/>
          </a:xfrm>
          <a:prstGeom prst="roundRect">
            <a:avLst>
              <a:gd name="adj" fmla="val 50000"/>
            </a:avLst>
          </a:prstGeom>
          <a:solidFill>
            <a:srgbClr val="002060"/>
          </a:solidFill>
          <a:ln/>
        </p:spPr>
      </p:sp>
      <p:sp>
        <p:nvSpPr>
          <p:cNvPr id="21" name="Text 17"/>
          <p:cNvSpPr/>
          <p:nvPr/>
        </p:nvSpPr>
        <p:spPr>
          <a:xfrm>
            <a:off x="927059" y="4540039"/>
            <a:ext cx="507992" cy="482592"/>
          </a:xfrm>
          <a:prstGeom prst="rect">
            <a:avLst/>
          </a:prstGeom>
          <a:noFill/>
          <a:ln/>
        </p:spPr>
        <p:txBody>
          <a:bodyPr wrap="square" lIns="0" tIns="0" rIns="0" bIns="0" rtlCol="0" anchor="t">
            <a:normAutofit/>
          </a:bodyPr>
          <a:lstStyle/>
          <a:p>
            <a:pPr algn="ctr" indent="0" marL="0">
              <a:lnSpc>
                <a:spcPts val="3600"/>
              </a:lnSpc>
              <a:buNone/>
            </a:pPr>
            <a:r>
              <a:rPr lang="en-US" sz="1800" b="1" dirty="0">
                <a:solidFill>
                  <a:srgbClr val="FFFFFF"/>
                </a:solidFill>
                <a:latin typeface="Carlito" pitchFamily="34" charset="0"/>
                <a:ea typeface="Carlito" pitchFamily="34" charset="-122"/>
                <a:cs typeface="Carlito" pitchFamily="34" charset="-120"/>
              </a:rPr>
              <a:t>6</a:t>
            </a:r>
            <a:endParaRPr lang="en-US" sz="1800" dirty="0"/>
          </a:p>
        </p:txBody>
      </p:sp>
      <p:sp>
        <p:nvSpPr>
          <p:cNvPr id="22" name="Text 18"/>
          <p:cNvSpPr/>
          <p:nvPr/>
        </p:nvSpPr>
        <p:spPr>
          <a:xfrm>
            <a:off x="1612842" y="4564143"/>
            <a:ext cx="2820463" cy="434347"/>
          </a:xfrm>
          <a:prstGeom prst="rect">
            <a:avLst/>
          </a:prstGeom>
          <a:noFill/>
          <a:ln/>
        </p:spPr>
        <p:txBody>
          <a:bodyPr wrap="square" lIns="0" tIns="0" rIns="0" bIns="0" rtlCol="0" anchor="t">
            <a:normAutofit/>
          </a:bodyPr>
          <a:lstStyle/>
          <a:p>
            <a:pPr algn="l" indent="0" marL="0">
              <a:lnSpc>
                <a:spcPts val="3220"/>
              </a:lnSpc>
              <a:buNone/>
            </a:pPr>
            <a:r>
              <a:rPr lang="en-US" sz="2300" dirty="0">
                <a:solidFill>
                  <a:srgbClr val="000000"/>
                </a:solidFill>
                <a:latin typeface="Carlito" pitchFamily="34" charset="0"/>
                <a:ea typeface="Carlito" pitchFamily="34" charset="-122"/>
                <a:cs typeface="Carlito" pitchFamily="34" charset="-120"/>
              </a:rPr>
              <a:t>Every request is </a:t>
            </a:r>
            <a:r>
              <a:rPr lang="en-US" sz="2300" b="1" dirty="0">
                <a:solidFill>
                  <a:srgbClr val="000000"/>
                </a:solidFill>
                <a:latin typeface="Carlito" pitchFamily="34" charset="0"/>
                <a:ea typeface="Carlito" pitchFamily="34" charset="-122"/>
                <a:cs typeface="Carlito" pitchFamily="34" charset="-120"/>
              </a:rPr>
              <a:t>logged</a:t>
            </a:r>
            <a:endParaRPr lang="en-US" sz="2300" dirty="0"/>
          </a:p>
        </p:txBody>
      </p:sp>
      <p:sp>
        <p:nvSpPr>
          <p:cNvPr id="23" name="Shape 19"/>
          <p:cNvSpPr/>
          <p:nvPr/>
        </p:nvSpPr>
        <p:spPr>
          <a:xfrm>
            <a:off x="619100" y="5286139"/>
            <a:ext cx="10953800" cy="942545"/>
          </a:xfrm>
          <a:prstGeom prst="rect">
            <a:avLst/>
          </a:prstGeom>
          <a:solidFill>
            <a:srgbClr val="E9EEF6"/>
          </a:solidFill>
          <a:ln w="19050">
            <a:solidFill>
              <a:srgbClr val="002060"/>
            </a:solidFill>
            <a:prstDash val="solid"/>
          </a:ln>
        </p:spPr>
      </p:sp>
      <p:sp>
        <p:nvSpPr>
          <p:cNvPr id="24" name="Text 20"/>
          <p:cNvSpPr/>
          <p:nvPr/>
        </p:nvSpPr>
        <p:spPr>
          <a:xfrm>
            <a:off x="856671" y="5460212"/>
            <a:ext cx="10793017" cy="619803"/>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002060"/>
                </a:solidFill>
                <a:latin typeface="Carlito" pitchFamily="34" charset="0"/>
                <a:ea typeface="Carlito" pitchFamily="34" charset="-122"/>
                <a:cs typeface="Carlito" pitchFamily="34" charset="-120"/>
              </a:rPr>
              <a:t>Intended use:</a:t>
            </a:r>
            <a:r>
              <a:rPr lang="en-US" sz="1800" dirty="0">
                <a:solidFill>
                  <a:srgbClr val="000000"/>
                </a:solidFill>
                <a:latin typeface="Carlito" pitchFamily="34" charset="0"/>
                <a:ea typeface="Carlito" pitchFamily="34" charset="-122"/>
                <a:cs typeface="Carlito" pitchFamily="34" charset="-120"/>
              </a:rPr>
              <a:t> Research prototype for clinician evaluation; not a marketed medical device; not for unsupervised clinical use.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Hardware &amp; Software Requirements</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0159" y="1375833"/>
          <a:ext cx="10962266" cy="3413373"/>
        </p:xfrm>
        <a:graphic>
          <a:graphicData uri="http://schemas.openxmlformats.org/drawingml/2006/table">
            <a:tbl>
              <a:tblPr/>
              <a:tblGrid>
                <a:gridCol w="2082831"/>
                <a:gridCol w="3398303"/>
                <a:gridCol w="5481133"/>
              </a:tblGrid>
              <a:tr h="490637">
                <a:tc>
                  <a:txBody>
                    <a:bodyPr/>
                    <a:lstStyle/>
                    <a:p>
                      <a:pPr indent="0" marL="0">
                        <a:lnSpc>
                          <a:spcPts val="2520"/>
                        </a:lnSpc>
                        <a:buNone/>
                      </a:pPr>
                      <a:r>
                        <a:rPr lang="en-US" sz="1800" b="1" dirty="0">
                          <a:solidFill>
                            <a:srgbClr val="FFFFFF"/>
                          </a:solidFill>
                          <a:latin typeface="Carlito" pitchFamily="34" charset="0"/>
                          <a:ea typeface="Carlito" pitchFamily="34" charset="-122"/>
                          <a:cs typeface="Carlito" pitchFamily="34" charset="-120"/>
                        </a:rPr>
                        <a:t>Tier</a:t>
                      </a:r>
                      <a:endParaRPr lang="en-US" sz="1800" dirty="0">
                        <a:latin typeface="Carlito" charset="0"/>
                        <a:ea typeface="Carlito" charset="0"/>
                        <a:cs typeface="Carlito"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2520"/>
                        </a:lnSpc>
                        <a:buNone/>
                      </a:pPr>
                      <a:r>
                        <a:rPr lang="en-US" sz="1800" b="1" dirty="0">
                          <a:solidFill>
                            <a:srgbClr val="FFFFFF"/>
                          </a:solidFill>
                          <a:latin typeface="Carlito" pitchFamily="34" charset="0"/>
                          <a:ea typeface="Carlito" pitchFamily="34" charset="-122"/>
                          <a:cs typeface="Carlito" pitchFamily="34" charset="-120"/>
                        </a:rPr>
                        <a:t>Hardware</a:t>
                      </a:r>
                      <a:endParaRPr lang="en-US" sz="1800" dirty="0">
                        <a:latin typeface="Carlito" charset="0"/>
                        <a:ea typeface="Carlito" charset="0"/>
                        <a:cs typeface="Carlito" charset="0"/>
                      </a:endParaRPr>
                    </a:p>
                  </a:txBody>
                  <a:tcPr marL="80010" marR="80010" marT="80010" marB="80010"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2520"/>
                        </a:lnSpc>
                        <a:buNone/>
                      </a:pPr>
                      <a:r>
                        <a:rPr lang="en-US" sz="1800" b="1" dirty="0">
                          <a:solidFill>
                            <a:srgbClr val="FFFFFF"/>
                          </a:solidFill>
                          <a:latin typeface="Carlito" pitchFamily="34" charset="0"/>
                          <a:ea typeface="Carlito" pitchFamily="34" charset="-122"/>
                          <a:cs typeface="Carlito" pitchFamily="34" charset="-120"/>
                        </a:rPr>
                        <a:t>Software</a:t>
                      </a:r>
                      <a:endParaRPr lang="en-US" sz="1800" dirty="0">
                        <a:latin typeface="Carlito" charset="0"/>
                        <a:ea typeface="Carlito" charset="0"/>
                        <a:cs typeface="Carlito" charset="0"/>
                      </a:endParaRPr>
                    </a:p>
                  </a:txBody>
                  <a:tcPr marL="80010" marR="80010" marT="80010" marB="80010"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r>
              <a:tr h="810700">
                <a:tc>
                  <a:txBody>
                    <a:bodyPr/>
                    <a:lstStyle/>
                    <a:p>
                      <a:pPr indent="0" marL="0">
                        <a:lnSpc>
                          <a:spcPts val="2520"/>
                        </a:lnSpc>
                        <a:buNone/>
                      </a:pPr>
                      <a:r>
                        <a:rPr lang="en-US" sz="1800" dirty="0">
                          <a:solidFill>
                            <a:srgbClr val="002060"/>
                          </a:solidFill>
                          <a:latin typeface="Carlito" pitchFamily="34" charset="0"/>
                          <a:ea typeface="Carlito" pitchFamily="34" charset="-122"/>
                          <a:cs typeface="Carlito" pitchFamily="34" charset="-120"/>
                        </a:rPr>
                        <a:t>Development</a:t>
                      </a:r>
                      <a:endParaRPr lang="en-US" sz="1800" dirty="0">
                        <a:latin typeface="Carlito" charset="0"/>
                        <a:ea typeface="Carlito" charset="0"/>
                        <a:cs typeface="Carlito"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000000"/>
                          </a:solidFill>
                          <a:latin typeface="Carlito" pitchFamily="34" charset="0"/>
                          <a:ea typeface="Carlito" pitchFamily="34" charset="-122"/>
                          <a:cs typeface="Carlito" pitchFamily="34" charset="-120"/>
                        </a:rPr>
                        <a:t>Laptop with 8 GB+ RAM (MacBook Air, Apple silicon)</a:t>
                      </a:r>
                      <a:endParaRPr lang="en-US" sz="1800" dirty="0">
                        <a:latin typeface="Carlito" charset="0"/>
                        <a:ea typeface="Carlito" charset="0"/>
                        <a:cs typeface="Carlito"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000000"/>
                          </a:solidFill>
                          <a:latin typeface="Carlito" pitchFamily="34" charset="0"/>
                          <a:ea typeface="Carlito" pitchFamily="34" charset="-122"/>
                          <a:cs typeface="Carlito" pitchFamily="34" charset="-120"/>
                        </a:rPr>
                        <a:t>Python 3.12, NumPy, pandas, scikit-learn, Matplotlib, pytest, Git/GitHub, Claude Code</a:t>
                      </a:r>
                      <a:endParaRPr lang="en-US" sz="1800" dirty="0">
                        <a:latin typeface="Carlito" charset="0"/>
                        <a:ea typeface="Carlito" charset="0"/>
                        <a:cs typeface="Carlito"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810700">
                <a:tc>
                  <a:txBody>
                    <a:bodyPr/>
                    <a:lstStyle/>
                    <a:p>
                      <a:pPr indent="0" marL="0">
                        <a:lnSpc>
                          <a:spcPts val="2520"/>
                        </a:lnSpc>
                        <a:buNone/>
                      </a:pPr>
                      <a:r>
                        <a:rPr lang="en-US" sz="1800" dirty="0">
                          <a:solidFill>
                            <a:srgbClr val="002060"/>
                          </a:solidFill>
                          <a:latin typeface="Carlito" pitchFamily="34" charset="0"/>
                          <a:ea typeface="Carlito" pitchFamily="34" charset="-122"/>
                          <a:cs typeface="Carlito" pitchFamily="34" charset="-120"/>
                        </a:rPr>
                        <a:t>Demo</a:t>
                      </a:r>
                      <a:endParaRPr lang="en-US" sz="1800" dirty="0">
                        <a:latin typeface="Carlito" charset="0"/>
                        <a:ea typeface="Carlito" charset="0"/>
                        <a:cs typeface="Carlito"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2520"/>
                        </a:lnSpc>
                        <a:buNone/>
                      </a:pPr>
                      <a:r>
                        <a:rPr lang="en-US" sz="1800" dirty="0">
                          <a:solidFill>
                            <a:srgbClr val="000000"/>
                          </a:solidFill>
                          <a:latin typeface="Carlito" pitchFamily="34" charset="0"/>
                          <a:ea typeface="Carlito" pitchFamily="34" charset="-122"/>
                          <a:cs typeface="Carlito" pitchFamily="34" charset="-120"/>
                        </a:rPr>
                        <a:t>Same laptop, offline; or the website (diacausal.netlify.app)</a:t>
                      </a:r>
                      <a:endParaRPr lang="en-US" sz="1800" dirty="0">
                        <a:latin typeface="Carlito" charset="0"/>
                        <a:ea typeface="Carlito" charset="0"/>
                        <a:cs typeface="Carlito" charset="0"/>
                      </a:endParaRPr>
                    </a:p>
                  </a:txBody>
                  <a:tcPr marL="80010" marR="80010" marT="80010" marB="8001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2520"/>
                        </a:lnSpc>
                        <a:buNone/>
                      </a:pPr>
                      <a:r>
                        <a:rPr lang="en-US" sz="1800" dirty="0">
                          <a:solidFill>
                            <a:srgbClr val="000000"/>
                          </a:solidFill>
                          <a:latin typeface="Carlito" pitchFamily="34" charset="0"/>
                          <a:ea typeface="Carlito" pitchFamily="34" charset="-122"/>
                          <a:cs typeface="Carlito" pitchFamily="34" charset="-120"/>
                        </a:rPr>
                        <a:t>Streamlit, FastAPI, Uvicorn; website on Netlify with Supabase accounts</a:t>
                      </a:r>
                      <a:endParaRPr lang="en-US" sz="1800" dirty="0">
                        <a:latin typeface="Carlito" charset="0"/>
                        <a:ea typeface="Carlito" charset="0"/>
                        <a:cs typeface="Carlito" charset="0"/>
                      </a:endParaRPr>
                    </a:p>
                  </a:txBody>
                  <a:tcPr marL="80010" marR="80010" marT="80010" marB="8001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490637">
                <a:tc>
                  <a:txBody>
                    <a:bodyPr/>
                    <a:lstStyle/>
                    <a:p>
                      <a:pPr indent="0" marL="0">
                        <a:lnSpc>
                          <a:spcPts val="2520"/>
                        </a:lnSpc>
                        <a:buNone/>
                      </a:pPr>
                      <a:r>
                        <a:rPr lang="en-US" sz="1800" dirty="0">
                          <a:solidFill>
                            <a:srgbClr val="002060"/>
                          </a:solidFill>
                          <a:latin typeface="Carlito" pitchFamily="34" charset="0"/>
                          <a:ea typeface="Carlito" pitchFamily="34" charset="-122"/>
                          <a:cs typeface="Carlito" pitchFamily="34" charset="-120"/>
                        </a:rPr>
                        <a:t>Client</a:t>
                      </a:r>
                      <a:endParaRPr lang="en-US" sz="1800" dirty="0">
                        <a:latin typeface="Carlito" charset="0"/>
                        <a:ea typeface="Carlito" charset="0"/>
                        <a:cs typeface="Carlito"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000000"/>
                          </a:solidFill>
                          <a:latin typeface="Carlito" pitchFamily="34" charset="0"/>
                          <a:ea typeface="Carlito" pitchFamily="34" charset="-122"/>
                          <a:cs typeface="Carlito" pitchFamily="34" charset="-120"/>
                        </a:rPr>
                        <a:t>Laptop or phone</a:t>
                      </a:r>
                      <a:endParaRPr lang="en-US" sz="1800" dirty="0">
                        <a:latin typeface="Carlito" charset="0"/>
                        <a:ea typeface="Carlito" charset="0"/>
                        <a:cs typeface="Carlito"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000000"/>
                          </a:solidFill>
                          <a:latin typeface="Carlito" pitchFamily="34" charset="0"/>
                          <a:ea typeface="Carlito" pitchFamily="34" charset="-122"/>
                          <a:cs typeface="Carlito" pitchFamily="34" charset="-120"/>
                        </a:rPr>
                        <a:t>Any modern web browser</a:t>
                      </a:r>
                      <a:endParaRPr lang="en-US" sz="1800" dirty="0">
                        <a:latin typeface="Carlito" charset="0"/>
                        <a:ea typeface="Carlito" charset="0"/>
                        <a:cs typeface="Carlito"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810700">
                <a:tc>
                  <a:txBody>
                    <a:bodyPr/>
                    <a:lstStyle/>
                    <a:p>
                      <a:pPr indent="0" marL="0">
                        <a:lnSpc>
                          <a:spcPts val="2520"/>
                        </a:lnSpc>
                        <a:buNone/>
                      </a:pPr>
                      <a:r>
                        <a:rPr lang="en-US" sz="1800" dirty="0">
                          <a:solidFill>
                            <a:srgbClr val="002060"/>
                          </a:solidFill>
                          <a:latin typeface="Carlito" pitchFamily="34" charset="0"/>
                          <a:ea typeface="Carlito" pitchFamily="34" charset="-122"/>
                          <a:cs typeface="Carlito" pitchFamily="34" charset="-120"/>
                        </a:rPr>
                        <a:t>RAG (built)</a:t>
                      </a:r>
                      <a:endParaRPr lang="en-US" sz="1800" dirty="0">
                        <a:latin typeface="Carlito" charset="0"/>
                        <a:ea typeface="Carlito" charset="0"/>
                        <a:cs typeface="Carlito"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2520"/>
                        </a:lnSpc>
                        <a:buNone/>
                      </a:pPr>
                      <a:r>
                        <a:rPr lang="en-US" sz="1800" dirty="0">
                          <a:solidFill>
                            <a:srgbClr val="000000"/>
                          </a:solidFill>
                          <a:latin typeface="Carlito" pitchFamily="34" charset="0"/>
                          <a:ea typeface="Carlito" pitchFamily="34" charset="-122"/>
                          <a:cs typeface="Carlito" pitchFamily="34" charset="-120"/>
                        </a:rPr>
                        <a:t>Same laptop</a:t>
                      </a:r>
                      <a:endParaRPr lang="en-US" sz="1800" dirty="0">
                        <a:latin typeface="Carlito" charset="0"/>
                        <a:ea typeface="Carlito" charset="0"/>
                        <a:cs typeface="Carlito" charset="0"/>
                      </a:endParaRPr>
                    </a:p>
                  </a:txBody>
                  <a:tcPr marL="80010" marR="80010" marT="80010" marB="8001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2520"/>
                        </a:lnSpc>
                        <a:buNone/>
                      </a:pPr>
                      <a:r>
                        <a:rPr lang="en-US" sz="1800" dirty="0">
                          <a:solidFill>
                            <a:srgbClr val="000000"/>
                          </a:solidFill>
                          <a:latin typeface="Carlito" pitchFamily="34" charset="0"/>
                          <a:ea typeface="Carlito" pitchFamily="34" charset="-122"/>
                          <a:cs typeface="Carlito" pitchFamily="34" charset="-120"/>
                        </a:rPr>
                        <a:t>PDF text, BM25 + TF-IDF search, quoted cited answers; optional Gemini or Ollama</a:t>
                      </a:r>
                      <a:endParaRPr lang="en-US" sz="1800" dirty="0">
                        <a:latin typeface="Carlito" charset="0"/>
                        <a:ea typeface="Carlito" charset="0"/>
                        <a:cs typeface="Carlito" charset="0"/>
                      </a:endParaRPr>
                    </a:p>
                  </a:txBody>
                  <a:tcPr marL="80010" marR="80010" marT="80010" marB="8001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bl>
          </a:graphicData>
        </a:graphic>
      </p:graphicFrame>
      <p:sp>
        <p:nvSpPr>
          <p:cNvPr id="6" name="Text 1"/>
          <p:cNvSpPr/>
          <p:nvPr/>
        </p:nvSpPr>
        <p:spPr>
          <a:xfrm>
            <a:off x="444982" y="5500000"/>
            <a:ext cx="11302035" cy="345463"/>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002060"/>
                </a:solidFill>
                <a:latin typeface="Carlito" pitchFamily="34" charset="0"/>
                <a:ea typeface="Carlito" pitchFamily="34" charset="-122"/>
                <a:cs typeface="Carlito" pitchFamily="34" charset="-120"/>
              </a:rPr>
              <a:t>Minimum:</a:t>
            </a:r>
            <a:r>
              <a:rPr lang="en-US" sz="1800" dirty="0">
                <a:solidFill>
                  <a:srgbClr val="000000"/>
                </a:solidFill>
                <a:latin typeface="Carlito" pitchFamily="34" charset="0"/>
                <a:ea typeface="Carlito" pitchFamily="34" charset="-122"/>
                <a:cs typeface="Carlito" pitchFamily="34" charset="-120"/>
              </a:rPr>
              <a:t> 8 GB RAM and 5 GB free disk · the demo runs fully offline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System Requirements</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sp>
        <p:nvSpPr>
          <p:cNvPr id="5" name="Text 1"/>
          <p:cNvSpPr/>
          <p:nvPr/>
        </p:nvSpPr>
        <p:spPr>
          <a:xfrm>
            <a:off x="609575" y="1270000"/>
            <a:ext cx="6017260" cy="380975"/>
          </a:xfrm>
          <a:prstGeom prst="rect">
            <a:avLst/>
          </a:prstGeom>
          <a:noFill/>
          <a:ln/>
        </p:spPr>
        <p:txBody>
          <a:bodyPr wrap="square" lIns="0" tIns="0" rIns="0" bIns="0" rtlCol="0" anchor="t">
            <a:normAutofit/>
          </a:bodyPr>
          <a:lstStyle/>
          <a:p>
            <a:pPr algn="l" indent="0" marL="0">
              <a:lnSpc>
                <a:spcPts val="2800"/>
              </a:lnSpc>
              <a:buNone/>
            </a:pPr>
            <a:r>
              <a:rPr lang="en-US" sz="2000" b="1" u="sng" dirty="0">
                <a:solidFill>
                  <a:srgbClr val="002060"/>
                </a:solidFill>
                <a:latin typeface="Times New Roman" pitchFamily="34" charset="0"/>
                <a:ea typeface="Times New Roman" pitchFamily="34" charset="-122"/>
                <a:cs typeface="Times New Roman" pitchFamily="34" charset="-120"/>
              </a:rPr>
              <a:t>Functional</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0159" y="1737734"/>
          <a:ext cx="5831417" cy="4105589"/>
        </p:xfrm>
        <a:graphic>
          <a:graphicData uri="http://schemas.openxmlformats.org/drawingml/2006/table">
            <a:tbl>
              <a:tblPr/>
              <a:tblGrid>
                <a:gridCol w="4548505"/>
                <a:gridCol w="1282912"/>
              </a:tblGrid>
              <a:tr h="410559">
                <a:tc>
                  <a:txBody>
                    <a:bodyPr/>
                    <a:lstStyle/>
                    <a:p>
                      <a:pPr indent="0" marL="0">
                        <a:lnSpc>
                          <a:spcPts val="2100"/>
                        </a:lnSpc>
                        <a:buNone/>
                      </a:pPr>
                      <a:r>
                        <a:rPr lang="en-US" sz="1500" b="1" dirty="0">
                          <a:solidFill>
                            <a:srgbClr val="FFFFFF"/>
                          </a:solidFill>
                          <a:latin typeface="Carlito" pitchFamily="34" charset="0"/>
                          <a:ea typeface="Carlito" pitchFamily="34" charset="-122"/>
                          <a:cs typeface="Carlito" pitchFamily="34" charset="-120"/>
                        </a:rPr>
                        <a:t>Requirement</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algn="ctr" indent="0" marL="0">
                        <a:lnSpc>
                          <a:spcPts val="2100"/>
                        </a:lnSpc>
                        <a:buNone/>
                      </a:pPr>
                      <a:r>
                        <a:rPr lang="en-US" sz="1500" b="1" dirty="0">
                          <a:solidFill>
                            <a:srgbClr val="FFFFFF"/>
                          </a:solidFill>
                          <a:latin typeface="Carlito" pitchFamily="34" charset="0"/>
                          <a:ea typeface="Carlito" pitchFamily="34" charset="-122"/>
                          <a:cs typeface="Carlito" pitchFamily="34" charset="-120"/>
                        </a:rPr>
                        <a:t>Status</a:t>
                      </a:r>
                      <a:endParaRPr lang="en-US" sz="1500" dirty="0">
                        <a:latin typeface="Carlito" charset="0"/>
                        <a:ea typeface="Carlito" charset="0"/>
                        <a:cs typeface="Carlito" charset="0"/>
                      </a:endParaRPr>
                    </a:p>
                  </a:txBody>
                  <a:tcPr marL="66675" marR="66675" marT="66675" marB="66675"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r>
              <a:tr h="410559">
                <a:tc>
                  <a:txBody>
                    <a:bodyPr/>
                    <a:lstStyle/>
                    <a:p>
                      <a:pPr indent="0" marL="0">
                        <a:lnSpc>
                          <a:spcPts val="2100"/>
                        </a:lnSpc>
                        <a:buNone/>
                      </a:pPr>
                      <a:r>
                        <a:rPr lang="en-US" sz="1500" dirty="0">
                          <a:solidFill>
                            <a:srgbClr val="000000"/>
                          </a:solidFill>
                          <a:latin typeface="Carlito" pitchFamily="34" charset="0"/>
                          <a:ea typeface="Carlito" pitchFamily="34" charset="-122"/>
                          <a:cs typeface="Carlito" pitchFamily="34" charset="-120"/>
                        </a:rPr>
                        <a:t>Patient input with unit checks</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002060"/>
                          </a:solidFill>
                          <a:latin typeface="Carlito" pitchFamily="34" charset="0"/>
                          <a:ea typeface="Carlito" pitchFamily="34" charset="-122"/>
                          <a:cs typeface="Carlito" pitchFamily="34" charset="-120"/>
                        </a:rPr>
                        <a:t>Built</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0559">
                <a:tc>
                  <a:txBody>
                    <a:bodyPr/>
                    <a:lstStyle/>
                    <a:p>
                      <a:pPr indent="0" marL="0">
                        <a:lnSpc>
                          <a:spcPts val="2100"/>
                        </a:lnSpc>
                        <a:buNone/>
                      </a:pPr>
                      <a:r>
                        <a:rPr lang="en-US" sz="1500" dirty="0">
                          <a:solidFill>
                            <a:srgbClr val="000000"/>
                          </a:solidFill>
                          <a:latin typeface="Carlito" pitchFamily="34" charset="0"/>
                          <a:ea typeface="Carlito" pitchFamily="34" charset="-122"/>
                          <a:cs typeface="Carlito" pitchFamily="34" charset="-120"/>
                        </a:rPr>
                        <a:t>Safety rules with cited reasons</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algn="ctr" indent="0" marL="0">
                        <a:lnSpc>
                          <a:spcPts val="2100"/>
                        </a:lnSpc>
                        <a:buNone/>
                      </a:pPr>
                      <a:r>
                        <a:rPr lang="en-US" sz="1500" dirty="0">
                          <a:solidFill>
                            <a:srgbClr val="002060"/>
                          </a:solidFill>
                          <a:latin typeface="Carlito" pitchFamily="34" charset="0"/>
                          <a:ea typeface="Carlito" pitchFamily="34" charset="-122"/>
                          <a:cs typeface="Carlito" pitchFamily="34" charset="-120"/>
                        </a:rPr>
                        <a:t>Built</a:t>
                      </a:r>
                      <a:endParaRPr lang="en-US" sz="1500" dirty="0">
                        <a:latin typeface="Carlito" charset="0"/>
                        <a:ea typeface="Carlito" charset="0"/>
                        <a:cs typeface="Carlito" charset="0"/>
                      </a:endParaRPr>
                    </a:p>
                  </a:txBody>
                  <a:tcPr marL="66675" marR="66675" marT="66675" marB="6667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410559">
                <a:tc>
                  <a:txBody>
                    <a:bodyPr/>
                    <a:lstStyle/>
                    <a:p>
                      <a:pPr indent="0" marL="0">
                        <a:lnSpc>
                          <a:spcPts val="2100"/>
                        </a:lnSpc>
                        <a:buNone/>
                      </a:pPr>
                      <a:r>
                        <a:rPr lang="en-US" sz="1500" dirty="0">
                          <a:solidFill>
                            <a:srgbClr val="000000"/>
                          </a:solidFill>
                          <a:latin typeface="Carlito" pitchFamily="34" charset="0"/>
                          <a:ea typeface="Carlito" pitchFamily="34" charset="-122"/>
                          <a:cs typeface="Carlito" pitchFamily="34" charset="-120"/>
                        </a:rPr>
                        <a:t>Estimate with 95% range, or “insufficient evidence”</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002060"/>
                          </a:solidFill>
                          <a:latin typeface="Carlito" pitchFamily="34" charset="0"/>
                          <a:ea typeface="Carlito" pitchFamily="34" charset="-122"/>
                          <a:cs typeface="Carlito" pitchFamily="34" charset="-120"/>
                        </a:rPr>
                        <a:t>Built</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0559">
                <a:tc>
                  <a:txBody>
                    <a:bodyPr/>
                    <a:lstStyle/>
                    <a:p>
                      <a:pPr indent="0" marL="0">
                        <a:lnSpc>
                          <a:spcPts val="2100"/>
                        </a:lnSpc>
                        <a:buNone/>
                      </a:pPr>
                      <a:r>
                        <a:rPr lang="en-US" sz="1500" dirty="0">
                          <a:solidFill>
                            <a:srgbClr val="000000"/>
                          </a:solidFill>
                          <a:latin typeface="Carlito" pitchFamily="34" charset="0"/>
                          <a:ea typeface="Carlito" pitchFamily="34" charset="-122"/>
                          <a:cs typeface="Carlito" pitchFamily="34" charset="-120"/>
                        </a:rPr>
                        <a:t>Hypoglycaemia risk and weight change</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algn="ctr" indent="0" marL="0">
                        <a:lnSpc>
                          <a:spcPts val="2100"/>
                        </a:lnSpc>
                        <a:buNone/>
                      </a:pPr>
                      <a:r>
                        <a:rPr lang="en-US" sz="1500" dirty="0">
                          <a:solidFill>
                            <a:srgbClr val="002060"/>
                          </a:solidFill>
                          <a:latin typeface="Carlito" pitchFamily="34" charset="0"/>
                          <a:ea typeface="Carlito" pitchFamily="34" charset="-122"/>
                          <a:cs typeface="Carlito" pitchFamily="34" charset="-120"/>
                        </a:rPr>
                        <a:t>Built</a:t>
                      </a:r>
                      <a:endParaRPr lang="en-US" sz="1500" dirty="0">
                        <a:latin typeface="Carlito" charset="0"/>
                        <a:ea typeface="Carlito" charset="0"/>
                        <a:cs typeface="Carlito" charset="0"/>
                      </a:endParaRPr>
                    </a:p>
                  </a:txBody>
                  <a:tcPr marL="66675" marR="66675" marT="66675" marB="6667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410559">
                <a:tc>
                  <a:txBody>
                    <a:bodyPr/>
                    <a:lstStyle/>
                    <a:p>
                      <a:pPr indent="0" marL="0">
                        <a:lnSpc>
                          <a:spcPts val="2100"/>
                        </a:lnSpc>
                        <a:buNone/>
                      </a:pPr>
                      <a:r>
                        <a:rPr lang="en-US" sz="1500" dirty="0">
                          <a:solidFill>
                            <a:srgbClr val="000000"/>
                          </a:solidFill>
                          <a:latin typeface="Carlito" pitchFamily="34" charset="0"/>
                          <a:ea typeface="Carlito" pitchFamily="34" charset="-122"/>
                          <a:cs typeface="Carlito" pitchFamily="34" charset="-120"/>
                        </a:rPr>
                        <a:t>Cost lookup (INR/month)</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002060"/>
                          </a:solidFill>
                          <a:latin typeface="Carlito" pitchFamily="34" charset="0"/>
                          <a:ea typeface="Carlito" pitchFamily="34" charset="-122"/>
                          <a:cs typeface="Carlito" pitchFamily="34" charset="-120"/>
                        </a:rPr>
                        <a:t>Built*</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0559">
                <a:tc>
                  <a:txBody>
                    <a:bodyPr/>
                    <a:lstStyle/>
                    <a:p>
                      <a:pPr indent="0" marL="0">
                        <a:lnSpc>
                          <a:spcPts val="2100"/>
                        </a:lnSpc>
                        <a:buNone/>
                      </a:pPr>
                      <a:r>
                        <a:rPr lang="en-US" sz="1500" dirty="0">
                          <a:solidFill>
                            <a:srgbClr val="000000"/>
                          </a:solidFill>
                          <a:latin typeface="Carlito" pitchFamily="34" charset="0"/>
                          <a:ea typeface="Carlito" pitchFamily="34" charset="-122"/>
                          <a:cs typeface="Carlito" pitchFamily="34" charset="-120"/>
                        </a:rPr>
                        <a:t>Audit log</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algn="ctr" indent="0" marL="0">
                        <a:lnSpc>
                          <a:spcPts val="2100"/>
                        </a:lnSpc>
                        <a:buNone/>
                      </a:pPr>
                      <a:r>
                        <a:rPr lang="en-US" sz="1500" dirty="0">
                          <a:solidFill>
                            <a:srgbClr val="002060"/>
                          </a:solidFill>
                          <a:latin typeface="Carlito" pitchFamily="34" charset="0"/>
                          <a:ea typeface="Carlito" pitchFamily="34" charset="-122"/>
                          <a:cs typeface="Carlito" pitchFamily="34" charset="-120"/>
                        </a:rPr>
                        <a:t>Built</a:t>
                      </a:r>
                      <a:endParaRPr lang="en-US" sz="1500" dirty="0">
                        <a:latin typeface="Carlito" charset="0"/>
                        <a:ea typeface="Carlito" charset="0"/>
                        <a:cs typeface="Carlito" charset="0"/>
                      </a:endParaRPr>
                    </a:p>
                  </a:txBody>
                  <a:tcPr marL="66675" marR="66675" marT="66675" marB="6667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410559">
                <a:tc>
                  <a:txBody>
                    <a:bodyPr/>
                    <a:lstStyle/>
                    <a:p>
                      <a:pPr indent="0" marL="0">
                        <a:lnSpc>
                          <a:spcPts val="2100"/>
                        </a:lnSpc>
                        <a:buNone/>
                      </a:pPr>
                      <a:r>
                        <a:rPr lang="en-US" sz="1500" dirty="0">
                          <a:solidFill>
                            <a:srgbClr val="000000"/>
                          </a:solidFill>
                          <a:latin typeface="Carlito" pitchFamily="34" charset="0"/>
                          <a:ea typeface="Carlito" pitchFamily="34" charset="-122"/>
                          <a:cs typeface="Carlito" pitchFamily="34" charset="-120"/>
                        </a:rPr>
                        <a:t>REST API</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002060"/>
                          </a:solidFill>
                          <a:latin typeface="Carlito" pitchFamily="34" charset="0"/>
                          <a:ea typeface="Carlito" pitchFamily="34" charset="-122"/>
                          <a:cs typeface="Carlito" pitchFamily="34" charset="-120"/>
                        </a:rPr>
                        <a:t>Built</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0559">
                <a:tc>
                  <a:txBody>
                    <a:bodyPr/>
                    <a:lstStyle/>
                    <a:p>
                      <a:pPr indent="0" marL="0">
                        <a:lnSpc>
                          <a:spcPts val="2100"/>
                        </a:lnSpc>
                        <a:buNone/>
                      </a:pPr>
                      <a:r>
                        <a:rPr lang="en-US" sz="1500" dirty="0">
                          <a:solidFill>
                            <a:srgbClr val="000000"/>
                          </a:solidFill>
                          <a:latin typeface="Carlito" pitchFamily="34" charset="0"/>
                          <a:ea typeface="Carlito" pitchFamily="34" charset="-122"/>
                          <a:cs typeface="Carlito" pitchFamily="34" charset="-120"/>
                        </a:rPr>
                        <a:t>Evidence with citations (RAG)</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002060"/>
                          </a:solidFill>
                          <a:latin typeface="Carlito" pitchFamily="34" charset="0"/>
                          <a:ea typeface="Carlito" pitchFamily="34" charset="-122"/>
                          <a:cs typeface="Carlito" pitchFamily="34" charset="-120"/>
                        </a:rPr>
                        <a:t>Built</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0559">
                <a:tc>
                  <a:txBody>
                    <a:bodyPr/>
                    <a:lstStyle/>
                    <a:p>
                      <a:pPr indent="0" marL="0">
                        <a:lnSpc>
                          <a:spcPts val="2100"/>
                        </a:lnSpc>
                        <a:buNone/>
                      </a:pPr>
                      <a:r>
                        <a:rPr lang="en-US" sz="1500" dirty="0">
                          <a:solidFill>
                            <a:srgbClr val="000000"/>
                          </a:solidFill>
                          <a:latin typeface="Carlito" pitchFamily="34" charset="0"/>
                          <a:ea typeface="Carlito" pitchFamily="34" charset="-122"/>
                          <a:cs typeface="Carlito" pitchFamily="34" charset="-120"/>
                        </a:rPr>
                        <a:t>Website with accounts (MFA)</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algn="ctr" indent="0" marL="0">
                        <a:lnSpc>
                          <a:spcPts val="2100"/>
                        </a:lnSpc>
                        <a:buNone/>
                      </a:pPr>
                      <a:r>
                        <a:rPr lang="en-US" sz="1500" dirty="0">
                          <a:solidFill>
                            <a:srgbClr val="002060"/>
                          </a:solidFill>
                          <a:latin typeface="Carlito" pitchFamily="34" charset="0"/>
                          <a:ea typeface="Carlito" pitchFamily="34" charset="-122"/>
                          <a:cs typeface="Carlito" pitchFamily="34" charset="-120"/>
                        </a:rPr>
                        <a:t>Built</a:t>
                      </a:r>
                      <a:endParaRPr lang="en-US" sz="1500" dirty="0">
                        <a:latin typeface="Carlito" charset="0"/>
                        <a:ea typeface="Carlito" charset="0"/>
                        <a:cs typeface="Carlito" charset="0"/>
                      </a:endParaRPr>
                    </a:p>
                  </a:txBody>
                  <a:tcPr marL="66675" marR="66675" marT="66675" marB="6667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bl>
          </a:graphicData>
        </a:graphic>
      </p:graphicFrame>
      <p:sp>
        <p:nvSpPr>
          <p:cNvPr id="7" name="Text 2"/>
          <p:cNvSpPr/>
          <p:nvPr/>
        </p:nvSpPr>
        <p:spPr>
          <a:xfrm>
            <a:off x="609575" y="6050000"/>
            <a:ext cx="6017260" cy="256538"/>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595959"/>
                </a:solidFill>
                <a:latin typeface="Carlito" pitchFamily="34" charset="0"/>
                <a:ea typeface="Carlito" pitchFamily="34" charset="-122"/>
                <a:cs typeface="Carlito" pitchFamily="34" charset="-120"/>
              </a:rPr>
              <a:t>*Prices show “unavailable” until confirmed</a:t>
            </a:r>
            <a:endParaRPr lang="en-US" sz="1300" dirty="0"/>
          </a:p>
        </p:txBody>
      </p:sp>
      <p:sp>
        <p:nvSpPr>
          <p:cNvPr id="8" name="Text 3"/>
          <p:cNvSpPr/>
          <p:nvPr/>
        </p:nvSpPr>
        <p:spPr>
          <a:xfrm>
            <a:off x="6857958" y="1270000"/>
            <a:ext cx="4866200" cy="380975"/>
          </a:xfrm>
          <a:prstGeom prst="rect">
            <a:avLst/>
          </a:prstGeom>
          <a:noFill/>
          <a:ln/>
        </p:spPr>
        <p:txBody>
          <a:bodyPr wrap="square" lIns="0" tIns="0" rIns="0" bIns="0" rtlCol="0" anchor="t">
            <a:normAutofit/>
          </a:bodyPr>
          <a:lstStyle/>
          <a:p>
            <a:pPr algn="l" indent="0" marL="0">
              <a:lnSpc>
                <a:spcPts val="2800"/>
              </a:lnSpc>
              <a:buNone/>
            </a:pPr>
            <a:r>
              <a:rPr lang="en-US" sz="2000" b="1" u="sng" dirty="0">
                <a:solidFill>
                  <a:srgbClr val="002060"/>
                </a:solidFill>
                <a:latin typeface="Times New Roman" pitchFamily="34" charset="0"/>
                <a:ea typeface="Times New Roman" pitchFamily="34" charset="-122"/>
                <a:cs typeface="Times New Roman" pitchFamily="34" charset="-120"/>
              </a:rPr>
              <a:t>Non-functional</a:t>
            </a:r>
            <a:endParaRPr lang="en-US" sz="20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868541" y="1737734"/>
          <a:ext cx="4713883" cy="2873912"/>
        </p:xfrm>
        <a:graphic>
          <a:graphicData uri="http://schemas.openxmlformats.org/drawingml/2006/table">
            <a:tbl>
              <a:tblPr/>
              <a:tblGrid>
                <a:gridCol w="1885553"/>
                <a:gridCol w="2828330"/>
              </a:tblGrid>
              <a:tr h="410559">
                <a:tc>
                  <a:txBody>
                    <a:bodyPr/>
                    <a:lstStyle/>
                    <a:p>
                      <a:pPr indent="0" marL="0">
                        <a:lnSpc>
                          <a:spcPts val="2100"/>
                        </a:lnSpc>
                        <a:buNone/>
                      </a:pPr>
                      <a:r>
                        <a:rPr lang="en-US" sz="1500" b="1" dirty="0">
                          <a:solidFill>
                            <a:srgbClr val="FFFFFF"/>
                          </a:solidFill>
                          <a:latin typeface="Carlito" pitchFamily="34" charset="0"/>
                          <a:ea typeface="Carlito" pitchFamily="34" charset="-122"/>
                          <a:cs typeface="Carlito" pitchFamily="34" charset="-120"/>
                        </a:rPr>
                        <a:t>Quality</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2100"/>
                        </a:lnSpc>
                        <a:buNone/>
                      </a:pPr>
                      <a:r>
                        <a:rPr lang="en-US" sz="1500" b="1" dirty="0">
                          <a:solidFill>
                            <a:srgbClr val="FFFFFF"/>
                          </a:solidFill>
                          <a:latin typeface="Carlito" pitchFamily="34" charset="0"/>
                          <a:ea typeface="Carlito" pitchFamily="34" charset="-122"/>
                          <a:cs typeface="Carlito" pitchFamily="34" charset="-120"/>
                        </a:rPr>
                        <a:t>Target</a:t>
                      </a:r>
                      <a:endParaRPr lang="en-US" sz="1500" dirty="0">
                        <a:latin typeface="Carlito" charset="0"/>
                        <a:ea typeface="Carlito" charset="0"/>
                        <a:cs typeface="Carlito" charset="0"/>
                      </a:endParaRPr>
                    </a:p>
                  </a:txBody>
                  <a:tcPr marL="66675" marR="66675" marT="66675" marB="66675"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r>
              <a:tr h="410559">
                <a:tc>
                  <a:txBody>
                    <a:bodyPr/>
                    <a:lstStyle/>
                    <a:p>
                      <a:pPr indent="0" marL="0">
                        <a:lnSpc>
                          <a:spcPts val="2100"/>
                        </a:lnSpc>
                        <a:buNone/>
                      </a:pPr>
                      <a:r>
                        <a:rPr lang="en-US" sz="1500" dirty="0">
                          <a:solidFill>
                            <a:srgbClr val="002060"/>
                          </a:solidFill>
                          <a:latin typeface="Carlito" pitchFamily="34" charset="0"/>
                          <a:ea typeface="Carlito" pitchFamily="34" charset="-122"/>
                          <a:cs typeface="Carlito" pitchFamily="34" charset="-120"/>
                        </a:rPr>
                        <a:t>Speed</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00000"/>
                          </a:solidFill>
                          <a:latin typeface="Carlito" pitchFamily="34" charset="0"/>
                          <a:ea typeface="Carlito" pitchFamily="34" charset="-122"/>
                          <a:cs typeface="Carlito" pitchFamily="34" charset="-120"/>
                        </a:rPr>
                        <a:t>Under 3 s per request</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0559">
                <a:tc>
                  <a:txBody>
                    <a:bodyPr/>
                    <a:lstStyle/>
                    <a:p>
                      <a:pPr indent="0" marL="0">
                        <a:lnSpc>
                          <a:spcPts val="2100"/>
                        </a:lnSpc>
                        <a:buNone/>
                      </a:pPr>
                      <a:r>
                        <a:rPr lang="en-US" sz="1500" dirty="0">
                          <a:solidFill>
                            <a:srgbClr val="002060"/>
                          </a:solidFill>
                          <a:latin typeface="Carlito" pitchFamily="34" charset="0"/>
                          <a:ea typeface="Carlito" pitchFamily="34" charset="-122"/>
                          <a:cs typeface="Carlito" pitchFamily="34" charset="-120"/>
                        </a:rPr>
                        <a:t>Logging</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2100"/>
                        </a:lnSpc>
                        <a:buNone/>
                      </a:pPr>
                      <a:r>
                        <a:rPr lang="en-US" sz="1500" dirty="0">
                          <a:solidFill>
                            <a:srgbClr val="000000"/>
                          </a:solidFill>
                          <a:latin typeface="Carlito" pitchFamily="34" charset="0"/>
                          <a:ea typeface="Carlito" pitchFamily="34" charset="-122"/>
                          <a:cs typeface="Carlito" pitchFamily="34" charset="-120"/>
                        </a:rPr>
                        <a:t>100% of requests logged</a:t>
                      </a:r>
                      <a:endParaRPr lang="en-US" sz="1500" dirty="0">
                        <a:latin typeface="Carlito" charset="0"/>
                        <a:ea typeface="Carlito" charset="0"/>
                        <a:cs typeface="Carlito" charset="0"/>
                      </a:endParaRPr>
                    </a:p>
                  </a:txBody>
                  <a:tcPr marL="66675" marR="66675" marT="66675" marB="6667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410559">
                <a:tc>
                  <a:txBody>
                    <a:bodyPr/>
                    <a:lstStyle/>
                    <a:p>
                      <a:pPr indent="0" marL="0">
                        <a:lnSpc>
                          <a:spcPts val="2100"/>
                        </a:lnSpc>
                        <a:buNone/>
                      </a:pPr>
                      <a:r>
                        <a:rPr lang="en-US" sz="1500" dirty="0">
                          <a:solidFill>
                            <a:srgbClr val="002060"/>
                          </a:solidFill>
                          <a:latin typeface="Carlito" pitchFamily="34" charset="0"/>
                          <a:ea typeface="Carlito" pitchFamily="34" charset="-122"/>
                          <a:cs typeface="Carlito" pitchFamily="34" charset="-120"/>
                        </a:rPr>
                        <a:t>Testing</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00000"/>
                          </a:solidFill>
                          <a:latin typeface="Carlito" pitchFamily="34" charset="0"/>
                          <a:ea typeface="Carlito" pitchFamily="34" charset="-122"/>
                          <a:cs typeface="Carlito" pitchFamily="34" charset="-120"/>
                        </a:rPr>
                        <a:t>At least 80% test coverage</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0559">
                <a:tc>
                  <a:txBody>
                    <a:bodyPr/>
                    <a:lstStyle/>
                    <a:p>
                      <a:pPr indent="0" marL="0">
                        <a:lnSpc>
                          <a:spcPts val="2100"/>
                        </a:lnSpc>
                        <a:buNone/>
                      </a:pPr>
                      <a:r>
                        <a:rPr lang="en-US" sz="1500" dirty="0">
                          <a:solidFill>
                            <a:srgbClr val="002060"/>
                          </a:solidFill>
                          <a:latin typeface="Carlito" pitchFamily="34" charset="0"/>
                          <a:ea typeface="Carlito" pitchFamily="34" charset="-122"/>
                          <a:cs typeface="Carlito" pitchFamily="34" charset="-120"/>
                        </a:rPr>
                        <a:t>Reproducible</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2100"/>
                        </a:lnSpc>
                        <a:buNone/>
                      </a:pPr>
                      <a:r>
                        <a:rPr lang="en-US" sz="1500" dirty="0">
                          <a:solidFill>
                            <a:srgbClr val="000000"/>
                          </a:solidFill>
                          <a:latin typeface="Carlito" pitchFamily="34" charset="0"/>
                          <a:ea typeface="Carlito" pitchFamily="34" charset="-122"/>
                          <a:cs typeface="Carlito" pitchFamily="34" charset="-120"/>
                        </a:rPr>
                        <a:t>Fixed random seeds</a:t>
                      </a:r>
                      <a:endParaRPr lang="en-US" sz="1500" dirty="0">
                        <a:latin typeface="Carlito" charset="0"/>
                        <a:ea typeface="Carlito" charset="0"/>
                        <a:cs typeface="Carlito" charset="0"/>
                      </a:endParaRPr>
                    </a:p>
                  </a:txBody>
                  <a:tcPr marL="66675" marR="66675" marT="66675" marB="6667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410559">
                <a:tc>
                  <a:txBody>
                    <a:bodyPr/>
                    <a:lstStyle/>
                    <a:p>
                      <a:pPr indent="0" marL="0">
                        <a:lnSpc>
                          <a:spcPts val="2100"/>
                        </a:lnSpc>
                        <a:buNone/>
                      </a:pPr>
                      <a:r>
                        <a:rPr lang="en-US" sz="1500" dirty="0">
                          <a:solidFill>
                            <a:srgbClr val="002060"/>
                          </a:solidFill>
                          <a:latin typeface="Carlito" pitchFamily="34" charset="0"/>
                          <a:ea typeface="Carlito" pitchFamily="34" charset="-122"/>
                          <a:cs typeface="Carlito" pitchFamily="34" charset="-120"/>
                        </a:rPr>
                        <a:t>Intended use</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00000"/>
                          </a:solidFill>
                          <a:latin typeface="Carlito" pitchFamily="34" charset="0"/>
                          <a:ea typeface="Carlito" pitchFamily="34" charset="-122"/>
                          <a:cs typeface="Carlito" pitchFamily="34" charset="-120"/>
                        </a:rPr>
                        <a:t>Statement on every screen</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0559">
                <a:tc>
                  <a:txBody>
                    <a:bodyPr/>
                    <a:lstStyle/>
                    <a:p>
                      <a:pPr indent="0" marL="0">
                        <a:lnSpc>
                          <a:spcPts val="2100"/>
                        </a:lnSpc>
                        <a:buNone/>
                      </a:pPr>
                      <a:r>
                        <a:rPr lang="en-US" sz="1500" dirty="0">
                          <a:solidFill>
                            <a:srgbClr val="002060"/>
                          </a:solidFill>
                          <a:latin typeface="Carlito" pitchFamily="34" charset="0"/>
                          <a:ea typeface="Carlito" pitchFamily="34" charset="-122"/>
                          <a:cs typeface="Carlito" pitchFamily="34" charset="-120"/>
                        </a:rPr>
                        <a:t>Accessible</a:t>
                      </a:r>
                      <a:endParaRPr lang="en-US" sz="1500" dirty="0">
                        <a:latin typeface="Carlito" charset="0"/>
                        <a:ea typeface="Carlito" charset="0"/>
                        <a:cs typeface="Carl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2100"/>
                        </a:lnSpc>
                        <a:buNone/>
                      </a:pPr>
                      <a:r>
                        <a:rPr lang="en-US" sz="1500" dirty="0">
                          <a:solidFill>
                            <a:srgbClr val="000000"/>
                          </a:solidFill>
                          <a:latin typeface="Carlito" pitchFamily="34" charset="0"/>
                          <a:ea typeface="Carlito" pitchFamily="34" charset="-122"/>
                          <a:cs typeface="Carlito" pitchFamily="34" charset="-120"/>
                        </a:rPr>
                        <a:t>WCAG 2.1 AA</a:t>
                      </a:r>
                      <a:endParaRPr lang="en-US" sz="1500" dirty="0">
                        <a:latin typeface="Carlito" charset="0"/>
                        <a:ea typeface="Carlito" charset="0"/>
                        <a:cs typeface="Carlito" charset="0"/>
                      </a:endParaRPr>
                    </a:p>
                  </a:txBody>
                  <a:tcPr marL="66675" marR="66675" marT="66675" marB="6667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bl>
          </a:graphicData>
        </a:graphic>
      </p:graphicFrame>
      <p:sp>
        <p:nvSpPr>
          <p:cNvPr id="10" name="Text 4"/>
          <p:cNvSpPr/>
          <p:nvPr/>
        </p:nvSpPr>
        <p:spPr>
          <a:xfrm>
            <a:off x="6857958" y="4713219"/>
            <a:ext cx="4866200" cy="454686"/>
          </a:xfrm>
          <a:prstGeom prst="rect">
            <a:avLst/>
          </a:prstGeom>
          <a:noFill/>
          <a:ln/>
        </p:spPr>
        <p:txBody>
          <a:bodyPr wrap="square" lIns="0" tIns="0" rIns="0" bIns="0" rtlCol="0" anchor="t">
            <a:normAutofit/>
          </a:bodyPr>
          <a:lstStyle/>
          <a:p>
            <a:pPr algn="l" indent="0" marL="0">
              <a:lnSpc>
                <a:spcPts val="1690"/>
              </a:lnSpc>
              <a:buNone/>
            </a:pPr>
            <a:r>
              <a:rPr lang="en-US" sz="1300" i="1" dirty="0">
                <a:solidFill>
                  <a:srgbClr val="595959"/>
                </a:solidFill>
                <a:latin typeface="Carlito" pitchFamily="34" charset="0"/>
                <a:ea typeface="Carlito" pitchFamily="34" charset="-122"/>
                <a:cs typeface="Carlito" pitchFamily="34" charset="-120"/>
              </a:rPr>
              <a:t>Measured: about 12 ms per request. Coverage and WCAG not yet measured.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Timeline / Gantt Chart</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sp>
        <p:nvSpPr>
          <p:cNvPr id="5" name="Shape 1"/>
          <p:cNvSpPr/>
          <p:nvPr/>
        </p:nvSpPr>
        <p:spPr>
          <a:xfrm>
            <a:off x="508000" y="1587500"/>
            <a:ext cx="11074383" cy="381000"/>
          </a:xfrm>
          <a:prstGeom prst="rect">
            <a:avLst/>
          </a:prstGeom>
          <a:solidFill>
            <a:srgbClr val="F4F6FA"/>
          </a:solidFill>
          <a:ln/>
        </p:spPr>
      </p:sp>
      <p:sp>
        <p:nvSpPr>
          <p:cNvPr id="6" name="Shape 2"/>
          <p:cNvSpPr/>
          <p:nvPr/>
        </p:nvSpPr>
        <p:spPr>
          <a:xfrm>
            <a:off x="508000" y="2349500"/>
            <a:ext cx="11074383" cy="381000"/>
          </a:xfrm>
          <a:prstGeom prst="rect">
            <a:avLst/>
          </a:prstGeom>
          <a:solidFill>
            <a:srgbClr val="F4F6FA"/>
          </a:solidFill>
          <a:ln/>
        </p:spPr>
      </p:sp>
      <p:sp>
        <p:nvSpPr>
          <p:cNvPr id="7" name="Shape 3"/>
          <p:cNvSpPr/>
          <p:nvPr/>
        </p:nvSpPr>
        <p:spPr>
          <a:xfrm>
            <a:off x="508000" y="3111500"/>
            <a:ext cx="11074383" cy="381000"/>
          </a:xfrm>
          <a:prstGeom prst="rect">
            <a:avLst/>
          </a:prstGeom>
          <a:solidFill>
            <a:srgbClr val="F4F6FA"/>
          </a:solidFill>
          <a:ln/>
        </p:spPr>
      </p:sp>
      <p:sp>
        <p:nvSpPr>
          <p:cNvPr id="8" name="Shape 4"/>
          <p:cNvSpPr/>
          <p:nvPr/>
        </p:nvSpPr>
        <p:spPr>
          <a:xfrm>
            <a:off x="508000" y="3873500"/>
            <a:ext cx="11074383" cy="381000"/>
          </a:xfrm>
          <a:prstGeom prst="rect">
            <a:avLst/>
          </a:prstGeom>
          <a:solidFill>
            <a:srgbClr val="F4F6FA"/>
          </a:solidFill>
          <a:ln/>
        </p:spPr>
      </p:sp>
      <p:sp>
        <p:nvSpPr>
          <p:cNvPr id="9" name="Shape 5"/>
          <p:cNvSpPr/>
          <p:nvPr/>
        </p:nvSpPr>
        <p:spPr>
          <a:xfrm>
            <a:off x="508000" y="4635500"/>
            <a:ext cx="11074383" cy="381000"/>
          </a:xfrm>
          <a:prstGeom prst="rect">
            <a:avLst/>
          </a:prstGeom>
          <a:solidFill>
            <a:srgbClr val="F4F6FA"/>
          </a:solidFill>
          <a:ln/>
        </p:spPr>
      </p:sp>
      <p:sp>
        <p:nvSpPr>
          <p:cNvPr id="10" name="Shape 6"/>
          <p:cNvSpPr/>
          <p:nvPr/>
        </p:nvSpPr>
        <p:spPr>
          <a:xfrm>
            <a:off x="508000" y="5397500"/>
            <a:ext cx="11074383" cy="381000"/>
          </a:xfrm>
          <a:prstGeom prst="rect">
            <a:avLst/>
          </a:prstGeom>
          <a:solidFill>
            <a:srgbClr val="F4F6FA"/>
          </a:solidFill>
          <a:ln/>
        </p:spPr>
      </p:sp>
      <p:sp>
        <p:nvSpPr>
          <p:cNvPr id="11" name="Text 7"/>
          <p:cNvSpPr/>
          <p:nvPr/>
        </p:nvSpPr>
        <p:spPr>
          <a:xfrm>
            <a:off x="4165600" y="1295381"/>
            <a:ext cx="1295375" cy="256538"/>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02060"/>
                </a:solidFill>
                <a:latin typeface="Carlito" pitchFamily="34" charset="0"/>
                <a:ea typeface="Carlito" pitchFamily="34" charset="-122"/>
                <a:cs typeface="Carlito" pitchFamily="34" charset="-120"/>
              </a:rPr>
              <a:t>July</a:t>
            </a:r>
            <a:endParaRPr lang="en-US" sz="1300" dirty="0"/>
          </a:p>
        </p:txBody>
      </p:sp>
      <p:sp>
        <p:nvSpPr>
          <p:cNvPr id="12" name="Text 8"/>
          <p:cNvSpPr/>
          <p:nvPr/>
        </p:nvSpPr>
        <p:spPr>
          <a:xfrm>
            <a:off x="5410175" y="1295381"/>
            <a:ext cx="1295375" cy="256538"/>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02060"/>
                </a:solidFill>
                <a:latin typeface="Carlito" pitchFamily="34" charset="0"/>
                <a:ea typeface="Carlito" pitchFamily="34" charset="-122"/>
                <a:cs typeface="Carlito" pitchFamily="34" charset="-120"/>
              </a:rPr>
              <a:t>August</a:t>
            </a:r>
            <a:endParaRPr lang="en-US" sz="1300" dirty="0"/>
          </a:p>
        </p:txBody>
      </p:sp>
      <p:sp>
        <p:nvSpPr>
          <p:cNvPr id="13" name="Text 9"/>
          <p:cNvSpPr/>
          <p:nvPr/>
        </p:nvSpPr>
        <p:spPr>
          <a:xfrm>
            <a:off x="6654791" y="1295381"/>
            <a:ext cx="1257300" cy="256538"/>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02060"/>
                </a:solidFill>
                <a:latin typeface="Carlito" pitchFamily="34" charset="0"/>
                <a:ea typeface="Carlito" pitchFamily="34" charset="-122"/>
                <a:cs typeface="Carlito" pitchFamily="34" charset="-120"/>
              </a:rPr>
              <a:t>September</a:t>
            </a:r>
            <a:endParaRPr lang="en-US" sz="1300" dirty="0"/>
          </a:p>
        </p:txBody>
      </p:sp>
      <p:sp>
        <p:nvSpPr>
          <p:cNvPr id="14" name="Text 10"/>
          <p:cNvSpPr/>
          <p:nvPr/>
        </p:nvSpPr>
        <p:spPr>
          <a:xfrm>
            <a:off x="7861291" y="1295381"/>
            <a:ext cx="1295375" cy="256538"/>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02060"/>
                </a:solidFill>
                <a:latin typeface="Carlito" pitchFamily="34" charset="0"/>
                <a:ea typeface="Carlito" pitchFamily="34" charset="-122"/>
                <a:cs typeface="Carlito" pitchFamily="34" charset="-120"/>
              </a:rPr>
              <a:t>October</a:t>
            </a:r>
            <a:endParaRPr lang="en-US" sz="1300" dirty="0"/>
          </a:p>
        </p:txBody>
      </p:sp>
      <p:sp>
        <p:nvSpPr>
          <p:cNvPr id="15" name="Text 11"/>
          <p:cNvSpPr/>
          <p:nvPr/>
        </p:nvSpPr>
        <p:spPr>
          <a:xfrm>
            <a:off x="9105867" y="1295381"/>
            <a:ext cx="1257300" cy="256538"/>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02060"/>
                </a:solidFill>
                <a:latin typeface="Carlito" pitchFamily="34" charset="0"/>
                <a:ea typeface="Carlito" pitchFamily="34" charset="-122"/>
                <a:cs typeface="Carlito" pitchFamily="34" charset="-120"/>
              </a:rPr>
              <a:t>November</a:t>
            </a:r>
            <a:endParaRPr lang="en-US" sz="1300" dirty="0"/>
          </a:p>
        </p:txBody>
      </p:sp>
      <p:sp>
        <p:nvSpPr>
          <p:cNvPr id="16" name="Text 12"/>
          <p:cNvSpPr/>
          <p:nvPr/>
        </p:nvSpPr>
        <p:spPr>
          <a:xfrm>
            <a:off x="10312367" y="1295381"/>
            <a:ext cx="1295375" cy="256538"/>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02060"/>
                </a:solidFill>
                <a:latin typeface="Carlito" pitchFamily="34" charset="0"/>
                <a:ea typeface="Carlito" pitchFamily="34" charset="-122"/>
                <a:cs typeface="Carlito" pitchFamily="34" charset="-120"/>
              </a:rPr>
              <a:t>December</a:t>
            </a:r>
            <a:endParaRPr lang="en-US" sz="1300" dirty="0"/>
          </a:p>
        </p:txBody>
      </p:sp>
      <p:pic>
        <p:nvPicPr>
          <p:cNvPr id="17" name="Image 2" descr="connector">    </p:cNvPr>
          <p:cNvPicPr>
            <a:picLocks noChangeAspect="1"/>
          </p:cNvPicPr>
          <p:nvPr/>
        </p:nvPicPr>
        <p:blipFill>
          <a:blip r:embed="rId3"/>
          <a:srcRect l="0" r="0" t="-5" b="-5"/>
          <a:stretch/>
        </p:blipFill>
        <p:spPr>
          <a:xfrm>
            <a:off x="4152883" y="1498575"/>
            <a:ext cx="76192" cy="4318000"/>
          </a:xfrm>
          <a:prstGeom prst="rect">
            <a:avLst/>
          </a:prstGeom>
        </p:spPr>
      </p:pic>
      <p:pic>
        <p:nvPicPr>
          <p:cNvPr id="18" name="Image 3" descr="connector">    </p:cNvPr>
          <p:cNvPicPr>
            <a:picLocks noChangeAspect="1"/>
          </p:cNvPicPr>
          <p:nvPr/>
        </p:nvPicPr>
        <p:blipFill>
          <a:blip r:embed="rId4"/>
          <a:srcRect l="0" r="0" t="-5" b="-5"/>
          <a:stretch/>
        </p:blipFill>
        <p:spPr>
          <a:xfrm>
            <a:off x="5397500" y="1498575"/>
            <a:ext cx="76192" cy="4318000"/>
          </a:xfrm>
          <a:prstGeom prst="rect">
            <a:avLst/>
          </a:prstGeom>
        </p:spPr>
      </p:pic>
      <p:pic>
        <p:nvPicPr>
          <p:cNvPr id="19" name="Image 4" descr="connector">    </p:cNvPr>
          <p:cNvPicPr>
            <a:picLocks noChangeAspect="1"/>
          </p:cNvPicPr>
          <p:nvPr/>
        </p:nvPicPr>
        <p:blipFill>
          <a:blip r:embed="rId5"/>
          <a:srcRect l="0" r="0" t="-5" b="-5"/>
          <a:stretch/>
        </p:blipFill>
        <p:spPr>
          <a:xfrm>
            <a:off x="6642075" y="1498575"/>
            <a:ext cx="76192" cy="4318000"/>
          </a:xfrm>
          <a:prstGeom prst="rect">
            <a:avLst/>
          </a:prstGeom>
        </p:spPr>
      </p:pic>
      <p:pic>
        <p:nvPicPr>
          <p:cNvPr id="20" name="Image 5" descr="connector">    </p:cNvPr>
          <p:cNvPicPr>
            <a:picLocks noChangeAspect="1"/>
          </p:cNvPicPr>
          <p:nvPr/>
        </p:nvPicPr>
        <p:blipFill>
          <a:blip r:embed="rId6"/>
          <a:srcRect l="0" r="0" t="-5" b="-5"/>
          <a:stretch/>
        </p:blipFill>
        <p:spPr>
          <a:xfrm>
            <a:off x="7848575" y="1498575"/>
            <a:ext cx="76192" cy="4318000"/>
          </a:xfrm>
          <a:prstGeom prst="rect">
            <a:avLst/>
          </a:prstGeom>
        </p:spPr>
      </p:pic>
      <p:pic>
        <p:nvPicPr>
          <p:cNvPr id="21" name="Image 6" descr="connector">    </p:cNvPr>
          <p:cNvPicPr>
            <a:picLocks noChangeAspect="1"/>
          </p:cNvPicPr>
          <p:nvPr/>
        </p:nvPicPr>
        <p:blipFill>
          <a:blip r:embed="rId7"/>
          <a:srcRect l="0" r="0" t="-5" b="-5"/>
          <a:stretch/>
        </p:blipFill>
        <p:spPr>
          <a:xfrm>
            <a:off x="9093191" y="1498575"/>
            <a:ext cx="76192" cy="4318000"/>
          </a:xfrm>
          <a:prstGeom prst="rect">
            <a:avLst/>
          </a:prstGeom>
        </p:spPr>
      </p:pic>
      <p:pic>
        <p:nvPicPr>
          <p:cNvPr id="22" name="Image 7" descr="connector">    </p:cNvPr>
          <p:cNvPicPr>
            <a:picLocks noChangeAspect="1"/>
          </p:cNvPicPr>
          <p:nvPr/>
        </p:nvPicPr>
        <p:blipFill>
          <a:blip r:embed="rId8"/>
          <a:srcRect l="0" r="0" t="-5" b="-5"/>
          <a:stretch/>
        </p:blipFill>
        <p:spPr>
          <a:xfrm>
            <a:off x="10299691" y="1498575"/>
            <a:ext cx="76192" cy="4318000"/>
          </a:xfrm>
          <a:prstGeom prst="rect">
            <a:avLst/>
          </a:prstGeom>
        </p:spPr>
      </p:pic>
      <p:pic>
        <p:nvPicPr>
          <p:cNvPr id="23" name="Image 8" descr="connector">    </p:cNvPr>
          <p:cNvPicPr>
            <a:picLocks noChangeAspect="1"/>
          </p:cNvPicPr>
          <p:nvPr/>
        </p:nvPicPr>
        <p:blipFill>
          <a:blip r:embed="rId9"/>
          <a:srcRect l="0" r="0" t="-5" b="-5"/>
          <a:stretch/>
        </p:blipFill>
        <p:spPr>
          <a:xfrm>
            <a:off x="11544267" y="1498575"/>
            <a:ext cx="76192" cy="4318000"/>
          </a:xfrm>
          <a:prstGeom prst="rect">
            <a:avLst/>
          </a:prstGeom>
        </p:spPr>
      </p:pic>
      <p:sp>
        <p:nvSpPr>
          <p:cNvPr id="24" name="Text 13"/>
          <p:cNvSpPr/>
          <p:nvPr/>
        </p:nvSpPr>
        <p:spPr>
          <a:xfrm>
            <a:off x="609575" y="1587500"/>
            <a:ext cx="3597275" cy="405904"/>
          </a:xfrm>
          <a:prstGeom prst="rect">
            <a:avLst/>
          </a:prstGeom>
          <a:noFill/>
          <a:ln/>
        </p:spPr>
        <p:txBody>
          <a:bodyPr wrap="square" lIns="0" tIns="0" rIns="0" bIns="0" rtlCol="0" anchor="t">
            <a:normAutofit/>
          </a:bodyPr>
          <a:lstStyle/>
          <a:p>
            <a:pPr algn="l" indent="0" marL="0">
              <a:lnSpc>
                <a:spcPts val="2996"/>
              </a:lnSpc>
              <a:buNone/>
            </a:pPr>
            <a:r>
              <a:rPr lang="en-US" sz="1400" dirty="0">
                <a:solidFill>
                  <a:srgbClr val="000000"/>
                </a:solidFill>
                <a:latin typeface="Carlito" pitchFamily="34" charset="0"/>
                <a:ea typeface="Carlito" pitchFamily="34" charset="-122"/>
                <a:cs typeface="Carlito" pitchFamily="34" charset="-120"/>
              </a:rPr>
              <a:t>Topic and proposal</a:t>
            </a:r>
            <a:endParaRPr lang="en-US" sz="1400" dirty="0"/>
          </a:p>
        </p:txBody>
      </p:sp>
      <p:sp>
        <p:nvSpPr>
          <p:cNvPr id="25" name="Text 14"/>
          <p:cNvSpPr/>
          <p:nvPr/>
        </p:nvSpPr>
        <p:spPr>
          <a:xfrm>
            <a:off x="609575" y="1968500"/>
            <a:ext cx="3597275" cy="405904"/>
          </a:xfrm>
          <a:prstGeom prst="rect">
            <a:avLst/>
          </a:prstGeom>
          <a:noFill/>
          <a:ln/>
        </p:spPr>
        <p:txBody>
          <a:bodyPr wrap="square" lIns="0" tIns="0" rIns="0" bIns="0" rtlCol="0" anchor="t">
            <a:normAutofit/>
          </a:bodyPr>
          <a:lstStyle/>
          <a:p>
            <a:pPr algn="l" indent="0" marL="0">
              <a:lnSpc>
                <a:spcPts val="2996"/>
              </a:lnSpc>
              <a:buNone/>
            </a:pPr>
            <a:r>
              <a:rPr lang="en-US" sz="1400" dirty="0">
                <a:solidFill>
                  <a:srgbClr val="000000"/>
                </a:solidFill>
                <a:latin typeface="Carlito" pitchFamily="34" charset="0"/>
                <a:ea typeface="Carlito" pitchFamily="34" charset="-122"/>
                <a:cs typeface="Carlito" pitchFamily="34" charset="-120"/>
              </a:rPr>
              <a:t>Literature and dataset research</a:t>
            </a:r>
            <a:endParaRPr lang="en-US" sz="1400" dirty="0"/>
          </a:p>
        </p:txBody>
      </p:sp>
      <p:sp>
        <p:nvSpPr>
          <p:cNvPr id="26" name="Text 15"/>
          <p:cNvSpPr/>
          <p:nvPr/>
        </p:nvSpPr>
        <p:spPr>
          <a:xfrm>
            <a:off x="609575" y="2349500"/>
            <a:ext cx="3597275" cy="405904"/>
          </a:xfrm>
          <a:prstGeom prst="rect">
            <a:avLst/>
          </a:prstGeom>
          <a:noFill/>
          <a:ln/>
        </p:spPr>
        <p:txBody>
          <a:bodyPr wrap="square" lIns="0" tIns="0" rIns="0" bIns="0" rtlCol="0" anchor="t">
            <a:normAutofit/>
          </a:bodyPr>
          <a:lstStyle/>
          <a:p>
            <a:pPr algn="l" indent="0" marL="0">
              <a:lnSpc>
                <a:spcPts val="2996"/>
              </a:lnSpc>
              <a:buNone/>
            </a:pPr>
            <a:r>
              <a:rPr lang="en-US" sz="1400" dirty="0">
                <a:solidFill>
                  <a:srgbClr val="000000"/>
                </a:solidFill>
                <a:latin typeface="Carlito" pitchFamily="34" charset="0"/>
                <a:ea typeface="Carlito" pitchFamily="34" charset="-122"/>
                <a:cs typeface="Carlito" pitchFamily="34" charset="-120"/>
              </a:rPr>
              <a:t>Dataset decision</a:t>
            </a:r>
            <a:endParaRPr lang="en-US" sz="1400" dirty="0"/>
          </a:p>
        </p:txBody>
      </p:sp>
      <p:sp>
        <p:nvSpPr>
          <p:cNvPr id="27" name="Text 16"/>
          <p:cNvSpPr/>
          <p:nvPr/>
        </p:nvSpPr>
        <p:spPr>
          <a:xfrm>
            <a:off x="609575" y="2730500"/>
            <a:ext cx="3597275" cy="405904"/>
          </a:xfrm>
          <a:prstGeom prst="rect">
            <a:avLst/>
          </a:prstGeom>
          <a:noFill/>
          <a:ln/>
        </p:spPr>
        <p:txBody>
          <a:bodyPr wrap="square" lIns="0" tIns="0" rIns="0" bIns="0" rtlCol="0" anchor="t">
            <a:normAutofit/>
          </a:bodyPr>
          <a:lstStyle/>
          <a:p>
            <a:pPr algn="l" indent="0" marL="0">
              <a:lnSpc>
                <a:spcPts val="2996"/>
              </a:lnSpc>
              <a:buNone/>
            </a:pPr>
            <a:r>
              <a:rPr lang="en-US" sz="1400" dirty="0">
                <a:solidFill>
                  <a:srgbClr val="000000"/>
                </a:solidFill>
                <a:latin typeface="Carlito" pitchFamily="34" charset="0"/>
                <a:ea typeface="Carlito" pitchFamily="34" charset="-122"/>
                <a:cs typeface="Carlito" pitchFamily="34" charset="-120"/>
              </a:rPr>
              <a:t>Causal engine, RAG core, mid-sem</a:t>
            </a:r>
            <a:endParaRPr lang="en-US" sz="1400" dirty="0"/>
          </a:p>
        </p:txBody>
      </p:sp>
      <p:sp>
        <p:nvSpPr>
          <p:cNvPr id="28" name="Text 17"/>
          <p:cNvSpPr/>
          <p:nvPr/>
        </p:nvSpPr>
        <p:spPr>
          <a:xfrm>
            <a:off x="609575" y="3111500"/>
            <a:ext cx="3597275" cy="405904"/>
          </a:xfrm>
          <a:prstGeom prst="rect">
            <a:avLst/>
          </a:prstGeom>
          <a:noFill/>
          <a:ln/>
        </p:spPr>
        <p:txBody>
          <a:bodyPr wrap="square" lIns="0" tIns="0" rIns="0" bIns="0" rtlCol="0" anchor="t">
            <a:normAutofit/>
          </a:bodyPr>
          <a:lstStyle/>
          <a:p>
            <a:pPr algn="l" indent="0" marL="0">
              <a:lnSpc>
                <a:spcPts val="2996"/>
              </a:lnSpc>
              <a:buNone/>
            </a:pPr>
            <a:r>
              <a:rPr lang="en-US" sz="1400" dirty="0">
                <a:solidFill>
                  <a:srgbClr val="000000"/>
                </a:solidFill>
                <a:latin typeface="Carlito" pitchFamily="34" charset="0"/>
                <a:ea typeface="Carlito" pitchFamily="34" charset="-122"/>
                <a:cs typeface="Carlito" pitchFamily="34" charset="-120"/>
              </a:rPr>
              <a:t>RAG upgrades and engine fixes</a:t>
            </a:r>
            <a:endParaRPr lang="en-US" sz="1400" dirty="0"/>
          </a:p>
        </p:txBody>
      </p:sp>
      <p:sp>
        <p:nvSpPr>
          <p:cNvPr id="29" name="Text 18"/>
          <p:cNvSpPr/>
          <p:nvPr/>
        </p:nvSpPr>
        <p:spPr>
          <a:xfrm>
            <a:off x="609575" y="3492500"/>
            <a:ext cx="3597275" cy="405904"/>
          </a:xfrm>
          <a:prstGeom prst="rect">
            <a:avLst/>
          </a:prstGeom>
          <a:noFill/>
          <a:ln/>
        </p:spPr>
        <p:txBody>
          <a:bodyPr wrap="square" lIns="0" tIns="0" rIns="0" bIns="0" rtlCol="0" anchor="t">
            <a:normAutofit/>
          </a:bodyPr>
          <a:lstStyle/>
          <a:p>
            <a:pPr algn="l" indent="0" marL="0">
              <a:lnSpc>
                <a:spcPts val="2996"/>
              </a:lnSpc>
              <a:buNone/>
            </a:pPr>
            <a:r>
              <a:rPr lang="en-US" sz="1400" dirty="0">
                <a:solidFill>
                  <a:srgbClr val="000000"/>
                </a:solidFill>
                <a:latin typeface="Carlito" pitchFamily="34" charset="0"/>
                <a:ea typeface="Carlito" pitchFamily="34" charset="-122"/>
                <a:cs typeface="Carlito" pitchFamily="34" charset="-120"/>
              </a:rPr>
              <a:t>Results frozen and doctor review</a:t>
            </a:r>
            <a:endParaRPr lang="en-US" sz="1400" dirty="0"/>
          </a:p>
        </p:txBody>
      </p:sp>
      <p:sp>
        <p:nvSpPr>
          <p:cNvPr id="30" name="Text 19"/>
          <p:cNvSpPr/>
          <p:nvPr/>
        </p:nvSpPr>
        <p:spPr>
          <a:xfrm>
            <a:off x="609575" y="3873500"/>
            <a:ext cx="3597275" cy="405904"/>
          </a:xfrm>
          <a:prstGeom prst="rect">
            <a:avLst/>
          </a:prstGeom>
          <a:noFill/>
          <a:ln/>
        </p:spPr>
        <p:txBody>
          <a:bodyPr wrap="square" lIns="0" tIns="0" rIns="0" bIns="0" rtlCol="0" anchor="t">
            <a:normAutofit/>
          </a:bodyPr>
          <a:lstStyle/>
          <a:p>
            <a:pPr algn="l" indent="0" marL="0">
              <a:lnSpc>
                <a:spcPts val="2996"/>
              </a:lnSpc>
              <a:buNone/>
            </a:pPr>
            <a:r>
              <a:rPr lang="en-US" sz="1400" dirty="0">
                <a:solidFill>
                  <a:srgbClr val="000000"/>
                </a:solidFill>
                <a:latin typeface="Carlito" pitchFamily="34" charset="0"/>
                <a:ea typeface="Carlito" pitchFamily="34" charset="-122"/>
                <a:cs typeface="Carlito" pitchFamily="34" charset="-120"/>
              </a:rPr>
              <a:t>Chat-app integration, paper draft</a:t>
            </a:r>
            <a:endParaRPr lang="en-US" sz="1400" dirty="0"/>
          </a:p>
        </p:txBody>
      </p:sp>
      <p:sp>
        <p:nvSpPr>
          <p:cNvPr id="31" name="Text 20"/>
          <p:cNvSpPr/>
          <p:nvPr/>
        </p:nvSpPr>
        <p:spPr>
          <a:xfrm>
            <a:off x="609575" y="4254500"/>
            <a:ext cx="3597275" cy="405904"/>
          </a:xfrm>
          <a:prstGeom prst="rect">
            <a:avLst/>
          </a:prstGeom>
          <a:noFill/>
          <a:ln/>
        </p:spPr>
        <p:txBody>
          <a:bodyPr wrap="square" lIns="0" tIns="0" rIns="0" bIns="0" rtlCol="0" anchor="t">
            <a:normAutofit/>
          </a:bodyPr>
          <a:lstStyle/>
          <a:p>
            <a:pPr algn="l" indent="0" marL="0">
              <a:lnSpc>
                <a:spcPts val="2996"/>
              </a:lnSpc>
              <a:buNone/>
            </a:pPr>
            <a:r>
              <a:rPr lang="en-US" sz="1400" dirty="0">
                <a:solidFill>
                  <a:srgbClr val="000000"/>
                </a:solidFill>
                <a:latin typeface="Carlito" pitchFamily="34" charset="0"/>
                <a:ea typeface="Carlito" pitchFamily="34" charset="-122"/>
                <a:cs typeface="Carlito" pitchFamily="34" charset="-120"/>
              </a:rPr>
              <a:t>Final report, paper, viva</a:t>
            </a:r>
            <a:endParaRPr lang="en-US" sz="1400" dirty="0"/>
          </a:p>
        </p:txBody>
      </p:sp>
      <p:sp>
        <p:nvSpPr>
          <p:cNvPr id="32" name="Text 21"/>
          <p:cNvSpPr/>
          <p:nvPr/>
        </p:nvSpPr>
        <p:spPr>
          <a:xfrm>
            <a:off x="609575" y="4635500"/>
            <a:ext cx="3597275" cy="405904"/>
          </a:xfrm>
          <a:prstGeom prst="rect">
            <a:avLst/>
          </a:prstGeom>
          <a:noFill/>
          <a:ln/>
        </p:spPr>
        <p:txBody>
          <a:bodyPr wrap="square" lIns="0" tIns="0" rIns="0" bIns="0" rtlCol="0" anchor="t">
            <a:normAutofit/>
          </a:bodyPr>
          <a:lstStyle/>
          <a:p>
            <a:pPr algn="l" indent="0" marL="0">
              <a:lnSpc>
                <a:spcPts val="2996"/>
              </a:lnSpc>
              <a:buNone/>
            </a:pPr>
            <a:r>
              <a:rPr lang="en-US" sz="1400" dirty="0">
                <a:solidFill>
                  <a:srgbClr val="000000"/>
                </a:solidFill>
                <a:latin typeface="Carlito" pitchFamily="34" charset="0"/>
                <a:ea typeface="Carlito" pitchFamily="34" charset="-122"/>
                <a:cs typeface="Carlito" pitchFamily="34" charset="-120"/>
              </a:rPr>
              <a:t>Practical exams</a:t>
            </a:r>
            <a:endParaRPr lang="en-US" sz="1400" dirty="0"/>
          </a:p>
        </p:txBody>
      </p:sp>
      <p:sp>
        <p:nvSpPr>
          <p:cNvPr id="33" name="Text 22"/>
          <p:cNvSpPr/>
          <p:nvPr/>
        </p:nvSpPr>
        <p:spPr>
          <a:xfrm>
            <a:off x="609575" y="5016500"/>
            <a:ext cx="3597275" cy="405904"/>
          </a:xfrm>
          <a:prstGeom prst="rect">
            <a:avLst/>
          </a:prstGeom>
          <a:noFill/>
          <a:ln/>
        </p:spPr>
        <p:txBody>
          <a:bodyPr wrap="square" lIns="0" tIns="0" rIns="0" bIns="0" rtlCol="0" anchor="t">
            <a:normAutofit/>
          </a:bodyPr>
          <a:lstStyle/>
          <a:p>
            <a:pPr algn="l" indent="0" marL="0">
              <a:lnSpc>
                <a:spcPts val="2996"/>
              </a:lnSpc>
              <a:buNone/>
            </a:pPr>
            <a:r>
              <a:rPr lang="en-US" sz="1400" dirty="0">
                <a:solidFill>
                  <a:srgbClr val="000000"/>
                </a:solidFill>
                <a:latin typeface="Carlito" pitchFamily="34" charset="0"/>
                <a:ea typeface="Carlito" pitchFamily="34" charset="-122"/>
                <a:cs typeface="Carlito" pitchFamily="34" charset="-120"/>
              </a:rPr>
              <a:t>Theory exams</a:t>
            </a:r>
            <a:endParaRPr lang="en-US" sz="1400" dirty="0"/>
          </a:p>
        </p:txBody>
      </p:sp>
      <p:sp>
        <p:nvSpPr>
          <p:cNvPr id="34" name="Text 23"/>
          <p:cNvSpPr/>
          <p:nvPr/>
        </p:nvSpPr>
        <p:spPr>
          <a:xfrm>
            <a:off x="609575" y="5397500"/>
            <a:ext cx="3597275" cy="405904"/>
          </a:xfrm>
          <a:prstGeom prst="rect">
            <a:avLst/>
          </a:prstGeom>
          <a:noFill/>
          <a:ln/>
        </p:spPr>
        <p:txBody>
          <a:bodyPr wrap="square" lIns="0" tIns="0" rIns="0" bIns="0" rtlCol="0" anchor="t">
            <a:normAutofit/>
          </a:bodyPr>
          <a:lstStyle/>
          <a:p>
            <a:pPr algn="l" indent="0" marL="0">
              <a:lnSpc>
                <a:spcPts val="2996"/>
              </a:lnSpc>
              <a:buNone/>
            </a:pPr>
            <a:r>
              <a:rPr lang="en-US" sz="1400" dirty="0">
                <a:solidFill>
                  <a:srgbClr val="000000"/>
                </a:solidFill>
                <a:latin typeface="Carlito" pitchFamily="34" charset="0"/>
                <a:ea typeface="Carlito" pitchFamily="34" charset="-122"/>
                <a:cs typeface="Carlito" pitchFamily="34" charset="-120"/>
              </a:rPr>
              <a:t>Final submission</a:t>
            </a:r>
            <a:endParaRPr lang="en-US" sz="1400" dirty="0"/>
          </a:p>
        </p:txBody>
      </p:sp>
      <p:sp>
        <p:nvSpPr>
          <p:cNvPr id="35" name="Shape 24"/>
          <p:cNvSpPr/>
          <p:nvPr/>
        </p:nvSpPr>
        <p:spPr>
          <a:xfrm>
            <a:off x="4191000" y="1676381"/>
            <a:ext cx="1847825" cy="203192"/>
          </a:xfrm>
          <a:prstGeom prst="rect">
            <a:avLst/>
          </a:prstGeom>
          <a:solidFill>
            <a:srgbClr val="002060"/>
          </a:solidFill>
          <a:ln/>
        </p:spPr>
      </p:sp>
      <p:sp>
        <p:nvSpPr>
          <p:cNvPr id="36" name="Shape 25"/>
          <p:cNvSpPr/>
          <p:nvPr/>
        </p:nvSpPr>
        <p:spPr>
          <a:xfrm>
            <a:off x="5435575" y="2057381"/>
            <a:ext cx="1689075" cy="203192"/>
          </a:xfrm>
          <a:prstGeom prst="rect">
            <a:avLst/>
          </a:prstGeom>
          <a:solidFill>
            <a:srgbClr val="002060"/>
          </a:solidFill>
          <a:ln/>
        </p:spPr>
      </p:sp>
      <p:sp>
        <p:nvSpPr>
          <p:cNvPr id="37" name="Shape 26"/>
          <p:cNvSpPr/>
          <p:nvPr/>
        </p:nvSpPr>
        <p:spPr>
          <a:xfrm>
            <a:off x="7124691" y="2438381"/>
            <a:ext cx="120633" cy="203192"/>
          </a:xfrm>
          <a:prstGeom prst="rect">
            <a:avLst/>
          </a:prstGeom>
          <a:solidFill>
            <a:srgbClr val="002060"/>
          </a:solidFill>
          <a:ln/>
        </p:spPr>
      </p:sp>
      <p:sp>
        <p:nvSpPr>
          <p:cNvPr id="38" name="Shape 27"/>
          <p:cNvSpPr/>
          <p:nvPr/>
        </p:nvSpPr>
        <p:spPr>
          <a:xfrm>
            <a:off x="7245325" y="2819381"/>
            <a:ext cx="641325" cy="203192"/>
          </a:xfrm>
          <a:prstGeom prst="rect">
            <a:avLst/>
          </a:prstGeom>
          <a:solidFill>
            <a:srgbClr val="5B7DB1"/>
          </a:solidFill>
          <a:ln/>
        </p:spPr>
      </p:sp>
      <p:sp>
        <p:nvSpPr>
          <p:cNvPr id="39" name="Shape 28"/>
          <p:cNvSpPr/>
          <p:nvPr/>
        </p:nvSpPr>
        <p:spPr>
          <a:xfrm>
            <a:off x="7886691" y="3200381"/>
            <a:ext cx="361942" cy="203192"/>
          </a:xfrm>
          <a:prstGeom prst="rect">
            <a:avLst/>
          </a:prstGeom>
          <a:solidFill>
            <a:srgbClr val="BFBFBF"/>
          </a:solidFill>
          <a:ln/>
        </p:spPr>
      </p:sp>
      <p:sp>
        <p:nvSpPr>
          <p:cNvPr id="40" name="Shape 29"/>
          <p:cNvSpPr/>
          <p:nvPr/>
        </p:nvSpPr>
        <p:spPr>
          <a:xfrm>
            <a:off x="8248633" y="3581381"/>
            <a:ext cx="279383" cy="203192"/>
          </a:xfrm>
          <a:prstGeom prst="rect">
            <a:avLst/>
          </a:prstGeom>
          <a:solidFill>
            <a:srgbClr val="BFBFBF"/>
          </a:solidFill>
          <a:ln/>
        </p:spPr>
      </p:sp>
      <p:sp>
        <p:nvSpPr>
          <p:cNvPr id="41" name="Shape 30"/>
          <p:cNvSpPr/>
          <p:nvPr/>
        </p:nvSpPr>
        <p:spPr>
          <a:xfrm>
            <a:off x="8528017" y="3962381"/>
            <a:ext cx="279383" cy="203192"/>
          </a:xfrm>
          <a:prstGeom prst="rect">
            <a:avLst/>
          </a:prstGeom>
          <a:solidFill>
            <a:srgbClr val="BFBFBF"/>
          </a:solidFill>
          <a:ln/>
        </p:spPr>
      </p:sp>
      <p:sp>
        <p:nvSpPr>
          <p:cNvPr id="42" name="Shape 31"/>
          <p:cNvSpPr/>
          <p:nvPr/>
        </p:nvSpPr>
        <p:spPr>
          <a:xfrm>
            <a:off x="8813767" y="4343381"/>
            <a:ext cx="279383" cy="203192"/>
          </a:xfrm>
          <a:prstGeom prst="rect">
            <a:avLst/>
          </a:prstGeom>
          <a:solidFill>
            <a:srgbClr val="BFBFBF"/>
          </a:solidFill>
          <a:ln/>
        </p:spPr>
      </p:sp>
      <p:sp>
        <p:nvSpPr>
          <p:cNvPr id="43" name="Shape 32"/>
          <p:cNvSpPr/>
          <p:nvPr/>
        </p:nvSpPr>
        <p:spPr>
          <a:xfrm>
            <a:off x="9099541" y="4730731"/>
            <a:ext cx="311125" cy="190492"/>
          </a:xfrm>
          <a:prstGeom prst="rect">
            <a:avLst/>
          </a:prstGeom>
          <a:solidFill>
            <a:srgbClr val="FFFFFF"/>
          </a:solidFill>
          <a:ln w="12700">
            <a:solidFill>
              <a:srgbClr val="7F7F7F"/>
            </a:solidFill>
            <a:prstDash val="dash"/>
          </a:ln>
        </p:spPr>
      </p:sp>
      <p:sp>
        <p:nvSpPr>
          <p:cNvPr id="44" name="Shape 33"/>
          <p:cNvSpPr/>
          <p:nvPr/>
        </p:nvSpPr>
        <p:spPr>
          <a:xfrm>
            <a:off x="9823425" y="5111731"/>
            <a:ext cx="507992" cy="190492"/>
          </a:xfrm>
          <a:prstGeom prst="rect">
            <a:avLst/>
          </a:prstGeom>
          <a:solidFill>
            <a:srgbClr val="FFFFFF"/>
          </a:solidFill>
          <a:ln w="12700">
            <a:solidFill>
              <a:srgbClr val="7F7F7F"/>
            </a:solidFill>
            <a:prstDash val="dash"/>
          </a:ln>
        </p:spPr>
      </p:sp>
      <p:sp>
        <p:nvSpPr>
          <p:cNvPr id="45" name="Shape 34"/>
          <p:cNvSpPr/>
          <p:nvPr/>
        </p:nvSpPr>
        <p:spPr>
          <a:xfrm>
            <a:off x="10337767" y="5486381"/>
            <a:ext cx="1244575" cy="203192"/>
          </a:xfrm>
          <a:prstGeom prst="rect">
            <a:avLst/>
          </a:prstGeom>
          <a:solidFill>
            <a:srgbClr val="BFBFBF"/>
          </a:solidFill>
          <a:ln/>
        </p:spPr>
      </p:sp>
      <p:sp>
        <p:nvSpPr>
          <p:cNvPr id="46" name="Text 35"/>
          <p:cNvSpPr/>
          <p:nvPr/>
        </p:nvSpPr>
        <p:spPr>
          <a:xfrm>
            <a:off x="4163283" y="1587500"/>
            <a:ext cx="1903260" cy="406359"/>
          </a:xfrm>
          <a:prstGeom prst="rect">
            <a:avLst/>
          </a:prstGeom>
          <a:noFill/>
          <a:ln/>
        </p:spPr>
        <p:txBody>
          <a:bodyPr wrap="square" lIns="0" tIns="0" rIns="0" bIns="0" rtlCol="0" anchor="t">
            <a:normAutofit/>
          </a:bodyPr>
          <a:lstStyle/>
          <a:p>
            <a:pPr algn="ctr" indent="0" marL="0">
              <a:lnSpc>
                <a:spcPts val="3000"/>
              </a:lnSpc>
              <a:buNone/>
            </a:pPr>
            <a:r>
              <a:rPr lang="en-US" sz="1200" dirty="0">
                <a:solidFill>
                  <a:srgbClr val="FFFFFF"/>
                </a:solidFill>
                <a:latin typeface="Carlito" pitchFamily="34" charset="0"/>
                <a:ea typeface="Carlito" pitchFamily="34" charset="-122"/>
                <a:cs typeface="Carlito" pitchFamily="34" charset="-120"/>
              </a:rPr>
              <a:t>Jul – mid-Aug</a:t>
            </a:r>
            <a:endParaRPr lang="en-US" sz="1200" dirty="0"/>
          </a:p>
        </p:txBody>
      </p:sp>
      <p:sp>
        <p:nvSpPr>
          <p:cNvPr id="47" name="Text 36"/>
          <p:cNvSpPr/>
          <p:nvPr/>
        </p:nvSpPr>
        <p:spPr>
          <a:xfrm>
            <a:off x="5410175" y="1968500"/>
            <a:ext cx="1739875" cy="406359"/>
          </a:xfrm>
          <a:prstGeom prst="rect">
            <a:avLst/>
          </a:prstGeom>
          <a:noFill/>
          <a:ln/>
        </p:spPr>
        <p:txBody>
          <a:bodyPr wrap="square" lIns="0" tIns="0" rIns="0" bIns="0" rtlCol="0" anchor="t">
            <a:normAutofit/>
          </a:bodyPr>
          <a:lstStyle/>
          <a:p>
            <a:pPr algn="ctr" indent="0" marL="0">
              <a:lnSpc>
                <a:spcPts val="3000"/>
              </a:lnSpc>
              <a:buNone/>
            </a:pPr>
            <a:r>
              <a:rPr lang="en-US" sz="1200" dirty="0">
                <a:solidFill>
                  <a:srgbClr val="FFFFFF"/>
                </a:solidFill>
                <a:latin typeface="Carlito" pitchFamily="34" charset="0"/>
                <a:ea typeface="Carlito" pitchFamily="34" charset="-122"/>
                <a:cs typeface="Carlito" pitchFamily="34" charset="-120"/>
              </a:rPr>
              <a:t>Aug – 11 Sep</a:t>
            </a:r>
            <a:endParaRPr lang="en-US" sz="1200" dirty="0"/>
          </a:p>
        </p:txBody>
      </p:sp>
      <p:sp>
        <p:nvSpPr>
          <p:cNvPr id="48" name="Text 37"/>
          <p:cNvSpPr/>
          <p:nvPr/>
        </p:nvSpPr>
        <p:spPr>
          <a:xfrm>
            <a:off x="5803891" y="2349500"/>
            <a:ext cx="1257300" cy="406359"/>
          </a:xfrm>
          <a:prstGeom prst="rect">
            <a:avLst/>
          </a:prstGeom>
          <a:noFill/>
          <a:ln/>
        </p:spPr>
        <p:txBody>
          <a:bodyPr wrap="square" lIns="0" tIns="0" rIns="0" bIns="0" rtlCol="0" anchor="t">
            <a:normAutofit/>
          </a:bodyPr>
          <a:lstStyle/>
          <a:p>
            <a:pPr algn="r" indent="0" marL="0">
              <a:lnSpc>
                <a:spcPts val="3000"/>
              </a:lnSpc>
              <a:buNone/>
            </a:pPr>
            <a:r>
              <a:rPr lang="en-US" sz="1200" dirty="0">
                <a:solidFill>
                  <a:srgbClr val="595959"/>
                </a:solidFill>
                <a:latin typeface="Carlito" pitchFamily="34" charset="0"/>
                <a:ea typeface="Carlito" pitchFamily="34" charset="-122"/>
                <a:cs typeface="Carlito" pitchFamily="34" charset="-120"/>
              </a:rPr>
              <a:t>12–14 Sep</a:t>
            </a:r>
            <a:endParaRPr lang="en-US" sz="1200" dirty="0"/>
          </a:p>
        </p:txBody>
      </p:sp>
      <p:sp>
        <p:nvSpPr>
          <p:cNvPr id="49" name="Text 38"/>
          <p:cNvSpPr/>
          <p:nvPr/>
        </p:nvSpPr>
        <p:spPr>
          <a:xfrm>
            <a:off x="5924525" y="2730500"/>
            <a:ext cx="1257300" cy="406359"/>
          </a:xfrm>
          <a:prstGeom prst="rect">
            <a:avLst/>
          </a:prstGeom>
          <a:noFill/>
          <a:ln/>
        </p:spPr>
        <p:txBody>
          <a:bodyPr wrap="square" lIns="0" tIns="0" rIns="0" bIns="0" rtlCol="0" anchor="t">
            <a:normAutofit/>
          </a:bodyPr>
          <a:lstStyle/>
          <a:p>
            <a:pPr algn="r" indent="0" marL="0">
              <a:lnSpc>
                <a:spcPts val="3000"/>
              </a:lnSpc>
              <a:buNone/>
            </a:pPr>
            <a:r>
              <a:rPr lang="en-US" sz="1200" dirty="0">
                <a:solidFill>
                  <a:srgbClr val="595959"/>
                </a:solidFill>
                <a:latin typeface="Carlito" pitchFamily="34" charset="0"/>
                <a:ea typeface="Carlito" pitchFamily="34" charset="-122"/>
                <a:cs typeface="Carlito" pitchFamily="34" charset="-120"/>
              </a:rPr>
              <a:t>15–30 Sep</a:t>
            </a:r>
            <a:endParaRPr lang="en-US" sz="1200" dirty="0"/>
          </a:p>
        </p:txBody>
      </p:sp>
      <p:sp>
        <p:nvSpPr>
          <p:cNvPr id="50" name="Text 39"/>
          <p:cNvSpPr/>
          <p:nvPr/>
        </p:nvSpPr>
        <p:spPr>
          <a:xfrm>
            <a:off x="8312133" y="3111500"/>
            <a:ext cx="1511300" cy="406359"/>
          </a:xfrm>
          <a:prstGeom prst="rect">
            <a:avLst/>
          </a:prstGeom>
          <a:noFill/>
          <a:ln/>
        </p:spPr>
        <p:txBody>
          <a:bodyPr wrap="square" lIns="0" tIns="0" rIns="0" bIns="0" rtlCol="0" anchor="t">
            <a:normAutofit/>
          </a:bodyPr>
          <a:lstStyle/>
          <a:p>
            <a:pPr algn="l" indent="0" marL="0">
              <a:lnSpc>
                <a:spcPts val="3000"/>
              </a:lnSpc>
              <a:buNone/>
            </a:pPr>
            <a:r>
              <a:rPr lang="en-US" sz="1200" dirty="0">
                <a:solidFill>
                  <a:srgbClr val="595959"/>
                </a:solidFill>
                <a:latin typeface="Carlito" pitchFamily="34" charset="0"/>
                <a:ea typeface="Carlito" pitchFamily="34" charset="-122"/>
                <a:cs typeface="Carlito" pitchFamily="34" charset="-120"/>
              </a:rPr>
              <a:t>1–9 Oct</a:t>
            </a:r>
            <a:endParaRPr lang="en-US" sz="1200" dirty="0"/>
          </a:p>
        </p:txBody>
      </p:sp>
      <p:sp>
        <p:nvSpPr>
          <p:cNvPr id="51" name="Text 40"/>
          <p:cNvSpPr/>
          <p:nvPr/>
        </p:nvSpPr>
        <p:spPr>
          <a:xfrm>
            <a:off x="8591517" y="3492500"/>
            <a:ext cx="1511300" cy="406359"/>
          </a:xfrm>
          <a:prstGeom prst="rect">
            <a:avLst/>
          </a:prstGeom>
          <a:noFill/>
          <a:ln/>
        </p:spPr>
        <p:txBody>
          <a:bodyPr wrap="square" lIns="0" tIns="0" rIns="0" bIns="0" rtlCol="0" anchor="t">
            <a:normAutofit/>
          </a:bodyPr>
          <a:lstStyle/>
          <a:p>
            <a:pPr algn="l" indent="0" marL="0">
              <a:lnSpc>
                <a:spcPts val="3000"/>
              </a:lnSpc>
              <a:buNone/>
            </a:pPr>
            <a:r>
              <a:rPr lang="en-US" sz="1200" dirty="0">
                <a:solidFill>
                  <a:srgbClr val="595959"/>
                </a:solidFill>
                <a:latin typeface="Carlito" pitchFamily="34" charset="0"/>
                <a:ea typeface="Carlito" pitchFamily="34" charset="-122"/>
                <a:cs typeface="Carlito" pitchFamily="34" charset="-120"/>
              </a:rPr>
              <a:t>10–16 Oct</a:t>
            </a:r>
            <a:endParaRPr lang="en-US" sz="1200" dirty="0"/>
          </a:p>
        </p:txBody>
      </p:sp>
      <p:sp>
        <p:nvSpPr>
          <p:cNvPr id="52" name="Text 41"/>
          <p:cNvSpPr/>
          <p:nvPr/>
        </p:nvSpPr>
        <p:spPr>
          <a:xfrm>
            <a:off x="8877267" y="3873500"/>
            <a:ext cx="1511300" cy="406359"/>
          </a:xfrm>
          <a:prstGeom prst="rect">
            <a:avLst/>
          </a:prstGeom>
          <a:noFill/>
          <a:ln/>
        </p:spPr>
        <p:txBody>
          <a:bodyPr wrap="square" lIns="0" tIns="0" rIns="0" bIns="0" rtlCol="0" anchor="t">
            <a:normAutofit/>
          </a:bodyPr>
          <a:lstStyle/>
          <a:p>
            <a:pPr algn="l" indent="0" marL="0">
              <a:lnSpc>
                <a:spcPts val="3000"/>
              </a:lnSpc>
              <a:buNone/>
            </a:pPr>
            <a:r>
              <a:rPr lang="en-US" sz="1200" dirty="0">
                <a:solidFill>
                  <a:srgbClr val="595959"/>
                </a:solidFill>
                <a:latin typeface="Carlito" pitchFamily="34" charset="0"/>
                <a:ea typeface="Carlito" pitchFamily="34" charset="-122"/>
                <a:cs typeface="Carlito" pitchFamily="34" charset="-120"/>
              </a:rPr>
              <a:t>17–23 Oct</a:t>
            </a:r>
            <a:endParaRPr lang="en-US" sz="1200" dirty="0"/>
          </a:p>
        </p:txBody>
      </p:sp>
      <p:sp>
        <p:nvSpPr>
          <p:cNvPr id="53" name="Text 42"/>
          <p:cNvSpPr/>
          <p:nvPr/>
        </p:nvSpPr>
        <p:spPr>
          <a:xfrm>
            <a:off x="9156691" y="4254500"/>
            <a:ext cx="1511300" cy="406359"/>
          </a:xfrm>
          <a:prstGeom prst="rect">
            <a:avLst/>
          </a:prstGeom>
          <a:noFill/>
          <a:ln/>
        </p:spPr>
        <p:txBody>
          <a:bodyPr wrap="square" lIns="0" tIns="0" rIns="0" bIns="0" rtlCol="0" anchor="t">
            <a:normAutofit/>
          </a:bodyPr>
          <a:lstStyle/>
          <a:p>
            <a:pPr algn="l" indent="0" marL="0">
              <a:lnSpc>
                <a:spcPts val="3000"/>
              </a:lnSpc>
              <a:buNone/>
            </a:pPr>
            <a:r>
              <a:rPr lang="en-US" sz="1200" dirty="0">
                <a:solidFill>
                  <a:srgbClr val="595959"/>
                </a:solidFill>
                <a:latin typeface="Carlito" pitchFamily="34" charset="0"/>
                <a:ea typeface="Carlito" pitchFamily="34" charset="-122"/>
                <a:cs typeface="Carlito" pitchFamily="34" charset="-120"/>
              </a:rPr>
              <a:t>24–30 Oct</a:t>
            </a:r>
            <a:endParaRPr lang="en-US" sz="1200" dirty="0"/>
          </a:p>
        </p:txBody>
      </p:sp>
      <p:sp>
        <p:nvSpPr>
          <p:cNvPr id="54" name="Text 43"/>
          <p:cNvSpPr/>
          <p:nvPr/>
        </p:nvSpPr>
        <p:spPr>
          <a:xfrm>
            <a:off x="9474191" y="4635500"/>
            <a:ext cx="1511300" cy="406359"/>
          </a:xfrm>
          <a:prstGeom prst="rect">
            <a:avLst/>
          </a:prstGeom>
          <a:noFill/>
          <a:ln/>
        </p:spPr>
        <p:txBody>
          <a:bodyPr wrap="square" lIns="0" tIns="0" rIns="0" bIns="0" rtlCol="0" anchor="t">
            <a:normAutofit/>
          </a:bodyPr>
          <a:lstStyle/>
          <a:p>
            <a:pPr algn="l" indent="0" marL="0">
              <a:lnSpc>
                <a:spcPts val="3000"/>
              </a:lnSpc>
              <a:buNone/>
            </a:pPr>
            <a:r>
              <a:rPr lang="en-US" sz="1200" dirty="0">
                <a:solidFill>
                  <a:srgbClr val="595959"/>
                </a:solidFill>
                <a:latin typeface="Carlito" pitchFamily="34" charset="0"/>
                <a:ea typeface="Carlito" pitchFamily="34" charset="-122"/>
                <a:cs typeface="Carlito" pitchFamily="34" charset="-120"/>
              </a:rPr>
              <a:t>31 Oct – 7 Nov</a:t>
            </a:r>
            <a:endParaRPr lang="en-US" sz="1200" dirty="0"/>
          </a:p>
        </p:txBody>
      </p:sp>
      <p:sp>
        <p:nvSpPr>
          <p:cNvPr id="55" name="Text 44"/>
          <p:cNvSpPr/>
          <p:nvPr/>
        </p:nvSpPr>
        <p:spPr>
          <a:xfrm>
            <a:off x="10401267" y="5016500"/>
            <a:ext cx="1193800" cy="406359"/>
          </a:xfrm>
          <a:prstGeom prst="rect">
            <a:avLst/>
          </a:prstGeom>
          <a:noFill/>
          <a:ln/>
        </p:spPr>
        <p:txBody>
          <a:bodyPr wrap="square" lIns="0" tIns="0" rIns="0" bIns="0" rtlCol="0" anchor="t">
            <a:normAutofit/>
          </a:bodyPr>
          <a:lstStyle/>
          <a:p>
            <a:pPr algn="l" indent="0" marL="0">
              <a:lnSpc>
                <a:spcPts val="3000"/>
              </a:lnSpc>
              <a:buNone/>
            </a:pPr>
            <a:r>
              <a:rPr lang="en-US" sz="1200" dirty="0">
                <a:solidFill>
                  <a:srgbClr val="595959"/>
                </a:solidFill>
                <a:latin typeface="Carlito" pitchFamily="34" charset="0"/>
                <a:ea typeface="Carlito" pitchFamily="34" charset="-122"/>
                <a:cs typeface="Carlito" pitchFamily="34" charset="-120"/>
              </a:rPr>
              <a:t>18–30 Nov</a:t>
            </a:r>
            <a:endParaRPr lang="en-US" sz="1200" dirty="0"/>
          </a:p>
        </p:txBody>
      </p:sp>
      <p:sp>
        <p:nvSpPr>
          <p:cNvPr id="56" name="Text 45"/>
          <p:cNvSpPr/>
          <p:nvPr/>
        </p:nvSpPr>
        <p:spPr>
          <a:xfrm>
            <a:off x="10312367" y="5397500"/>
            <a:ext cx="1295375" cy="406359"/>
          </a:xfrm>
          <a:prstGeom prst="rect">
            <a:avLst/>
          </a:prstGeom>
          <a:noFill/>
          <a:ln/>
        </p:spPr>
        <p:txBody>
          <a:bodyPr wrap="square" lIns="0" tIns="0" rIns="0" bIns="0" rtlCol="0" anchor="t">
            <a:normAutofit/>
          </a:bodyPr>
          <a:lstStyle/>
          <a:p>
            <a:pPr algn="ctr" indent="0" marL="0">
              <a:lnSpc>
                <a:spcPts val="3000"/>
              </a:lnSpc>
              <a:buNone/>
            </a:pPr>
            <a:r>
              <a:rPr lang="en-US" sz="1200" dirty="0">
                <a:solidFill>
                  <a:srgbClr val="000000"/>
                </a:solidFill>
                <a:latin typeface="Carlito" pitchFamily="34" charset="0"/>
                <a:ea typeface="Carlito" pitchFamily="34" charset="-122"/>
                <a:cs typeface="Carlito" pitchFamily="34" charset="-120"/>
              </a:rPr>
              <a:t>December</a:t>
            </a:r>
            <a:endParaRPr lang="en-US" sz="1200" dirty="0"/>
          </a:p>
        </p:txBody>
      </p:sp>
      <p:pic>
        <p:nvPicPr>
          <p:cNvPr id="57" name="Image 9" descr="connector">    </p:cNvPr>
          <p:cNvPicPr>
            <a:picLocks noChangeAspect="1"/>
          </p:cNvPicPr>
          <p:nvPr/>
        </p:nvPicPr>
        <p:blipFill>
          <a:blip r:embed="rId10"/>
          <a:srcRect l="0" r="0" t="-12" b="-12"/>
          <a:stretch/>
        </p:blipFill>
        <p:spPr>
          <a:xfrm>
            <a:off x="7816825" y="1447763"/>
            <a:ext cx="101575" cy="4432267"/>
          </a:xfrm>
          <a:prstGeom prst="rect">
            <a:avLst/>
          </a:prstGeom>
        </p:spPr>
      </p:pic>
      <p:sp>
        <p:nvSpPr>
          <p:cNvPr id="58" name="Text 46"/>
          <p:cNvSpPr/>
          <p:nvPr/>
        </p:nvSpPr>
        <p:spPr>
          <a:xfrm>
            <a:off x="7016733" y="5854688"/>
            <a:ext cx="1701800" cy="256538"/>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00000"/>
                </a:solidFill>
                <a:latin typeface="Carlito" pitchFamily="34" charset="0"/>
                <a:ea typeface="Carlito" pitchFamily="34" charset="-122"/>
                <a:cs typeface="Carlito" pitchFamily="34" charset="-120"/>
              </a:rPr>
              <a:t>Today: 30 Sept</a:t>
            </a:r>
            <a:endParaRPr lang="en-US" sz="1300" dirty="0"/>
          </a:p>
        </p:txBody>
      </p:sp>
      <p:sp>
        <p:nvSpPr>
          <p:cNvPr id="59" name="Shape 47"/>
          <p:cNvSpPr/>
          <p:nvPr/>
        </p:nvSpPr>
        <p:spPr>
          <a:xfrm>
            <a:off x="1905000" y="6261075"/>
            <a:ext cx="355575" cy="165075"/>
          </a:xfrm>
          <a:prstGeom prst="rect">
            <a:avLst/>
          </a:prstGeom>
          <a:solidFill>
            <a:srgbClr val="002060"/>
          </a:solidFill>
          <a:ln/>
        </p:spPr>
      </p:sp>
      <p:sp>
        <p:nvSpPr>
          <p:cNvPr id="60" name="Text 48"/>
          <p:cNvSpPr/>
          <p:nvPr/>
        </p:nvSpPr>
        <p:spPr>
          <a:xfrm>
            <a:off x="2336767" y="6223000"/>
            <a:ext cx="1130300" cy="25653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00000"/>
                </a:solidFill>
                <a:latin typeface="Carlito" pitchFamily="34" charset="0"/>
                <a:ea typeface="Carlito" pitchFamily="34" charset="-122"/>
                <a:cs typeface="Carlito" pitchFamily="34" charset="-120"/>
              </a:rPr>
              <a:t>Done</a:t>
            </a:r>
            <a:endParaRPr lang="en-US" sz="1300" dirty="0"/>
          </a:p>
        </p:txBody>
      </p:sp>
      <p:sp>
        <p:nvSpPr>
          <p:cNvPr id="61" name="Shape 49"/>
          <p:cNvSpPr/>
          <p:nvPr/>
        </p:nvSpPr>
        <p:spPr>
          <a:xfrm>
            <a:off x="3937000" y="6261075"/>
            <a:ext cx="355575" cy="165075"/>
          </a:xfrm>
          <a:prstGeom prst="rect">
            <a:avLst/>
          </a:prstGeom>
          <a:solidFill>
            <a:srgbClr val="5B7DB1"/>
          </a:solidFill>
          <a:ln/>
        </p:spPr>
      </p:sp>
      <p:sp>
        <p:nvSpPr>
          <p:cNvPr id="62" name="Text 50"/>
          <p:cNvSpPr/>
          <p:nvPr/>
        </p:nvSpPr>
        <p:spPr>
          <a:xfrm>
            <a:off x="4368767" y="6223000"/>
            <a:ext cx="1320800" cy="25653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00000"/>
                </a:solidFill>
                <a:latin typeface="Carlito" pitchFamily="34" charset="0"/>
                <a:ea typeface="Carlito" pitchFamily="34" charset="-122"/>
                <a:cs typeface="Carlito" pitchFamily="34" charset="-120"/>
              </a:rPr>
              <a:t>In progress</a:t>
            </a:r>
            <a:endParaRPr lang="en-US" sz="1300" dirty="0"/>
          </a:p>
        </p:txBody>
      </p:sp>
      <p:sp>
        <p:nvSpPr>
          <p:cNvPr id="63" name="Shape 51"/>
          <p:cNvSpPr/>
          <p:nvPr/>
        </p:nvSpPr>
        <p:spPr>
          <a:xfrm>
            <a:off x="6223000" y="6261075"/>
            <a:ext cx="355575" cy="165075"/>
          </a:xfrm>
          <a:prstGeom prst="rect">
            <a:avLst/>
          </a:prstGeom>
          <a:solidFill>
            <a:srgbClr val="BFBFBF"/>
          </a:solidFill>
          <a:ln/>
        </p:spPr>
      </p:sp>
      <p:sp>
        <p:nvSpPr>
          <p:cNvPr id="64" name="Text 52"/>
          <p:cNvSpPr/>
          <p:nvPr/>
        </p:nvSpPr>
        <p:spPr>
          <a:xfrm>
            <a:off x="6654767" y="6223000"/>
            <a:ext cx="1130300" cy="25653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00000"/>
                </a:solidFill>
                <a:latin typeface="Carlito" pitchFamily="34" charset="0"/>
                <a:ea typeface="Carlito" pitchFamily="34" charset="-122"/>
                <a:cs typeface="Carlito" pitchFamily="34" charset="-120"/>
              </a:rPr>
              <a:t>Planned</a:t>
            </a:r>
            <a:endParaRPr lang="en-US" sz="1300" dirty="0"/>
          </a:p>
        </p:txBody>
      </p:sp>
      <p:sp>
        <p:nvSpPr>
          <p:cNvPr id="65" name="Shape 53"/>
          <p:cNvSpPr/>
          <p:nvPr/>
        </p:nvSpPr>
        <p:spPr>
          <a:xfrm>
            <a:off x="8261350" y="6267425"/>
            <a:ext cx="342875" cy="152375"/>
          </a:xfrm>
          <a:prstGeom prst="rect">
            <a:avLst/>
          </a:prstGeom>
          <a:solidFill>
            <a:srgbClr val="FFFFFF"/>
          </a:solidFill>
          <a:ln w="12700">
            <a:solidFill>
              <a:srgbClr val="7F7F7F"/>
            </a:solidFill>
            <a:prstDash val="dash"/>
          </a:ln>
        </p:spPr>
      </p:sp>
      <p:sp>
        <p:nvSpPr>
          <p:cNvPr id="66" name="Text 54"/>
          <p:cNvSpPr/>
          <p:nvPr/>
        </p:nvSpPr>
        <p:spPr>
          <a:xfrm>
            <a:off x="8686767" y="6223000"/>
            <a:ext cx="1130300" cy="25653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00000"/>
                </a:solidFill>
                <a:latin typeface="Carlito" pitchFamily="34" charset="0"/>
                <a:ea typeface="Carlito" pitchFamily="34" charset="-122"/>
                <a:cs typeface="Carlito" pitchFamily="34" charset="-120"/>
              </a:rPr>
              <a:t>Exams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System Design – Architecture</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sp>
        <p:nvSpPr>
          <p:cNvPr id="5" name="Shape 1"/>
          <p:cNvSpPr/>
          <p:nvPr/>
        </p:nvSpPr>
        <p:spPr>
          <a:xfrm>
            <a:off x="3883025" y="1355713"/>
            <a:ext cx="4425950" cy="539717"/>
          </a:xfrm>
          <a:prstGeom prst="rect">
            <a:avLst/>
          </a:prstGeom>
          <a:solidFill>
            <a:srgbClr val="E9EEF6"/>
          </a:solidFill>
          <a:ln w="19050">
            <a:solidFill>
              <a:srgbClr val="002060"/>
            </a:solidFill>
            <a:prstDash val="solid"/>
          </a:ln>
        </p:spPr>
      </p:sp>
      <p:sp>
        <p:nvSpPr>
          <p:cNvPr id="6" name="Text 2"/>
          <p:cNvSpPr/>
          <p:nvPr/>
        </p:nvSpPr>
        <p:spPr>
          <a:xfrm>
            <a:off x="3883025" y="1474471"/>
            <a:ext cx="4425950" cy="327604"/>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000000"/>
                </a:solidFill>
                <a:latin typeface="Carlito" pitchFamily="34" charset="0"/>
                <a:ea typeface="Carlito" pitchFamily="34" charset="-122"/>
                <a:cs typeface="Carlito" pitchFamily="34" charset="-120"/>
              </a:rPr>
              <a:t>User interface (website, chat app)</a:t>
            </a:r>
            <a:endParaRPr lang="en-US" sz="1700" dirty="0"/>
          </a:p>
        </p:txBody>
      </p:sp>
      <p:sp>
        <p:nvSpPr>
          <p:cNvPr id="7" name="Shape 3"/>
          <p:cNvSpPr/>
          <p:nvPr/>
        </p:nvSpPr>
        <p:spPr>
          <a:xfrm>
            <a:off x="4200525" y="2232025"/>
            <a:ext cx="3790950" cy="717525"/>
          </a:xfrm>
          <a:prstGeom prst="rect">
            <a:avLst/>
          </a:prstGeom>
          <a:solidFill>
            <a:srgbClr val="E9EEF6"/>
          </a:solidFill>
          <a:ln w="19050">
            <a:solidFill>
              <a:srgbClr val="002060"/>
            </a:solidFill>
            <a:prstDash val="solid"/>
          </a:ln>
        </p:spPr>
      </p:sp>
      <p:sp>
        <p:nvSpPr>
          <p:cNvPr id="8" name="Text 4"/>
          <p:cNvSpPr/>
          <p:nvPr/>
        </p:nvSpPr>
        <p:spPr>
          <a:xfrm>
            <a:off x="5401535" y="2311425"/>
            <a:ext cx="1388930" cy="327604"/>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000000"/>
                </a:solidFill>
                <a:latin typeface="Carlito" pitchFamily="34" charset="0"/>
                <a:ea typeface="Carlito" pitchFamily="34" charset="-122"/>
                <a:cs typeface="Carlito" pitchFamily="34" charset="-120"/>
              </a:rPr>
              <a:t>FastAPI service</a:t>
            </a:r>
            <a:endParaRPr lang="en-US" sz="1700" dirty="0"/>
          </a:p>
        </p:txBody>
      </p:sp>
      <p:sp>
        <p:nvSpPr>
          <p:cNvPr id="9" name="Text 5"/>
          <p:cNvSpPr/>
          <p:nvPr/>
        </p:nvSpPr>
        <p:spPr>
          <a:xfrm>
            <a:off x="4973427" y="2639008"/>
            <a:ext cx="2245103" cy="256538"/>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000000"/>
                </a:solidFill>
                <a:latin typeface="Courier New" pitchFamily="34" charset="0"/>
                <a:ea typeface="Courier New" pitchFamily="34" charset="-122"/>
                <a:cs typeface="Courier New" pitchFamily="34" charset="-120"/>
              </a:rPr>
              <a:t>POST /api/v1/recommend</a:t>
            </a:r>
            <a:endParaRPr lang="en-US" sz="1300" dirty="0"/>
          </a:p>
        </p:txBody>
      </p:sp>
      <p:sp>
        <p:nvSpPr>
          <p:cNvPr id="10" name="Shape 6"/>
          <p:cNvSpPr/>
          <p:nvPr/>
        </p:nvSpPr>
        <p:spPr>
          <a:xfrm>
            <a:off x="8899525" y="2232025"/>
            <a:ext cx="2266950" cy="717525"/>
          </a:xfrm>
          <a:prstGeom prst="roundRect">
            <a:avLst>
              <a:gd name="adj" fmla="val 34072"/>
            </a:avLst>
          </a:prstGeom>
          <a:solidFill>
            <a:srgbClr val="FFFFFF"/>
          </a:solidFill>
          <a:ln w="19050">
            <a:solidFill>
              <a:srgbClr val="002060"/>
            </a:solidFill>
            <a:prstDash val="solid"/>
          </a:ln>
        </p:spPr>
      </p:sp>
      <p:sp>
        <p:nvSpPr>
          <p:cNvPr id="11" name="Text 7"/>
          <p:cNvSpPr/>
          <p:nvPr/>
        </p:nvSpPr>
        <p:spPr>
          <a:xfrm>
            <a:off x="9626104" y="2335523"/>
            <a:ext cx="813792" cy="309868"/>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000000"/>
                </a:solidFill>
                <a:latin typeface="Carlito" pitchFamily="34" charset="0"/>
                <a:ea typeface="Carlito" pitchFamily="34" charset="-122"/>
                <a:cs typeface="Carlito" pitchFamily="34" charset="-120"/>
              </a:rPr>
              <a:t>Audit log</a:t>
            </a:r>
            <a:endParaRPr lang="en-US" sz="1600" dirty="0"/>
          </a:p>
        </p:txBody>
      </p:sp>
      <p:sp>
        <p:nvSpPr>
          <p:cNvPr id="12" name="Text 8"/>
          <p:cNvSpPr/>
          <p:nvPr/>
        </p:nvSpPr>
        <p:spPr>
          <a:xfrm>
            <a:off x="9476821" y="2632683"/>
            <a:ext cx="111231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0000"/>
                </a:solidFill>
                <a:latin typeface="Carlito" pitchFamily="34" charset="0"/>
                <a:ea typeface="Carlito" pitchFamily="34" charset="-122"/>
                <a:cs typeface="Carlito" pitchFamily="34" charset="-120"/>
              </a:rPr>
              <a:t>no patient values</a:t>
            </a:r>
            <a:endParaRPr lang="en-US" sz="1200" dirty="0"/>
          </a:p>
        </p:txBody>
      </p:sp>
      <p:sp>
        <p:nvSpPr>
          <p:cNvPr id="13" name="Shape 9"/>
          <p:cNvSpPr/>
          <p:nvPr/>
        </p:nvSpPr>
        <p:spPr>
          <a:xfrm>
            <a:off x="962025" y="3470275"/>
            <a:ext cx="4552950" cy="590525"/>
          </a:xfrm>
          <a:prstGeom prst="rect">
            <a:avLst/>
          </a:prstGeom>
          <a:solidFill>
            <a:srgbClr val="FFFFFF"/>
          </a:solidFill>
          <a:ln w="19050">
            <a:solidFill>
              <a:srgbClr val="002060"/>
            </a:solidFill>
            <a:prstDash val="solid"/>
          </a:ln>
        </p:spPr>
      </p:sp>
      <p:sp>
        <p:nvSpPr>
          <p:cNvPr id="14" name="Text 10"/>
          <p:cNvSpPr/>
          <p:nvPr/>
        </p:nvSpPr>
        <p:spPr>
          <a:xfrm>
            <a:off x="1882369" y="3614415"/>
            <a:ext cx="2712221" cy="327604"/>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000000"/>
                </a:solidFill>
                <a:latin typeface="Carlito" pitchFamily="34" charset="0"/>
                <a:ea typeface="Carlito" pitchFamily="34" charset="-122"/>
                <a:cs typeface="Carlito" pitchFamily="34" charset="-120"/>
              </a:rPr>
              <a:t>Safety rules engine</a:t>
            </a:r>
            <a:r>
              <a:rPr lang="en-US" sz="1700" dirty="0">
                <a:solidFill>
                  <a:srgbClr val="000000"/>
                </a:solidFill>
                <a:latin typeface="Carlito" pitchFamily="34" charset="0"/>
                <a:ea typeface="Carlito" pitchFamily="34" charset="-122"/>
                <a:cs typeface="Carlito" pitchFamily="34" charset="-120"/>
              </a:rPr>
              <a:t> (rules.csv)</a:t>
            </a:r>
            <a:endParaRPr lang="en-US" sz="1700" dirty="0"/>
          </a:p>
        </p:txBody>
      </p:sp>
      <p:sp>
        <p:nvSpPr>
          <p:cNvPr id="15" name="Shape 11"/>
          <p:cNvSpPr/>
          <p:nvPr/>
        </p:nvSpPr>
        <p:spPr>
          <a:xfrm>
            <a:off x="962025" y="4486275"/>
            <a:ext cx="4552950" cy="768333"/>
          </a:xfrm>
          <a:prstGeom prst="rect">
            <a:avLst/>
          </a:prstGeom>
          <a:solidFill>
            <a:srgbClr val="FFFFFF"/>
          </a:solidFill>
          <a:ln w="19050">
            <a:solidFill>
              <a:srgbClr val="002060"/>
            </a:solidFill>
            <a:prstDash val="solid"/>
          </a:ln>
        </p:spPr>
      </p:sp>
      <p:sp>
        <p:nvSpPr>
          <p:cNvPr id="16" name="Text 12"/>
          <p:cNvSpPr/>
          <p:nvPr/>
        </p:nvSpPr>
        <p:spPr>
          <a:xfrm>
            <a:off x="2595215" y="4582170"/>
            <a:ext cx="1286570" cy="327604"/>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000000"/>
                </a:solidFill>
                <a:latin typeface="Carlito" pitchFamily="34" charset="0"/>
                <a:ea typeface="Carlito" pitchFamily="34" charset="-122"/>
                <a:cs typeface="Carlito" pitchFamily="34" charset="-120"/>
              </a:rPr>
              <a:t>Causal engine</a:t>
            </a:r>
            <a:endParaRPr lang="en-US" sz="1700" dirty="0"/>
          </a:p>
        </p:txBody>
      </p:sp>
      <p:sp>
        <p:nvSpPr>
          <p:cNvPr id="17" name="Text 13"/>
          <p:cNvSpPr/>
          <p:nvPr/>
        </p:nvSpPr>
        <p:spPr>
          <a:xfrm>
            <a:off x="1840767" y="4909753"/>
            <a:ext cx="2795425" cy="274315"/>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000000"/>
                </a:solidFill>
                <a:latin typeface="Carlito" pitchFamily="34" charset="0"/>
                <a:ea typeface="Carlito" pitchFamily="34" charset="-122"/>
                <a:cs typeface="Carlito" pitchFamily="34" charset="-120"/>
              </a:rPr>
              <a:t>propensity, overlap, AIPW, DR-learner</a:t>
            </a:r>
            <a:endParaRPr lang="en-US" sz="1400" dirty="0"/>
          </a:p>
        </p:txBody>
      </p:sp>
      <p:sp>
        <p:nvSpPr>
          <p:cNvPr id="18" name="Shape 14"/>
          <p:cNvSpPr/>
          <p:nvPr/>
        </p:nvSpPr>
        <p:spPr>
          <a:xfrm>
            <a:off x="962025" y="5680038"/>
            <a:ext cx="4552950" cy="552450"/>
          </a:xfrm>
          <a:prstGeom prst="rect">
            <a:avLst/>
          </a:prstGeom>
          <a:solidFill>
            <a:srgbClr val="FFFFFF"/>
          </a:solidFill>
          <a:ln w="19050">
            <a:solidFill>
              <a:srgbClr val="002060"/>
            </a:solidFill>
            <a:prstDash val="solid"/>
          </a:ln>
        </p:spPr>
      </p:sp>
      <p:sp>
        <p:nvSpPr>
          <p:cNvPr id="19" name="Text 15"/>
          <p:cNvSpPr/>
          <p:nvPr/>
        </p:nvSpPr>
        <p:spPr>
          <a:xfrm>
            <a:off x="2166642" y="5805165"/>
            <a:ext cx="2143674" cy="327604"/>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000000"/>
                </a:solidFill>
                <a:latin typeface="Carlito" pitchFamily="34" charset="0"/>
                <a:ea typeface="Carlito" pitchFamily="34" charset="-122"/>
                <a:cs typeface="Carlito" pitchFamily="34" charset="-120"/>
              </a:rPr>
              <a:t>Cost lookup</a:t>
            </a:r>
            <a:r>
              <a:rPr lang="en-US" sz="1700" dirty="0">
                <a:solidFill>
                  <a:srgbClr val="000000"/>
                </a:solidFill>
                <a:latin typeface="Carlito" pitchFamily="34" charset="0"/>
                <a:ea typeface="Carlito" pitchFamily="34" charset="-122"/>
                <a:cs typeface="Carlito" pitchFamily="34" charset="-120"/>
              </a:rPr>
              <a:t> (prices.csv)</a:t>
            </a:r>
            <a:endParaRPr lang="en-US" sz="1700" dirty="0"/>
          </a:p>
        </p:txBody>
      </p:sp>
      <p:sp>
        <p:nvSpPr>
          <p:cNvPr id="20" name="Shape 16"/>
          <p:cNvSpPr/>
          <p:nvPr/>
        </p:nvSpPr>
        <p:spPr>
          <a:xfrm>
            <a:off x="6677025" y="3470275"/>
            <a:ext cx="4552950" cy="590525"/>
          </a:xfrm>
          <a:prstGeom prst="rect">
            <a:avLst/>
          </a:prstGeom>
          <a:solidFill>
            <a:srgbClr val="FFFFFF"/>
          </a:solidFill>
          <a:ln w="19050">
            <a:solidFill>
              <a:srgbClr val="002060"/>
            </a:solidFill>
            <a:prstDash val="dash"/>
          </a:ln>
        </p:spPr>
      </p:sp>
      <p:sp>
        <p:nvSpPr>
          <p:cNvPr id="21" name="Text 17"/>
          <p:cNvSpPr/>
          <p:nvPr/>
        </p:nvSpPr>
        <p:spPr>
          <a:xfrm>
            <a:off x="6677025" y="3614415"/>
            <a:ext cx="4552950" cy="327604"/>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000000"/>
                </a:solidFill>
                <a:latin typeface="Carlito" pitchFamily="34" charset="0"/>
                <a:ea typeface="Carlito" pitchFamily="34" charset="-122"/>
                <a:cs typeface="Carlito" pitchFamily="34" charset="-120"/>
              </a:rPr>
              <a:t>RAG layer (built)</a:t>
            </a:r>
            <a:endParaRPr lang="en-US" sz="1700" dirty="0"/>
          </a:p>
        </p:txBody>
      </p:sp>
      <p:sp>
        <p:nvSpPr>
          <p:cNvPr id="22" name="Shape 18"/>
          <p:cNvSpPr/>
          <p:nvPr/>
        </p:nvSpPr>
        <p:spPr>
          <a:xfrm>
            <a:off x="6677025" y="4486275"/>
            <a:ext cx="4552950" cy="768333"/>
          </a:xfrm>
          <a:prstGeom prst="roundRect">
            <a:avLst>
              <a:gd name="adj" fmla="val 31819"/>
            </a:avLst>
          </a:prstGeom>
          <a:solidFill>
            <a:srgbClr val="FFFFFF"/>
          </a:solidFill>
          <a:ln w="19050">
            <a:solidFill>
              <a:srgbClr val="002060"/>
            </a:solidFill>
            <a:prstDash val="dash"/>
          </a:ln>
        </p:spPr>
      </p:sp>
      <p:sp>
        <p:nvSpPr>
          <p:cNvPr id="23" name="Text 19"/>
          <p:cNvSpPr/>
          <p:nvPr/>
        </p:nvSpPr>
        <p:spPr>
          <a:xfrm>
            <a:off x="7597241" y="4599942"/>
            <a:ext cx="2712476" cy="309868"/>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000000"/>
                </a:solidFill>
                <a:latin typeface="Carlito" pitchFamily="34" charset="0"/>
                <a:ea typeface="Carlito" pitchFamily="34" charset="-122"/>
                <a:cs typeface="Carlito" pitchFamily="34" charset="-120"/>
              </a:rPr>
              <a:t>Approved guideline documents</a:t>
            </a:r>
            <a:endParaRPr lang="en-US" sz="1600" dirty="0"/>
          </a:p>
        </p:txBody>
      </p:sp>
      <p:sp>
        <p:nvSpPr>
          <p:cNvPr id="24" name="Text 20"/>
          <p:cNvSpPr/>
          <p:nvPr/>
        </p:nvSpPr>
        <p:spPr>
          <a:xfrm>
            <a:off x="7984603" y="4909796"/>
            <a:ext cx="1937793" cy="256538"/>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000000"/>
                </a:solidFill>
                <a:latin typeface="Carlito" pitchFamily="34" charset="0"/>
                <a:ea typeface="Carlito" pitchFamily="34" charset="-122"/>
                <a:cs typeface="Carlito" pitchFamily="34" charset="-120"/>
              </a:rPr>
              <a:t>licence-cleared sources only</a:t>
            </a:r>
            <a:endParaRPr lang="en-US" sz="1300" dirty="0"/>
          </a:p>
        </p:txBody>
      </p:sp>
      <p:sp>
        <p:nvSpPr>
          <p:cNvPr id="25" name="Text 21"/>
          <p:cNvSpPr/>
          <p:nvPr/>
        </p:nvSpPr>
        <p:spPr>
          <a:xfrm>
            <a:off x="6598920" y="5829263"/>
            <a:ext cx="4709160" cy="256538"/>
          </a:xfrm>
          <a:prstGeom prst="rect">
            <a:avLst/>
          </a:prstGeom>
          <a:noFill/>
          <a:ln/>
        </p:spPr>
        <p:txBody>
          <a:bodyPr wrap="square" lIns="0" tIns="0" rIns="0" bIns="0" rtlCol="0" anchor="t"/>
          <a:lstStyle/>
          <a:p>
            <a:pPr algn="ctr" indent="0" marL="0">
              <a:lnSpc>
                <a:spcPts val="1820"/>
              </a:lnSpc>
              <a:buNone/>
            </a:pPr>
            <a:r>
              <a:rPr lang="en-US" sz="1300" i="1" dirty="0">
                <a:solidFill>
                  <a:srgbClr val="595959"/>
                </a:solidFill>
                <a:latin typeface="Carlito" pitchFamily="34" charset="0"/>
                <a:ea typeface="Carlito" pitchFamily="34" charset="-122"/>
                <a:cs typeface="Carlito" pitchFamily="34" charset="-120"/>
              </a:rPr>
              <a:t>Dashed = built separately; joins the API in October</a:t>
            </a:r>
            <a:endParaRPr lang="en-US" sz="1300" dirty="0"/>
          </a:p>
        </p:txBody>
      </p:sp>
      <p:pic>
        <p:nvPicPr>
          <p:cNvPr id="26" name="Image 2" descr="connector">    </p:cNvPr>
          <p:cNvPicPr>
            <a:picLocks noChangeAspect="1"/>
          </p:cNvPicPr>
          <p:nvPr/>
        </p:nvPicPr>
        <p:blipFill>
          <a:blip r:embed="rId3"/>
          <a:srcRect l="0" r="0" t="-9" b="-9"/>
          <a:stretch/>
        </p:blipFill>
        <p:spPr>
          <a:xfrm>
            <a:off x="6045191" y="1854188"/>
            <a:ext cx="101575" cy="419075"/>
          </a:xfrm>
          <a:prstGeom prst="rect">
            <a:avLst/>
          </a:prstGeom>
        </p:spPr>
      </p:pic>
      <p:pic>
        <p:nvPicPr>
          <p:cNvPr id="27" name="Image 3" descr="connector">    </p:cNvPr>
          <p:cNvPicPr>
            <a:picLocks noChangeAspect="1"/>
          </p:cNvPicPr>
          <p:nvPr/>
        </p:nvPicPr>
        <p:blipFill>
          <a:blip r:embed="rId4"/>
          <a:srcRect l="-11" r="-11" t="0" b="0"/>
          <a:stretch/>
        </p:blipFill>
        <p:spPr>
          <a:xfrm>
            <a:off x="7950191" y="2540000"/>
            <a:ext cx="990575" cy="101575"/>
          </a:xfrm>
          <a:prstGeom prst="rect">
            <a:avLst/>
          </a:prstGeom>
        </p:spPr>
      </p:pic>
      <p:pic>
        <p:nvPicPr>
          <p:cNvPr id="28" name="Image 4" descr="connector">    </p:cNvPr>
          <p:cNvPicPr>
            <a:picLocks noChangeAspect="1"/>
          </p:cNvPicPr>
          <p:nvPr/>
        </p:nvPicPr>
        <p:blipFill>
          <a:blip r:embed="rId5"/>
          <a:srcRect l="0" r="0" t="-12" b="-12"/>
          <a:stretch/>
        </p:blipFill>
        <p:spPr>
          <a:xfrm>
            <a:off x="5092691" y="2908263"/>
            <a:ext cx="101575" cy="349250"/>
          </a:xfrm>
          <a:prstGeom prst="rect">
            <a:avLst/>
          </a:prstGeom>
        </p:spPr>
      </p:pic>
      <p:pic>
        <p:nvPicPr>
          <p:cNvPr id="29" name="Image 5" descr="connector">    </p:cNvPr>
          <p:cNvPicPr>
            <a:picLocks noChangeAspect="1"/>
          </p:cNvPicPr>
          <p:nvPr/>
        </p:nvPicPr>
        <p:blipFill>
          <a:blip r:embed="rId6"/>
          <a:srcRect l="-12" r="-12" t="0" b="0"/>
          <a:stretch/>
        </p:blipFill>
        <p:spPr>
          <a:xfrm>
            <a:off x="3187692" y="3155938"/>
            <a:ext cx="2006575" cy="101575"/>
          </a:xfrm>
          <a:prstGeom prst="rect">
            <a:avLst/>
          </a:prstGeom>
        </p:spPr>
      </p:pic>
      <p:pic>
        <p:nvPicPr>
          <p:cNvPr id="30" name="Image 6" descr="connector">    </p:cNvPr>
          <p:cNvPicPr>
            <a:picLocks noChangeAspect="1"/>
          </p:cNvPicPr>
          <p:nvPr/>
        </p:nvPicPr>
        <p:blipFill>
          <a:blip r:embed="rId7"/>
          <a:srcRect l="0" r="0" t="-9" b="-9"/>
          <a:stretch/>
        </p:blipFill>
        <p:spPr>
          <a:xfrm>
            <a:off x="3187692" y="3155938"/>
            <a:ext cx="101575" cy="355575"/>
          </a:xfrm>
          <a:prstGeom prst="rect">
            <a:avLst/>
          </a:prstGeom>
        </p:spPr>
      </p:pic>
      <p:pic>
        <p:nvPicPr>
          <p:cNvPr id="31" name="Image 7" descr="connector">    </p:cNvPr>
          <p:cNvPicPr>
            <a:picLocks noChangeAspect="1"/>
          </p:cNvPicPr>
          <p:nvPr/>
        </p:nvPicPr>
        <p:blipFill>
          <a:blip r:embed="rId8"/>
          <a:srcRect l="0" r="0" t="-12" b="-12"/>
          <a:stretch/>
        </p:blipFill>
        <p:spPr>
          <a:xfrm>
            <a:off x="6997691" y="2908263"/>
            <a:ext cx="101575" cy="349250"/>
          </a:xfrm>
          <a:prstGeom prst="rect">
            <a:avLst/>
          </a:prstGeom>
        </p:spPr>
      </p:pic>
      <p:pic>
        <p:nvPicPr>
          <p:cNvPr id="32" name="Image 8" descr="connector">    </p:cNvPr>
          <p:cNvPicPr>
            <a:picLocks noChangeAspect="1"/>
          </p:cNvPicPr>
          <p:nvPr/>
        </p:nvPicPr>
        <p:blipFill>
          <a:blip r:embed="rId9"/>
          <a:srcRect l="-12" r="-12" t="0" b="0"/>
          <a:stretch/>
        </p:blipFill>
        <p:spPr>
          <a:xfrm>
            <a:off x="6997691" y="3155938"/>
            <a:ext cx="2006575" cy="101575"/>
          </a:xfrm>
          <a:prstGeom prst="rect">
            <a:avLst/>
          </a:prstGeom>
        </p:spPr>
      </p:pic>
      <p:pic>
        <p:nvPicPr>
          <p:cNvPr id="33" name="Image 9" descr="connector">    </p:cNvPr>
          <p:cNvPicPr>
            <a:picLocks noChangeAspect="1"/>
          </p:cNvPicPr>
          <p:nvPr/>
        </p:nvPicPr>
        <p:blipFill>
          <a:blip r:embed="rId10"/>
          <a:srcRect l="0" r="0" t="-9" b="-9"/>
          <a:stretch/>
        </p:blipFill>
        <p:spPr>
          <a:xfrm>
            <a:off x="8902691" y="3155938"/>
            <a:ext cx="101575" cy="355575"/>
          </a:xfrm>
          <a:prstGeom prst="rect">
            <a:avLst/>
          </a:prstGeom>
        </p:spPr>
      </p:pic>
      <p:pic>
        <p:nvPicPr>
          <p:cNvPr id="34" name="Image 10" descr="connector">    </p:cNvPr>
          <p:cNvPicPr>
            <a:picLocks noChangeAspect="1"/>
          </p:cNvPicPr>
          <p:nvPr/>
        </p:nvPicPr>
        <p:blipFill>
          <a:blip r:embed="rId11"/>
          <a:srcRect l="0" r="0" t="-12" b="-12"/>
          <a:stretch/>
        </p:blipFill>
        <p:spPr>
          <a:xfrm>
            <a:off x="3187692" y="4019513"/>
            <a:ext cx="101575" cy="508000"/>
          </a:xfrm>
          <a:prstGeom prst="rect">
            <a:avLst/>
          </a:prstGeom>
        </p:spPr>
      </p:pic>
      <p:pic>
        <p:nvPicPr>
          <p:cNvPr id="35" name="Image 11" descr="connector">    </p:cNvPr>
          <p:cNvPicPr>
            <a:picLocks noChangeAspect="1"/>
          </p:cNvPicPr>
          <p:nvPr/>
        </p:nvPicPr>
        <p:blipFill>
          <a:blip r:embed="rId12"/>
          <a:srcRect l="0" r="0" t="-12" b="-12"/>
          <a:stretch/>
        </p:blipFill>
        <p:spPr>
          <a:xfrm>
            <a:off x="3187692" y="5213325"/>
            <a:ext cx="101575" cy="508000"/>
          </a:xfrm>
          <a:prstGeom prst="rect">
            <a:avLst/>
          </a:prstGeom>
        </p:spPr>
      </p:pic>
      <p:pic>
        <p:nvPicPr>
          <p:cNvPr id="36" name="Image 12" descr="connector">    </p:cNvPr>
          <p:cNvPicPr>
            <a:picLocks noChangeAspect="1"/>
          </p:cNvPicPr>
          <p:nvPr/>
        </p:nvPicPr>
        <p:blipFill>
          <a:blip r:embed="rId13"/>
          <a:srcRect l="0" r="0" t="-12" b="-12"/>
          <a:stretch/>
        </p:blipFill>
        <p:spPr>
          <a:xfrm>
            <a:off x="8902691" y="4019513"/>
            <a:ext cx="101575" cy="50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System Design – Data Flow</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sp>
        <p:nvSpPr>
          <p:cNvPr id="5" name="Text 1"/>
          <p:cNvSpPr/>
          <p:nvPr/>
        </p:nvSpPr>
        <p:spPr>
          <a:xfrm>
            <a:off x="609575" y="1206500"/>
            <a:ext cx="2616200" cy="345463"/>
          </a:xfrm>
          <a:prstGeom prst="rect">
            <a:avLst/>
          </a:prstGeom>
          <a:noFill/>
          <a:ln/>
        </p:spPr>
        <p:txBody>
          <a:bodyPr wrap="square" lIns="0" tIns="0" rIns="0" bIns="0" rtlCol="0" anchor="t">
            <a:normAutofit/>
          </a:bodyPr>
          <a:lstStyle/>
          <a:p>
            <a:pPr algn="l" indent="0" marL="0">
              <a:lnSpc>
                <a:spcPts val="2520"/>
              </a:lnSpc>
              <a:buNone/>
            </a:pPr>
            <a:r>
              <a:rPr lang="en-US" sz="1800" b="1" u="sng" dirty="0">
                <a:solidFill>
                  <a:srgbClr val="002060"/>
                </a:solidFill>
                <a:latin typeface="Times New Roman" pitchFamily="34" charset="0"/>
                <a:ea typeface="Times New Roman" pitchFamily="34" charset="-122"/>
                <a:cs typeface="Times New Roman" pitchFamily="34" charset="-120"/>
              </a:rPr>
              <a:t>DFD Level 0</a:t>
            </a:r>
            <a:endParaRPr lang="en-US" sz="1800" dirty="0"/>
          </a:p>
        </p:txBody>
      </p:sp>
      <p:sp>
        <p:nvSpPr>
          <p:cNvPr id="6" name="Shape 2"/>
          <p:cNvSpPr/>
          <p:nvPr/>
        </p:nvSpPr>
        <p:spPr>
          <a:xfrm>
            <a:off x="962025" y="2028788"/>
            <a:ext cx="1631950" cy="552450"/>
          </a:xfrm>
          <a:prstGeom prst="rect">
            <a:avLst/>
          </a:prstGeom>
          <a:solidFill>
            <a:srgbClr val="FFFFFF"/>
          </a:solidFill>
          <a:ln w="19050">
            <a:solidFill>
              <a:srgbClr val="000000"/>
            </a:solidFill>
            <a:prstDash val="solid"/>
          </a:ln>
        </p:spPr>
        <p:txBody>
          <a:bodyPr/>
          <a:p/>
        </p:txBody>
      </p:sp>
      <p:sp>
        <p:nvSpPr>
          <p:cNvPr id="7" name="Text 3"/>
          <p:cNvSpPr/>
          <p:nvPr/>
        </p:nvSpPr>
        <p:spPr>
          <a:xfrm>
            <a:off x="1422673" y="2162758"/>
            <a:ext cx="761413" cy="30986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00000"/>
                </a:solidFill>
                <a:latin typeface="Carlito" pitchFamily="34" charset="0"/>
                <a:ea typeface="Carlito" pitchFamily="34" charset="-122"/>
                <a:cs typeface="Carlito" pitchFamily="34" charset="-120"/>
              </a:rPr>
              <a:t>Clinician</a:t>
            </a:r>
            <a:endParaRPr lang="en-US" sz="1600" dirty="0"/>
          </a:p>
        </p:txBody>
      </p:sp>
      <p:sp>
        <p:nvSpPr>
          <p:cNvPr id="8" name="Shape 4"/>
          <p:cNvSpPr/>
          <p:nvPr/>
        </p:nvSpPr>
        <p:spPr>
          <a:xfrm>
            <a:off x="4835525" y="1597025"/>
            <a:ext cx="2012950" cy="1416025"/>
          </a:xfrm>
          <a:prstGeom prst="roundRect">
            <a:avLst>
              <a:gd name="adj" fmla="val 50000"/>
            </a:avLst>
          </a:prstGeom>
          <a:solidFill>
            <a:srgbClr val="FFFFFF"/>
          </a:solidFill>
          <a:ln w="19050">
            <a:solidFill>
              <a:srgbClr val="002060"/>
            </a:solidFill>
            <a:prstDash val="solid"/>
          </a:ln>
        </p:spPr>
        <p:txBody>
          <a:bodyPr/>
          <a:p/>
        </p:txBody>
      </p:sp>
      <p:sp>
        <p:nvSpPr>
          <p:cNvPr id="9" name="Text 5"/>
          <p:cNvSpPr/>
          <p:nvPr/>
        </p:nvSpPr>
        <p:spPr>
          <a:xfrm>
            <a:off x="5796938" y="2014178"/>
            <a:ext cx="140924"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60"/>
                </a:solidFill>
                <a:latin typeface="Carlito" pitchFamily="34" charset="0"/>
                <a:ea typeface="Carlito" pitchFamily="34" charset="-122"/>
                <a:cs typeface="Carlito" pitchFamily="34" charset="-120"/>
              </a:rPr>
              <a:t>0</a:t>
            </a:r>
            <a:endParaRPr lang="en-US" sz="1400" dirty="0"/>
          </a:p>
        </p:txBody>
      </p:sp>
      <p:sp>
        <p:nvSpPr>
          <p:cNvPr id="10" name="Text 6"/>
          <p:cNvSpPr/>
          <p:nvPr/>
        </p:nvSpPr>
        <p:spPr>
          <a:xfrm>
            <a:off x="5377077" y="2275787"/>
            <a:ext cx="980604"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00000"/>
                </a:solidFill>
                <a:latin typeface="Carlito" pitchFamily="34" charset="0"/>
                <a:ea typeface="Carlito" pitchFamily="34" charset="-122"/>
                <a:cs typeface="Carlito" pitchFamily="34" charset="-120"/>
              </a:rPr>
              <a:t>DiaCausal</a:t>
            </a:r>
            <a:endParaRPr lang="en-US" sz="1800" dirty="0"/>
          </a:p>
        </p:txBody>
      </p:sp>
      <p:pic>
        <p:nvPicPr>
          <p:cNvPr id="11" name="Image 2" descr="connector">    </p:cNvPr>
          <p:cNvPicPr>
            <a:picLocks noChangeAspect="1"/>
          </p:cNvPicPr>
          <p:nvPr/>
        </p:nvPicPr>
        <p:blipFill>
          <a:blip r:embed="rId3"/>
          <a:srcRect l="-12" r="-12" t="0" b="0"/>
          <a:stretch/>
        </p:blipFill>
        <p:spPr>
          <a:xfrm>
            <a:off x="2552692" y="2127250"/>
            <a:ext cx="2349500" cy="101575"/>
          </a:xfrm>
          <a:prstGeom prst="rect">
            <a:avLst/>
          </a:prstGeom>
        </p:spPr>
      </p:pic>
      <p:sp>
        <p:nvSpPr>
          <p:cNvPr id="12" name="Text 7"/>
          <p:cNvSpPr/>
          <p:nvPr/>
        </p:nvSpPr>
        <p:spPr>
          <a:xfrm>
            <a:off x="2634615" y="1917688"/>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0000"/>
                </a:solidFill>
                <a:latin typeface="Carlito" pitchFamily="34" charset="0"/>
                <a:ea typeface="Carlito" pitchFamily="34" charset="-122"/>
                <a:cs typeface="Carlito" pitchFamily="34" charset="-120"/>
              </a:rPr>
              <a:t>patient details</a:t>
            </a:r>
            <a:endParaRPr lang="en-US" sz="1200" dirty="0"/>
          </a:p>
        </p:txBody>
      </p:sp>
      <p:pic>
        <p:nvPicPr>
          <p:cNvPr id="13" name="Image 3" descr="connector">    </p:cNvPr>
          <p:cNvPicPr>
            <a:picLocks noChangeAspect="1"/>
          </p:cNvPicPr>
          <p:nvPr/>
        </p:nvPicPr>
        <p:blipFill>
          <a:blip r:embed="rId4"/>
          <a:srcRect l="-12" r="-12" t="0" b="0"/>
          <a:stretch/>
        </p:blipFill>
        <p:spPr>
          <a:xfrm>
            <a:off x="2552692" y="2425688"/>
            <a:ext cx="2355825" cy="101575"/>
          </a:xfrm>
          <a:prstGeom prst="rect">
            <a:avLst/>
          </a:prstGeom>
        </p:spPr>
      </p:pic>
      <p:sp>
        <p:nvSpPr>
          <p:cNvPr id="14" name="Text 8"/>
          <p:cNvSpPr/>
          <p:nvPr/>
        </p:nvSpPr>
        <p:spPr>
          <a:xfrm>
            <a:off x="2537460" y="2527263"/>
            <a:ext cx="23545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0000"/>
                </a:solidFill>
                <a:latin typeface="Carlito" pitchFamily="34" charset="0"/>
                <a:ea typeface="Carlito" pitchFamily="34" charset="-122"/>
                <a:cs typeface="Carlito" pitchFamily="34" charset="-120"/>
              </a:rPr>
              <a:t>options, 95% ranges, sources</a:t>
            </a:r>
            <a:endParaRPr lang="en-US" sz="1200" dirty="0"/>
          </a:p>
        </p:txBody>
      </p:sp>
      <p:sp>
        <p:nvSpPr>
          <p:cNvPr id="15" name="Shape 9"/>
          <p:cNvSpPr/>
          <p:nvPr/>
        </p:nvSpPr>
        <p:spPr>
          <a:xfrm>
            <a:off x="8890000" y="1473188"/>
            <a:ext cx="2413000" cy="406383"/>
          </a:xfrm>
          <a:prstGeom prst="rect">
            <a:avLst/>
          </a:prstGeom>
          <a:solidFill>
            <a:srgbClr val="FFFFFF"/>
          </a:solidFill>
          <a:ln/>
        </p:spPr>
        <p:txBody>
          <a:bodyPr/>
          <a:p/>
        </p:txBody>
      </p:sp>
      <p:sp>
        <p:nvSpPr>
          <p:cNvPr id="16" name="Shape 10"/>
          <p:cNvSpPr/>
          <p:nvPr/>
        </p:nvSpPr>
        <p:spPr>
          <a:xfrm>
            <a:off x="8890000" y="1482713"/>
            <a:ext cx="2413000" cy="0"/>
          </a:xfrm>
          <a:prstGeom prst="line">
            <a:avLst/>
          </a:prstGeom>
          <a:noFill/>
          <a:ln w="19050">
            <a:solidFill>
              <a:srgbClr val="002060"/>
            </a:solidFill>
            <a:prstDash val="solid"/>
          </a:ln>
        </p:spPr>
        <p:txBody>
          <a:bodyPr/>
          <a:p/>
        </p:txBody>
      </p:sp>
      <p:sp>
        <p:nvSpPr>
          <p:cNvPr id="17" name="Shape 11"/>
          <p:cNvSpPr/>
          <p:nvPr/>
        </p:nvSpPr>
        <p:spPr>
          <a:xfrm>
            <a:off x="8890000" y="1870046"/>
            <a:ext cx="2413000" cy="0"/>
          </a:xfrm>
          <a:prstGeom prst="line">
            <a:avLst/>
          </a:prstGeom>
          <a:noFill/>
          <a:ln w="19050">
            <a:solidFill>
              <a:srgbClr val="002060"/>
            </a:solidFill>
            <a:prstDash val="solid"/>
          </a:ln>
        </p:spPr>
        <p:txBody>
          <a:bodyPr/>
          <a:p/>
        </p:txBody>
      </p:sp>
      <p:sp>
        <p:nvSpPr>
          <p:cNvPr id="18" name="Shape 12"/>
          <p:cNvSpPr/>
          <p:nvPr/>
        </p:nvSpPr>
        <p:spPr>
          <a:xfrm>
            <a:off x="8899525" y="1473188"/>
            <a:ext cx="0" cy="406383"/>
          </a:xfrm>
          <a:prstGeom prst="line">
            <a:avLst/>
          </a:prstGeom>
          <a:noFill/>
          <a:ln w="19050">
            <a:solidFill>
              <a:srgbClr val="002060"/>
            </a:solidFill>
            <a:prstDash val="solid"/>
          </a:ln>
        </p:spPr>
        <p:txBody>
          <a:bodyPr/>
          <a:p/>
        </p:txBody>
      </p:sp>
      <p:sp>
        <p:nvSpPr>
          <p:cNvPr id="19" name="Text 13"/>
          <p:cNvSpPr/>
          <p:nvPr/>
        </p:nvSpPr>
        <p:spPr>
          <a:xfrm>
            <a:off x="9336194" y="1551905"/>
            <a:ext cx="1589889"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Carlito" pitchFamily="34" charset="0"/>
                <a:ea typeface="Carlito" pitchFamily="34" charset="-122"/>
                <a:cs typeface="Carlito" pitchFamily="34" charset="-120"/>
              </a:rPr>
              <a:t>Guideline documents</a:t>
            </a:r>
            <a:endParaRPr lang="en-US" sz="1400" dirty="0"/>
          </a:p>
        </p:txBody>
      </p:sp>
      <p:pic>
        <p:nvPicPr>
          <p:cNvPr id="20" name="Image 4" descr="connector">    </p:cNvPr>
          <p:cNvPicPr>
            <a:picLocks noChangeAspect="1"/>
          </p:cNvPicPr>
          <p:nvPr/>
        </p:nvPicPr>
        <p:blipFill>
          <a:blip r:embed="rId5"/>
          <a:srcRect l="0" r="0" t="0" b="0"/>
          <a:stretch/>
        </p:blipFill>
        <p:spPr>
          <a:xfrm>
            <a:off x="6718267" y="1625575"/>
            <a:ext cx="2222500" cy="444500"/>
          </a:xfrm>
          <a:prstGeom prst="rect">
            <a:avLst/>
          </a:prstGeom>
        </p:spPr>
      </p:pic>
      <p:sp>
        <p:nvSpPr>
          <p:cNvPr id="21" name="Text 14"/>
          <p:cNvSpPr/>
          <p:nvPr/>
        </p:nvSpPr>
        <p:spPr>
          <a:xfrm>
            <a:off x="6959600" y="1498575"/>
            <a:ext cx="157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0000"/>
                </a:solidFill>
                <a:latin typeface="Carlito" pitchFamily="34" charset="0"/>
                <a:ea typeface="Carlito" pitchFamily="34" charset="-122"/>
                <a:cs typeface="Carlito" pitchFamily="34" charset="-120"/>
              </a:rPr>
              <a:t>passages</a:t>
            </a:r>
            <a:endParaRPr lang="en-US" sz="1200" dirty="0"/>
          </a:p>
        </p:txBody>
      </p:sp>
      <p:sp>
        <p:nvSpPr>
          <p:cNvPr id="22" name="Shape 15"/>
          <p:cNvSpPr/>
          <p:nvPr/>
        </p:nvSpPr>
        <p:spPr>
          <a:xfrm>
            <a:off x="8890000" y="2730500"/>
            <a:ext cx="2413000" cy="406383"/>
          </a:xfrm>
          <a:prstGeom prst="rect">
            <a:avLst/>
          </a:prstGeom>
          <a:solidFill>
            <a:srgbClr val="FFFFFF"/>
          </a:solidFill>
          <a:ln/>
        </p:spPr>
        <p:txBody>
          <a:bodyPr/>
          <a:p/>
        </p:txBody>
      </p:sp>
      <p:sp>
        <p:nvSpPr>
          <p:cNvPr id="23" name="Shape 16"/>
          <p:cNvSpPr/>
          <p:nvPr/>
        </p:nvSpPr>
        <p:spPr>
          <a:xfrm>
            <a:off x="8890000" y="2740025"/>
            <a:ext cx="2413000" cy="0"/>
          </a:xfrm>
          <a:prstGeom prst="line">
            <a:avLst/>
          </a:prstGeom>
          <a:noFill/>
          <a:ln w="19050">
            <a:solidFill>
              <a:srgbClr val="002060"/>
            </a:solidFill>
            <a:prstDash val="solid"/>
          </a:ln>
        </p:spPr>
        <p:txBody>
          <a:bodyPr/>
          <a:p/>
        </p:txBody>
      </p:sp>
      <p:sp>
        <p:nvSpPr>
          <p:cNvPr id="24" name="Shape 17"/>
          <p:cNvSpPr/>
          <p:nvPr/>
        </p:nvSpPr>
        <p:spPr>
          <a:xfrm>
            <a:off x="8890000" y="3127358"/>
            <a:ext cx="2413000" cy="0"/>
          </a:xfrm>
          <a:prstGeom prst="line">
            <a:avLst/>
          </a:prstGeom>
          <a:noFill/>
          <a:ln w="19050">
            <a:solidFill>
              <a:srgbClr val="002060"/>
            </a:solidFill>
            <a:prstDash val="solid"/>
          </a:ln>
        </p:spPr>
        <p:txBody>
          <a:bodyPr/>
          <a:p/>
        </p:txBody>
      </p:sp>
      <p:sp>
        <p:nvSpPr>
          <p:cNvPr id="25" name="Shape 18"/>
          <p:cNvSpPr/>
          <p:nvPr/>
        </p:nvSpPr>
        <p:spPr>
          <a:xfrm>
            <a:off x="8899525" y="2730500"/>
            <a:ext cx="0" cy="406383"/>
          </a:xfrm>
          <a:prstGeom prst="line">
            <a:avLst/>
          </a:prstGeom>
          <a:noFill/>
          <a:ln w="19050">
            <a:solidFill>
              <a:srgbClr val="002060"/>
            </a:solidFill>
            <a:prstDash val="solid"/>
          </a:ln>
        </p:spPr>
        <p:txBody>
          <a:bodyPr/>
          <a:p/>
        </p:txBody>
      </p:sp>
      <p:sp>
        <p:nvSpPr>
          <p:cNvPr id="26" name="Text 19"/>
          <p:cNvSpPr/>
          <p:nvPr/>
        </p:nvSpPr>
        <p:spPr>
          <a:xfrm>
            <a:off x="9706983" y="2809211"/>
            <a:ext cx="848312"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Carlito" pitchFamily="34" charset="0"/>
                <a:ea typeface="Carlito" pitchFamily="34" charset="-122"/>
                <a:cs typeface="Carlito" pitchFamily="34" charset="-120"/>
              </a:rPr>
              <a:t>Audit store</a:t>
            </a:r>
            <a:endParaRPr lang="en-US" sz="1400" dirty="0"/>
          </a:p>
        </p:txBody>
      </p:sp>
      <p:pic>
        <p:nvPicPr>
          <p:cNvPr id="27" name="Image 5" descr="connector">    </p:cNvPr>
          <p:cNvPicPr>
            <a:picLocks noChangeAspect="1"/>
          </p:cNvPicPr>
          <p:nvPr/>
        </p:nvPicPr>
        <p:blipFill>
          <a:blip r:embed="rId6"/>
          <a:srcRect l="0" r="0" t="0" b="0"/>
          <a:stretch/>
        </p:blipFill>
        <p:spPr>
          <a:xfrm>
            <a:off x="6718267" y="2540000"/>
            <a:ext cx="2222500" cy="444500"/>
          </a:xfrm>
          <a:prstGeom prst="rect">
            <a:avLst/>
          </a:prstGeom>
        </p:spPr>
      </p:pic>
      <p:sp>
        <p:nvSpPr>
          <p:cNvPr id="28" name="Text 20"/>
          <p:cNvSpPr/>
          <p:nvPr/>
        </p:nvSpPr>
        <p:spPr>
          <a:xfrm>
            <a:off x="6894830" y="2819381"/>
            <a:ext cx="18313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0000"/>
                </a:solidFill>
                <a:latin typeface="Carlito" pitchFamily="34" charset="0"/>
                <a:ea typeface="Carlito" pitchFamily="34" charset="-122"/>
                <a:cs typeface="Carlito" pitchFamily="34" charset="-120"/>
              </a:rPr>
              <a:t>request ID, versions</a:t>
            </a:r>
            <a:endParaRPr lang="en-US" sz="1200" dirty="0"/>
          </a:p>
        </p:txBody>
      </p:sp>
      <p:sp>
        <p:nvSpPr>
          <p:cNvPr id="29" name="Text 21"/>
          <p:cNvSpPr/>
          <p:nvPr/>
        </p:nvSpPr>
        <p:spPr>
          <a:xfrm>
            <a:off x="609575" y="3238500"/>
            <a:ext cx="2616200" cy="345463"/>
          </a:xfrm>
          <a:prstGeom prst="rect">
            <a:avLst/>
          </a:prstGeom>
          <a:noFill/>
          <a:ln/>
        </p:spPr>
        <p:txBody>
          <a:bodyPr wrap="square" lIns="0" tIns="0" rIns="0" bIns="0" rtlCol="0" anchor="t">
            <a:normAutofit/>
          </a:bodyPr>
          <a:lstStyle/>
          <a:p>
            <a:pPr algn="l" indent="0" marL="0">
              <a:lnSpc>
                <a:spcPts val="2520"/>
              </a:lnSpc>
              <a:buNone/>
            </a:pPr>
            <a:r>
              <a:rPr lang="en-US" sz="1800" b="1" u="sng" dirty="0">
                <a:solidFill>
                  <a:srgbClr val="002060"/>
                </a:solidFill>
                <a:latin typeface="Times New Roman" pitchFamily="34" charset="0"/>
                <a:ea typeface="Times New Roman" pitchFamily="34" charset="-122"/>
                <a:cs typeface="Times New Roman" pitchFamily="34" charset="-120"/>
              </a:rPr>
              <a:t>DFD Level 1</a:t>
            </a:r>
            <a:endParaRPr lang="en-US" sz="1800" dirty="0"/>
          </a:p>
        </p:txBody>
      </p:sp>
      <p:sp>
        <p:nvSpPr>
          <p:cNvPr id="30" name="Shape 22"/>
          <p:cNvSpPr/>
          <p:nvPr/>
        </p:nvSpPr>
        <p:spPr>
          <a:xfrm>
            <a:off x="619100" y="3806788"/>
            <a:ext cx="1250950" cy="450833"/>
          </a:xfrm>
          <a:prstGeom prst="rect">
            <a:avLst/>
          </a:prstGeom>
          <a:solidFill>
            <a:srgbClr val="FFFFFF"/>
          </a:solidFill>
          <a:ln w="19050">
            <a:solidFill>
              <a:srgbClr val="000000"/>
            </a:solidFill>
            <a:prstDash val="solid"/>
          </a:ln>
        </p:spPr>
        <p:txBody>
          <a:bodyPr/>
          <a:p/>
        </p:txBody>
      </p:sp>
      <p:sp>
        <p:nvSpPr>
          <p:cNvPr id="31" name="Text 23"/>
          <p:cNvSpPr/>
          <p:nvPr/>
        </p:nvSpPr>
        <p:spPr>
          <a:xfrm>
            <a:off x="933648" y="3907730"/>
            <a:ext cx="672612"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0000"/>
                </a:solidFill>
                <a:latin typeface="Carlito" pitchFamily="34" charset="0"/>
                <a:ea typeface="Carlito" pitchFamily="34" charset="-122"/>
                <a:cs typeface="Carlito" pitchFamily="34" charset="-120"/>
              </a:rPr>
              <a:t>Clinician</a:t>
            </a:r>
            <a:endParaRPr lang="en-US" sz="1400" dirty="0"/>
          </a:p>
        </p:txBody>
      </p:sp>
      <p:sp>
        <p:nvSpPr>
          <p:cNvPr id="32" name="Shape 24"/>
          <p:cNvSpPr/>
          <p:nvPr/>
        </p:nvSpPr>
        <p:spPr>
          <a:xfrm>
            <a:off x="2232025" y="3692525"/>
            <a:ext cx="2076450" cy="679450"/>
          </a:xfrm>
          <a:prstGeom prst="roundRect">
            <a:avLst>
              <a:gd name="adj" fmla="val 50000"/>
            </a:avLst>
          </a:prstGeom>
          <a:solidFill>
            <a:srgbClr val="FFFFFF"/>
          </a:solidFill>
          <a:ln w="19050">
            <a:solidFill>
              <a:srgbClr val="002060"/>
            </a:solidFill>
            <a:prstDash val="solid"/>
          </a:ln>
        </p:spPr>
        <p:txBody>
          <a:bodyPr/>
          <a:p/>
        </p:txBody>
      </p:sp>
      <p:sp>
        <p:nvSpPr>
          <p:cNvPr id="33" name="Text 25"/>
          <p:cNvSpPr/>
          <p:nvPr/>
        </p:nvSpPr>
        <p:spPr>
          <a:xfrm>
            <a:off x="2638458" y="3922694"/>
            <a:ext cx="1263584" cy="244467"/>
          </a:xfrm>
          <a:prstGeom prst="rect">
            <a:avLst/>
          </a:prstGeom>
          <a:noFill/>
          <a:ln/>
        </p:spPr>
        <p:txBody>
          <a:bodyPr wrap="square" lIns="0" tIns="0" rIns="0" bIns="0" rtlCol="0" anchor="t">
            <a:normAutofit/>
          </a:bodyPr>
          <a:lstStyle/>
          <a:p>
            <a:pPr algn="ctr" indent="0" marL="0">
              <a:lnSpc>
                <a:spcPts val="1725"/>
              </a:lnSpc>
              <a:buNone/>
            </a:pPr>
            <a:r>
              <a:rPr lang="en-US" sz="1500" b="1" dirty="0">
                <a:solidFill>
                  <a:srgbClr val="002060"/>
                </a:solidFill>
                <a:latin typeface="Carlito" pitchFamily="34" charset="0"/>
                <a:ea typeface="Carlito" pitchFamily="34" charset="-122"/>
                <a:cs typeface="Carlito" pitchFamily="34" charset="-120"/>
              </a:rPr>
              <a:t>1</a:t>
            </a:r>
            <a:r>
              <a:rPr lang="en-US" sz="1500" dirty="0">
                <a:solidFill>
                  <a:srgbClr val="000000"/>
                </a:solidFill>
                <a:latin typeface="Carlito" pitchFamily="34" charset="0"/>
                <a:ea typeface="Carlito" pitchFamily="34" charset="-122"/>
                <a:cs typeface="Carlito" pitchFamily="34" charset="-120"/>
              </a:rPr>
              <a:t> Validate input</a:t>
            </a:r>
            <a:endParaRPr lang="en-US" sz="1500" dirty="0"/>
          </a:p>
        </p:txBody>
      </p:sp>
      <p:sp>
        <p:nvSpPr>
          <p:cNvPr id="34" name="Shape 26"/>
          <p:cNvSpPr/>
          <p:nvPr/>
        </p:nvSpPr>
        <p:spPr>
          <a:xfrm>
            <a:off x="4835525" y="3692525"/>
            <a:ext cx="2076450" cy="679450"/>
          </a:xfrm>
          <a:prstGeom prst="roundRect">
            <a:avLst>
              <a:gd name="adj" fmla="val 50000"/>
            </a:avLst>
          </a:prstGeom>
          <a:solidFill>
            <a:srgbClr val="FFFFFF"/>
          </a:solidFill>
          <a:ln w="19050">
            <a:solidFill>
              <a:srgbClr val="002060"/>
            </a:solidFill>
            <a:prstDash val="solid"/>
          </a:ln>
        </p:spPr>
        <p:txBody>
          <a:bodyPr/>
          <a:p/>
        </p:txBody>
      </p:sp>
      <p:sp>
        <p:nvSpPr>
          <p:cNvPr id="35" name="Text 27"/>
          <p:cNvSpPr/>
          <p:nvPr/>
        </p:nvSpPr>
        <p:spPr>
          <a:xfrm>
            <a:off x="5329808" y="3922694"/>
            <a:ext cx="1087884" cy="244467"/>
          </a:xfrm>
          <a:prstGeom prst="rect">
            <a:avLst/>
          </a:prstGeom>
          <a:noFill/>
          <a:ln/>
        </p:spPr>
        <p:txBody>
          <a:bodyPr wrap="square" lIns="0" tIns="0" rIns="0" bIns="0" rtlCol="0" anchor="t">
            <a:normAutofit/>
          </a:bodyPr>
          <a:lstStyle/>
          <a:p>
            <a:pPr algn="ctr" indent="0" marL="0">
              <a:lnSpc>
                <a:spcPts val="1725"/>
              </a:lnSpc>
              <a:buNone/>
            </a:pPr>
            <a:r>
              <a:rPr lang="en-US" sz="1500" b="1" dirty="0">
                <a:solidFill>
                  <a:srgbClr val="002060"/>
                </a:solidFill>
                <a:latin typeface="Carlito" pitchFamily="34" charset="0"/>
                <a:ea typeface="Carlito" pitchFamily="34" charset="-122"/>
                <a:cs typeface="Carlito" pitchFamily="34" charset="-120"/>
              </a:rPr>
              <a:t>2</a:t>
            </a:r>
            <a:r>
              <a:rPr lang="en-US" sz="1500" dirty="0">
                <a:solidFill>
                  <a:srgbClr val="000000"/>
                </a:solidFill>
                <a:latin typeface="Carlito" pitchFamily="34" charset="0"/>
                <a:ea typeface="Carlito" pitchFamily="34" charset="-122"/>
                <a:cs typeface="Carlito" pitchFamily="34" charset="-120"/>
              </a:rPr>
              <a:t> Safety rules</a:t>
            </a:r>
            <a:endParaRPr lang="en-US" sz="1500" dirty="0"/>
          </a:p>
        </p:txBody>
      </p:sp>
      <p:sp>
        <p:nvSpPr>
          <p:cNvPr id="36" name="Shape 28"/>
          <p:cNvSpPr/>
          <p:nvPr/>
        </p:nvSpPr>
        <p:spPr>
          <a:xfrm>
            <a:off x="7439025" y="3692525"/>
            <a:ext cx="2076450" cy="679450"/>
          </a:xfrm>
          <a:prstGeom prst="roundRect">
            <a:avLst>
              <a:gd name="adj" fmla="val 50000"/>
            </a:avLst>
          </a:prstGeom>
          <a:solidFill>
            <a:srgbClr val="FFFFFF"/>
          </a:solidFill>
          <a:ln w="19050">
            <a:solidFill>
              <a:srgbClr val="002060"/>
            </a:solidFill>
            <a:prstDash val="solid"/>
          </a:ln>
        </p:spPr>
        <p:txBody>
          <a:bodyPr/>
          <a:p/>
        </p:txBody>
      </p:sp>
      <p:sp>
        <p:nvSpPr>
          <p:cNvPr id="37" name="Text 29"/>
          <p:cNvSpPr/>
          <p:nvPr/>
        </p:nvSpPr>
        <p:spPr>
          <a:xfrm>
            <a:off x="7847732" y="3922694"/>
            <a:ext cx="1259036" cy="244467"/>
          </a:xfrm>
          <a:prstGeom prst="rect">
            <a:avLst/>
          </a:prstGeom>
          <a:noFill/>
          <a:ln/>
        </p:spPr>
        <p:txBody>
          <a:bodyPr wrap="square" lIns="0" tIns="0" rIns="0" bIns="0" rtlCol="0" anchor="t">
            <a:normAutofit/>
          </a:bodyPr>
          <a:lstStyle/>
          <a:p>
            <a:pPr algn="ctr" indent="0" marL="0">
              <a:lnSpc>
                <a:spcPts val="1725"/>
              </a:lnSpc>
              <a:buNone/>
            </a:pPr>
            <a:r>
              <a:rPr lang="en-US" sz="1500" b="1" dirty="0">
                <a:solidFill>
                  <a:srgbClr val="002060"/>
                </a:solidFill>
                <a:latin typeface="Carlito" pitchFamily="34" charset="0"/>
                <a:ea typeface="Carlito" pitchFamily="34" charset="-122"/>
                <a:cs typeface="Carlito" pitchFamily="34" charset="-120"/>
              </a:rPr>
              <a:t>3</a:t>
            </a:r>
            <a:r>
              <a:rPr lang="en-US" sz="1500" dirty="0">
                <a:solidFill>
                  <a:srgbClr val="000000"/>
                </a:solidFill>
                <a:latin typeface="Carlito" pitchFamily="34" charset="0"/>
                <a:ea typeface="Carlito" pitchFamily="34" charset="-122"/>
                <a:cs typeface="Carlito" pitchFamily="34" charset="-120"/>
              </a:rPr>
              <a:t> Causal engine</a:t>
            </a:r>
            <a:endParaRPr lang="en-US" sz="1500" dirty="0"/>
          </a:p>
        </p:txBody>
      </p:sp>
      <p:sp>
        <p:nvSpPr>
          <p:cNvPr id="38" name="Shape 30"/>
          <p:cNvSpPr/>
          <p:nvPr/>
        </p:nvSpPr>
        <p:spPr>
          <a:xfrm>
            <a:off x="7439025" y="5153025"/>
            <a:ext cx="2076450" cy="679450"/>
          </a:xfrm>
          <a:prstGeom prst="roundRect">
            <a:avLst>
              <a:gd name="adj" fmla="val 50000"/>
            </a:avLst>
          </a:prstGeom>
          <a:solidFill>
            <a:srgbClr val="FFFFFF"/>
          </a:solidFill>
          <a:ln w="19050">
            <a:solidFill>
              <a:srgbClr val="002060"/>
            </a:solidFill>
            <a:prstDash val="solid"/>
          </a:ln>
        </p:spPr>
        <p:txBody>
          <a:bodyPr/>
          <a:p/>
        </p:txBody>
      </p:sp>
      <p:sp>
        <p:nvSpPr>
          <p:cNvPr id="39" name="Text 31"/>
          <p:cNvSpPr/>
          <p:nvPr/>
        </p:nvSpPr>
        <p:spPr>
          <a:xfrm>
            <a:off x="7926859" y="5383194"/>
            <a:ext cx="1100741" cy="244467"/>
          </a:xfrm>
          <a:prstGeom prst="rect">
            <a:avLst/>
          </a:prstGeom>
          <a:noFill/>
          <a:ln/>
        </p:spPr>
        <p:txBody>
          <a:bodyPr wrap="square" lIns="0" tIns="0" rIns="0" bIns="0" rtlCol="0" anchor="t">
            <a:normAutofit/>
          </a:bodyPr>
          <a:lstStyle/>
          <a:p>
            <a:pPr algn="ctr" indent="0" marL="0">
              <a:lnSpc>
                <a:spcPts val="1725"/>
              </a:lnSpc>
              <a:buNone/>
            </a:pPr>
            <a:r>
              <a:rPr lang="en-US" sz="1500" b="1" dirty="0">
                <a:solidFill>
                  <a:srgbClr val="002060"/>
                </a:solidFill>
                <a:latin typeface="Carlito" pitchFamily="34" charset="0"/>
                <a:ea typeface="Carlito" pitchFamily="34" charset="-122"/>
                <a:cs typeface="Carlito" pitchFamily="34" charset="-120"/>
              </a:rPr>
              <a:t>4</a:t>
            </a:r>
            <a:r>
              <a:rPr lang="en-US" sz="1500" dirty="0">
                <a:solidFill>
                  <a:srgbClr val="000000"/>
                </a:solidFill>
                <a:latin typeface="Carlito" pitchFamily="34" charset="0"/>
                <a:ea typeface="Carlito" pitchFamily="34" charset="-122"/>
                <a:cs typeface="Carlito" pitchFamily="34" charset="-120"/>
              </a:rPr>
              <a:t> Cost lookup</a:t>
            </a:r>
            <a:endParaRPr lang="en-US" sz="1500" dirty="0"/>
          </a:p>
        </p:txBody>
      </p:sp>
      <p:sp>
        <p:nvSpPr>
          <p:cNvPr id="40" name="Shape 32"/>
          <p:cNvSpPr/>
          <p:nvPr/>
        </p:nvSpPr>
        <p:spPr>
          <a:xfrm>
            <a:off x="4835525" y="5153025"/>
            <a:ext cx="2076450" cy="679450"/>
          </a:xfrm>
          <a:prstGeom prst="roundRect">
            <a:avLst>
              <a:gd name="adj" fmla="val 50000"/>
            </a:avLst>
          </a:prstGeom>
          <a:solidFill>
            <a:srgbClr val="FFFFFF"/>
          </a:solidFill>
          <a:ln w="19050">
            <a:solidFill>
              <a:srgbClr val="002060"/>
            </a:solidFill>
            <a:prstDash val="dash"/>
          </a:ln>
        </p:spPr>
        <p:txBody>
          <a:bodyPr/>
          <a:p/>
        </p:txBody>
      </p:sp>
      <p:sp>
        <p:nvSpPr>
          <p:cNvPr id="41" name="Text 33"/>
          <p:cNvSpPr/>
          <p:nvPr/>
        </p:nvSpPr>
        <p:spPr>
          <a:xfrm>
            <a:off x="5137902" y="5383194"/>
            <a:ext cx="1471695" cy="244467"/>
          </a:xfrm>
          <a:prstGeom prst="rect">
            <a:avLst/>
          </a:prstGeom>
          <a:noFill/>
          <a:ln/>
        </p:spPr>
        <p:txBody>
          <a:bodyPr wrap="square" lIns="0" tIns="0" rIns="0" bIns="0" rtlCol="0" anchor="t">
            <a:normAutofit/>
          </a:bodyPr>
          <a:lstStyle/>
          <a:p>
            <a:pPr algn="ctr" indent="0" marL="0">
              <a:lnSpc>
                <a:spcPts val="1725"/>
              </a:lnSpc>
              <a:buNone/>
            </a:pPr>
            <a:r>
              <a:rPr lang="en-US" sz="1500" b="1" dirty="0">
                <a:solidFill>
                  <a:srgbClr val="002060"/>
                </a:solidFill>
                <a:latin typeface="Carlito" pitchFamily="34" charset="0"/>
                <a:ea typeface="Carlito" pitchFamily="34" charset="-122"/>
                <a:cs typeface="Carlito" pitchFamily="34" charset="-120"/>
              </a:rPr>
              <a:t>5</a:t>
            </a:r>
            <a:r>
              <a:rPr lang="en-US" sz="1500" dirty="0">
                <a:solidFill>
                  <a:srgbClr val="000000"/>
                </a:solidFill>
                <a:latin typeface="Carlito" pitchFamily="34" charset="0"/>
                <a:ea typeface="Carlito" pitchFamily="34" charset="-122"/>
                <a:cs typeface="Carlito" pitchFamily="34" charset="-120"/>
              </a:rPr>
              <a:t> RAG explanation</a:t>
            </a:r>
            <a:endParaRPr lang="en-US" sz="1500" dirty="0"/>
          </a:p>
        </p:txBody>
      </p:sp>
      <p:sp>
        <p:nvSpPr>
          <p:cNvPr id="42" name="Shape 34"/>
          <p:cNvSpPr/>
          <p:nvPr/>
        </p:nvSpPr>
        <p:spPr>
          <a:xfrm>
            <a:off x="2232025" y="5153025"/>
            <a:ext cx="2076450" cy="679450"/>
          </a:xfrm>
          <a:prstGeom prst="roundRect">
            <a:avLst>
              <a:gd name="adj" fmla="val 50000"/>
            </a:avLst>
          </a:prstGeom>
          <a:solidFill>
            <a:srgbClr val="FFFFFF"/>
          </a:solidFill>
          <a:ln w="19050">
            <a:solidFill>
              <a:srgbClr val="002060"/>
            </a:solidFill>
            <a:prstDash val="solid"/>
          </a:ln>
        </p:spPr>
        <p:txBody>
          <a:bodyPr/>
          <a:p/>
        </p:txBody>
      </p:sp>
      <p:sp>
        <p:nvSpPr>
          <p:cNvPr id="43" name="Text 35"/>
          <p:cNvSpPr/>
          <p:nvPr/>
        </p:nvSpPr>
        <p:spPr>
          <a:xfrm>
            <a:off x="2583102" y="5383194"/>
            <a:ext cx="1374295" cy="244467"/>
          </a:xfrm>
          <a:prstGeom prst="rect">
            <a:avLst/>
          </a:prstGeom>
          <a:noFill/>
          <a:ln/>
        </p:spPr>
        <p:txBody>
          <a:bodyPr wrap="square" lIns="0" tIns="0" rIns="0" bIns="0" rtlCol="0" anchor="t">
            <a:normAutofit/>
          </a:bodyPr>
          <a:lstStyle/>
          <a:p>
            <a:pPr algn="ctr" indent="0" marL="0">
              <a:lnSpc>
                <a:spcPts val="1725"/>
              </a:lnSpc>
              <a:buNone/>
            </a:pPr>
            <a:r>
              <a:rPr lang="en-US" sz="1500" b="1" dirty="0">
                <a:solidFill>
                  <a:srgbClr val="002060"/>
                </a:solidFill>
                <a:latin typeface="Carlito" pitchFamily="34" charset="0"/>
                <a:ea typeface="Carlito" pitchFamily="34" charset="-122"/>
                <a:cs typeface="Carlito" pitchFamily="34" charset="-120"/>
              </a:rPr>
              <a:t>6</a:t>
            </a:r>
            <a:r>
              <a:rPr lang="en-US" sz="1500" dirty="0">
                <a:solidFill>
                  <a:srgbClr val="000000"/>
                </a:solidFill>
                <a:latin typeface="Carlito" pitchFamily="34" charset="0"/>
                <a:ea typeface="Carlito" pitchFamily="34" charset="-122"/>
                <a:cs typeface="Carlito" pitchFamily="34" charset="-120"/>
              </a:rPr>
              <a:t> Log and display</a:t>
            </a:r>
            <a:endParaRPr lang="en-US" sz="1500" dirty="0"/>
          </a:p>
        </p:txBody>
      </p:sp>
      <p:sp>
        <p:nvSpPr>
          <p:cNvPr id="44" name="Shape 36"/>
          <p:cNvSpPr/>
          <p:nvPr/>
        </p:nvSpPr>
        <p:spPr>
          <a:xfrm>
            <a:off x="9906000" y="3835381"/>
            <a:ext cx="1587500" cy="393692"/>
          </a:xfrm>
          <a:prstGeom prst="rect">
            <a:avLst/>
          </a:prstGeom>
          <a:solidFill>
            <a:srgbClr val="FFFFFF"/>
          </a:solidFill>
          <a:ln/>
        </p:spPr>
        <p:txBody>
          <a:bodyPr/>
          <a:p/>
        </p:txBody>
      </p:sp>
      <p:sp>
        <p:nvSpPr>
          <p:cNvPr id="45" name="Shape 37"/>
          <p:cNvSpPr/>
          <p:nvPr/>
        </p:nvSpPr>
        <p:spPr>
          <a:xfrm>
            <a:off x="9906000" y="3844906"/>
            <a:ext cx="1587500" cy="0"/>
          </a:xfrm>
          <a:prstGeom prst="line">
            <a:avLst/>
          </a:prstGeom>
          <a:noFill/>
          <a:ln w="19050">
            <a:solidFill>
              <a:srgbClr val="002060"/>
            </a:solidFill>
            <a:prstDash val="solid"/>
          </a:ln>
        </p:spPr>
        <p:txBody>
          <a:bodyPr/>
          <a:p/>
        </p:txBody>
      </p:sp>
      <p:sp>
        <p:nvSpPr>
          <p:cNvPr id="46" name="Shape 38"/>
          <p:cNvSpPr/>
          <p:nvPr/>
        </p:nvSpPr>
        <p:spPr>
          <a:xfrm>
            <a:off x="9906000" y="4219548"/>
            <a:ext cx="1587500" cy="0"/>
          </a:xfrm>
          <a:prstGeom prst="line">
            <a:avLst/>
          </a:prstGeom>
          <a:noFill/>
          <a:ln w="19050">
            <a:solidFill>
              <a:srgbClr val="002060"/>
            </a:solidFill>
            <a:prstDash val="solid"/>
          </a:ln>
        </p:spPr>
        <p:txBody>
          <a:bodyPr/>
          <a:p/>
        </p:txBody>
      </p:sp>
      <p:sp>
        <p:nvSpPr>
          <p:cNvPr id="47" name="Shape 39"/>
          <p:cNvSpPr/>
          <p:nvPr/>
        </p:nvSpPr>
        <p:spPr>
          <a:xfrm>
            <a:off x="9915525" y="3835381"/>
            <a:ext cx="0" cy="393692"/>
          </a:xfrm>
          <a:prstGeom prst="line">
            <a:avLst/>
          </a:prstGeom>
          <a:noFill/>
          <a:ln w="19050">
            <a:solidFill>
              <a:srgbClr val="002060"/>
            </a:solidFill>
            <a:prstDash val="solid"/>
          </a:ln>
        </p:spPr>
        <p:txBody>
          <a:bodyPr/>
          <a:p/>
        </p:txBody>
      </p:sp>
      <p:sp>
        <p:nvSpPr>
          <p:cNvPr id="48" name="Text 40"/>
          <p:cNvSpPr/>
          <p:nvPr/>
        </p:nvSpPr>
        <p:spPr>
          <a:xfrm>
            <a:off x="10265585" y="3916660"/>
            <a:ext cx="937650" cy="25653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00000"/>
                </a:solidFill>
                <a:latin typeface="Carlito" pitchFamily="34" charset="0"/>
                <a:ea typeface="Carlito" pitchFamily="34" charset="-122"/>
                <a:cs typeface="Carlito" pitchFamily="34" charset="-120"/>
              </a:rPr>
              <a:t>fitted models</a:t>
            </a:r>
            <a:endParaRPr lang="en-US" sz="1300" dirty="0"/>
          </a:p>
        </p:txBody>
      </p:sp>
      <p:sp>
        <p:nvSpPr>
          <p:cNvPr id="49" name="Shape 41"/>
          <p:cNvSpPr/>
          <p:nvPr/>
        </p:nvSpPr>
        <p:spPr>
          <a:xfrm>
            <a:off x="9906000" y="5295881"/>
            <a:ext cx="1587500" cy="393692"/>
          </a:xfrm>
          <a:prstGeom prst="rect">
            <a:avLst/>
          </a:prstGeom>
          <a:solidFill>
            <a:srgbClr val="FFFFFF"/>
          </a:solidFill>
          <a:ln/>
        </p:spPr>
        <p:txBody>
          <a:bodyPr/>
          <a:p/>
        </p:txBody>
      </p:sp>
      <p:sp>
        <p:nvSpPr>
          <p:cNvPr id="50" name="Shape 42"/>
          <p:cNvSpPr/>
          <p:nvPr/>
        </p:nvSpPr>
        <p:spPr>
          <a:xfrm>
            <a:off x="9906000" y="5305406"/>
            <a:ext cx="1587500" cy="0"/>
          </a:xfrm>
          <a:prstGeom prst="line">
            <a:avLst/>
          </a:prstGeom>
          <a:noFill/>
          <a:ln w="19050">
            <a:solidFill>
              <a:srgbClr val="002060"/>
            </a:solidFill>
            <a:prstDash val="solid"/>
          </a:ln>
        </p:spPr>
        <p:txBody>
          <a:bodyPr/>
          <a:p/>
        </p:txBody>
      </p:sp>
      <p:sp>
        <p:nvSpPr>
          <p:cNvPr id="51" name="Shape 43"/>
          <p:cNvSpPr/>
          <p:nvPr/>
        </p:nvSpPr>
        <p:spPr>
          <a:xfrm>
            <a:off x="9906000" y="5680048"/>
            <a:ext cx="1587500" cy="0"/>
          </a:xfrm>
          <a:prstGeom prst="line">
            <a:avLst/>
          </a:prstGeom>
          <a:noFill/>
          <a:ln w="19050">
            <a:solidFill>
              <a:srgbClr val="002060"/>
            </a:solidFill>
            <a:prstDash val="solid"/>
          </a:ln>
        </p:spPr>
        <p:txBody>
          <a:bodyPr/>
          <a:p/>
        </p:txBody>
      </p:sp>
      <p:sp>
        <p:nvSpPr>
          <p:cNvPr id="52" name="Shape 44"/>
          <p:cNvSpPr/>
          <p:nvPr/>
        </p:nvSpPr>
        <p:spPr>
          <a:xfrm>
            <a:off x="9915525" y="5295881"/>
            <a:ext cx="0" cy="393692"/>
          </a:xfrm>
          <a:prstGeom prst="line">
            <a:avLst/>
          </a:prstGeom>
          <a:noFill/>
          <a:ln w="19050">
            <a:solidFill>
              <a:srgbClr val="002060"/>
            </a:solidFill>
            <a:prstDash val="solid"/>
          </a:ln>
        </p:spPr>
        <p:txBody>
          <a:bodyPr/>
          <a:p/>
        </p:txBody>
      </p:sp>
      <p:sp>
        <p:nvSpPr>
          <p:cNvPr id="53" name="Text 45"/>
          <p:cNvSpPr/>
          <p:nvPr/>
        </p:nvSpPr>
        <p:spPr>
          <a:xfrm>
            <a:off x="10385557" y="5377160"/>
            <a:ext cx="697665" cy="25653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00000"/>
                </a:solidFill>
                <a:latin typeface="Carlito" pitchFamily="34" charset="0"/>
                <a:ea typeface="Carlito" pitchFamily="34" charset="-122"/>
                <a:cs typeface="Carlito" pitchFamily="34" charset="-120"/>
              </a:rPr>
              <a:t>prices.csv</a:t>
            </a:r>
            <a:endParaRPr lang="en-US" sz="1300" dirty="0"/>
          </a:p>
        </p:txBody>
      </p:sp>
      <p:sp>
        <p:nvSpPr>
          <p:cNvPr id="54" name="Shape 46"/>
          <p:cNvSpPr/>
          <p:nvPr/>
        </p:nvSpPr>
        <p:spPr>
          <a:xfrm>
            <a:off x="5080000" y="4521188"/>
            <a:ext cx="1587500" cy="355575"/>
          </a:xfrm>
          <a:prstGeom prst="rect">
            <a:avLst/>
          </a:prstGeom>
          <a:solidFill>
            <a:srgbClr val="FFFFFF"/>
          </a:solidFill>
          <a:ln/>
        </p:spPr>
        <p:txBody>
          <a:bodyPr/>
          <a:p/>
        </p:txBody>
      </p:sp>
      <p:sp>
        <p:nvSpPr>
          <p:cNvPr id="55" name="Shape 47"/>
          <p:cNvSpPr/>
          <p:nvPr/>
        </p:nvSpPr>
        <p:spPr>
          <a:xfrm>
            <a:off x="5080000" y="4530713"/>
            <a:ext cx="1587500" cy="0"/>
          </a:xfrm>
          <a:prstGeom prst="line">
            <a:avLst/>
          </a:prstGeom>
          <a:noFill/>
          <a:ln w="19050">
            <a:solidFill>
              <a:srgbClr val="002060"/>
            </a:solidFill>
            <a:prstDash val="solid"/>
          </a:ln>
        </p:spPr>
        <p:txBody>
          <a:bodyPr/>
          <a:p/>
        </p:txBody>
      </p:sp>
      <p:sp>
        <p:nvSpPr>
          <p:cNvPr id="56" name="Shape 48"/>
          <p:cNvSpPr/>
          <p:nvPr/>
        </p:nvSpPr>
        <p:spPr>
          <a:xfrm>
            <a:off x="5080000" y="4867238"/>
            <a:ext cx="1587500" cy="0"/>
          </a:xfrm>
          <a:prstGeom prst="line">
            <a:avLst/>
          </a:prstGeom>
          <a:noFill/>
          <a:ln w="19050">
            <a:solidFill>
              <a:srgbClr val="002060"/>
            </a:solidFill>
            <a:prstDash val="solid"/>
          </a:ln>
        </p:spPr>
        <p:txBody>
          <a:bodyPr/>
          <a:p/>
        </p:txBody>
      </p:sp>
      <p:sp>
        <p:nvSpPr>
          <p:cNvPr id="57" name="Shape 49"/>
          <p:cNvSpPr/>
          <p:nvPr/>
        </p:nvSpPr>
        <p:spPr>
          <a:xfrm>
            <a:off x="5089525" y="4521188"/>
            <a:ext cx="0" cy="355575"/>
          </a:xfrm>
          <a:prstGeom prst="line">
            <a:avLst/>
          </a:prstGeom>
          <a:noFill/>
          <a:ln w="19050">
            <a:solidFill>
              <a:srgbClr val="002060"/>
            </a:solidFill>
            <a:prstDash val="solid"/>
          </a:ln>
        </p:spPr>
        <p:txBody>
          <a:bodyPr/>
          <a:p/>
        </p:txBody>
      </p:sp>
      <p:sp>
        <p:nvSpPr>
          <p:cNvPr id="58" name="Text 50"/>
          <p:cNvSpPr/>
          <p:nvPr/>
        </p:nvSpPr>
        <p:spPr>
          <a:xfrm>
            <a:off x="5594449" y="4583410"/>
            <a:ext cx="627881" cy="25653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00000"/>
                </a:solidFill>
                <a:latin typeface="Carlito" pitchFamily="34" charset="0"/>
                <a:ea typeface="Carlito" pitchFamily="34" charset="-122"/>
                <a:cs typeface="Carlito" pitchFamily="34" charset="-120"/>
              </a:rPr>
              <a:t>rules.csv</a:t>
            </a:r>
            <a:endParaRPr lang="en-US" sz="1300" dirty="0"/>
          </a:p>
        </p:txBody>
      </p:sp>
      <p:sp>
        <p:nvSpPr>
          <p:cNvPr id="59" name="Shape 51"/>
          <p:cNvSpPr/>
          <p:nvPr/>
        </p:nvSpPr>
        <p:spPr>
          <a:xfrm>
            <a:off x="5080000" y="5981688"/>
            <a:ext cx="1587500" cy="355575"/>
          </a:xfrm>
          <a:prstGeom prst="rect">
            <a:avLst/>
          </a:prstGeom>
          <a:solidFill>
            <a:srgbClr val="FFFFFF"/>
          </a:solidFill>
          <a:ln/>
        </p:spPr>
        <p:txBody>
          <a:bodyPr/>
          <a:p/>
        </p:txBody>
      </p:sp>
      <p:sp>
        <p:nvSpPr>
          <p:cNvPr id="60" name="Shape 52"/>
          <p:cNvSpPr/>
          <p:nvPr/>
        </p:nvSpPr>
        <p:spPr>
          <a:xfrm>
            <a:off x="5080000" y="5991213"/>
            <a:ext cx="1587500" cy="0"/>
          </a:xfrm>
          <a:prstGeom prst="line">
            <a:avLst/>
          </a:prstGeom>
          <a:noFill/>
          <a:ln w="19050">
            <a:solidFill>
              <a:srgbClr val="002060"/>
            </a:solidFill>
            <a:prstDash val="solid"/>
          </a:ln>
        </p:spPr>
        <p:txBody>
          <a:bodyPr/>
          <a:p/>
        </p:txBody>
      </p:sp>
      <p:sp>
        <p:nvSpPr>
          <p:cNvPr id="61" name="Shape 53"/>
          <p:cNvSpPr/>
          <p:nvPr/>
        </p:nvSpPr>
        <p:spPr>
          <a:xfrm>
            <a:off x="5080000" y="6327738"/>
            <a:ext cx="1587500" cy="0"/>
          </a:xfrm>
          <a:prstGeom prst="line">
            <a:avLst/>
          </a:prstGeom>
          <a:noFill/>
          <a:ln w="19050">
            <a:solidFill>
              <a:srgbClr val="002060"/>
            </a:solidFill>
            <a:prstDash val="solid"/>
          </a:ln>
        </p:spPr>
        <p:txBody>
          <a:bodyPr/>
          <a:p/>
        </p:txBody>
      </p:sp>
      <p:sp>
        <p:nvSpPr>
          <p:cNvPr id="62" name="Shape 54"/>
          <p:cNvSpPr/>
          <p:nvPr/>
        </p:nvSpPr>
        <p:spPr>
          <a:xfrm>
            <a:off x="5089525" y="5981688"/>
            <a:ext cx="0" cy="355575"/>
          </a:xfrm>
          <a:prstGeom prst="line">
            <a:avLst/>
          </a:prstGeom>
          <a:noFill/>
          <a:ln w="19050">
            <a:solidFill>
              <a:srgbClr val="002060"/>
            </a:solidFill>
            <a:prstDash val="solid"/>
          </a:ln>
        </p:spPr>
        <p:txBody>
          <a:bodyPr/>
          <a:p/>
        </p:txBody>
      </p:sp>
      <p:sp>
        <p:nvSpPr>
          <p:cNvPr id="63" name="Text 55"/>
          <p:cNvSpPr/>
          <p:nvPr/>
        </p:nvSpPr>
        <p:spPr>
          <a:xfrm>
            <a:off x="5529543" y="6043910"/>
            <a:ext cx="757734" cy="25653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00000"/>
                </a:solidFill>
                <a:latin typeface="Carlito" pitchFamily="34" charset="0"/>
                <a:ea typeface="Carlito" pitchFamily="34" charset="-122"/>
                <a:cs typeface="Carlito" pitchFamily="34" charset="-120"/>
              </a:rPr>
              <a:t>Guidelines</a:t>
            </a:r>
            <a:endParaRPr lang="en-US" sz="1300" dirty="0"/>
          </a:p>
        </p:txBody>
      </p:sp>
      <p:sp>
        <p:nvSpPr>
          <p:cNvPr id="64" name="Shape 56"/>
          <p:cNvSpPr/>
          <p:nvPr/>
        </p:nvSpPr>
        <p:spPr>
          <a:xfrm>
            <a:off x="2476500" y="5981688"/>
            <a:ext cx="1587500" cy="355575"/>
          </a:xfrm>
          <a:prstGeom prst="rect">
            <a:avLst/>
          </a:prstGeom>
          <a:solidFill>
            <a:srgbClr val="FFFFFF"/>
          </a:solidFill>
          <a:ln/>
        </p:spPr>
        <p:txBody>
          <a:bodyPr/>
          <a:p/>
        </p:txBody>
      </p:sp>
      <p:sp>
        <p:nvSpPr>
          <p:cNvPr id="65" name="Shape 57"/>
          <p:cNvSpPr/>
          <p:nvPr/>
        </p:nvSpPr>
        <p:spPr>
          <a:xfrm>
            <a:off x="2476500" y="5991213"/>
            <a:ext cx="1587500" cy="0"/>
          </a:xfrm>
          <a:prstGeom prst="line">
            <a:avLst/>
          </a:prstGeom>
          <a:noFill/>
          <a:ln w="19050">
            <a:solidFill>
              <a:srgbClr val="002060"/>
            </a:solidFill>
            <a:prstDash val="solid"/>
          </a:ln>
        </p:spPr>
        <p:txBody>
          <a:bodyPr/>
          <a:p/>
        </p:txBody>
      </p:sp>
      <p:sp>
        <p:nvSpPr>
          <p:cNvPr id="66" name="Shape 58"/>
          <p:cNvSpPr/>
          <p:nvPr/>
        </p:nvSpPr>
        <p:spPr>
          <a:xfrm>
            <a:off x="2476500" y="6327738"/>
            <a:ext cx="1587500" cy="0"/>
          </a:xfrm>
          <a:prstGeom prst="line">
            <a:avLst/>
          </a:prstGeom>
          <a:noFill/>
          <a:ln w="19050">
            <a:solidFill>
              <a:srgbClr val="002060"/>
            </a:solidFill>
            <a:prstDash val="solid"/>
          </a:ln>
        </p:spPr>
        <p:txBody>
          <a:bodyPr/>
          <a:p/>
        </p:txBody>
      </p:sp>
      <p:sp>
        <p:nvSpPr>
          <p:cNvPr id="67" name="Shape 59"/>
          <p:cNvSpPr/>
          <p:nvPr/>
        </p:nvSpPr>
        <p:spPr>
          <a:xfrm>
            <a:off x="2486025" y="5981688"/>
            <a:ext cx="0" cy="355575"/>
          </a:xfrm>
          <a:prstGeom prst="line">
            <a:avLst/>
          </a:prstGeom>
          <a:noFill/>
          <a:ln w="19050">
            <a:solidFill>
              <a:srgbClr val="002060"/>
            </a:solidFill>
            <a:prstDash val="solid"/>
          </a:ln>
        </p:spPr>
        <p:txBody>
          <a:bodyPr/>
          <a:p/>
        </p:txBody>
      </p:sp>
      <p:sp>
        <p:nvSpPr>
          <p:cNvPr id="68" name="Text 60"/>
          <p:cNvSpPr/>
          <p:nvPr/>
        </p:nvSpPr>
        <p:spPr>
          <a:xfrm>
            <a:off x="2978381" y="6043910"/>
            <a:ext cx="653016" cy="25653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00000"/>
                </a:solidFill>
                <a:latin typeface="Carlito" pitchFamily="34" charset="0"/>
                <a:ea typeface="Carlito" pitchFamily="34" charset="-122"/>
                <a:cs typeface="Carlito" pitchFamily="34" charset="-120"/>
              </a:rPr>
              <a:t>Audit log</a:t>
            </a:r>
            <a:endParaRPr lang="en-US" sz="1300" dirty="0"/>
          </a:p>
        </p:txBody>
      </p:sp>
      <p:pic>
        <p:nvPicPr>
          <p:cNvPr id="69" name="Image 6" descr="connector">    </p:cNvPr>
          <p:cNvPicPr>
            <a:picLocks noChangeAspect="1"/>
          </p:cNvPicPr>
          <p:nvPr/>
        </p:nvPicPr>
        <p:blipFill>
          <a:blip r:embed="rId7"/>
          <a:srcRect l="-12" r="-12" t="0" b="0"/>
          <a:stretch/>
        </p:blipFill>
        <p:spPr>
          <a:xfrm>
            <a:off x="1828767" y="3981438"/>
            <a:ext cx="444500" cy="101575"/>
          </a:xfrm>
          <a:prstGeom prst="rect">
            <a:avLst/>
          </a:prstGeom>
        </p:spPr>
      </p:pic>
      <p:pic>
        <p:nvPicPr>
          <p:cNvPr id="70" name="Image 7" descr="connector">    </p:cNvPr>
          <p:cNvPicPr>
            <a:picLocks noChangeAspect="1"/>
          </p:cNvPicPr>
          <p:nvPr/>
        </p:nvPicPr>
        <p:blipFill>
          <a:blip r:embed="rId8"/>
          <a:srcRect l="-10" r="-10" t="0" b="0"/>
          <a:stretch/>
        </p:blipFill>
        <p:spPr>
          <a:xfrm>
            <a:off x="4267191" y="3981438"/>
            <a:ext cx="609575" cy="101575"/>
          </a:xfrm>
          <a:prstGeom prst="rect">
            <a:avLst/>
          </a:prstGeom>
        </p:spPr>
      </p:pic>
      <p:pic>
        <p:nvPicPr>
          <p:cNvPr id="71" name="Image 8" descr="connector">    </p:cNvPr>
          <p:cNvPicPr>
            <a:picLocks noChangeAspect="1"/>
          </p:cNvPicPr>
          <p:nvPr/>
        </p:nvPicPr>
        <p:blipFill>
          <a:blip r:embed="rId9"/>
          <a:srcRect l="-10" r="-10" t="0" b="0"/>
          <a:stretch/>
        </p:blipFill>
        <p:spPr>
          <a:xfrm>
            <a:off x="6870691" y="3981438"/>
            <a:ext cx="609575" cy="101575"/>
          </a:xfrm>
          <a:prstGeom prst="rect">
            <a:avLst/>
          </a:prstGeom>
        </p:spPr>
      </p:pic>
      <p:pic>
        <p:nvPicPr>
          <p:cNvPr id="72" name="Image 9" descr="connector">    </p:cNvPr>
          <p:cNvPicPr>
            <a:picLocks noChangeAspect="1"/>
          </p:cNvPicPr>
          <p:nvPr/>
        </p:nvPicPr>
        <p:blipFill>
          <a:blip r:embed="rId10"/>
          <a:srcRect l="-10" r="-10" t="0" b="0"/>
          <a:stretch/>
        </p:blipFill>
        <p:spPr>
          <a:xfrm>
            <a:off x="9474191" y="3981438"/>
            <a:ext cx="482575" cy="101575"/>
          </a:xfrm>
          <a:prstGeom prst="rect">
            <a:avLst/>
          </a:prstGeom>
        </p:spPr>
      </p:pic>
      <p:pic>
        <p:nvPicPr>
          <p:cNvPr id="73" name="Image 10" descr="connector">    </p:cNvPr>
          <p:cNvPicPr>
            <a:picLocks noChangeAspect="1"/>
          </p:cNvPicPr>
          <p:nvPr/>
        </p:nvPicPr>
        <p:blipFill>
          <a:blip r:embed="rId11"/>
          <a:srcRect l="0" r="0" t="-11" b="-11"/>
          <a:stretch/>
        </p:blipFill>
        <p:spPr>
          <a:xfrm>
            <a:off x="8426441" y="4330688"/>
            <a:ext cx="101575" cy="863575"/>
          </a:xfrm>
          <a:prstGeom prst="rect">
            <a:avLst/>
          </a:prstGeom>
        </p:spPr>
      </p:pic>
      <p:pic>
        <p:nvPicPr>
          <p:cNvPr id="74" name="Image 11" descr="connector">    </p:cNvPr>
          <p:cNvPicPr>
            <a:picLocks noChangeAspect="1"/>
          </p:cNvPicPr>
          <p:nvPr/>
        </p:nvPicPr>
        <p:blipFill>
          <a:blip r:embed="rId12"/>
          <a:srcRect l="-10" r="-10" t="0" b="0"/>
          <a:stretch/>
        </p:blipFill>
        <p:spPr>
          <a:xfrm>
            <a:off x="6870691" y="5441938"/>
            <a:ext cx="609575" cy="101575"/>
          </a:xfrm>
          <a:prstGeom prst="rect">
            <a:avLst/>
          </a:prstGeom>
        </p:spPr>
      </p:pic>
      <p:pic>
        <p:nvPicPr>
          <p:cNvPr id="75" name="Image 12" descr="connector">    </p:cNvPr>
          <p:cNvPicPr>
            <a:picLocks noChangeAspect="1"/>
          </p:cNvPicPr>
          <p:nvPr/>
        </p:nvPicPr>
        <p:blipFill>
          <a:blip r:embed="rId13"/>
          <a:srcRect l="-10" r="-10" t="0" b="0"/>
          <a:stretch/>
        </p:blipFill>
        <p:spPr>
          <a:xfrm>
            <a:off x="4267191" y="5441938"/>
            <a:ext cx="609575" cy="101575"/>
          </a:xfrm>
          <a:prstGeom prst="rect">
            <a:avLst/>
          </a:prstGeom>
        </p:spPr>
      </p:pic>
      <p:pic>
        <p:nvPicPr>
          <p:cNvPr id="76" name="Image 13" descr="connector">    </p:cNvPr>
          <p:cNvPicPr>
            <a:picLocks noChangeAspect="1"/>
          </p:cNvPicPr>
          <p:nvPr/>
        </p:nvPicPr>
        <p:blipFill>
          <a:blip r:embed="rId14"/>
          <a:srcRect l="-10" r="-10" t="0" b="0"/>
          <a:stretch/>
        </p:blipFill>
        <p:spPr>
          <a:xfrm>
            <a:off x="9474191" y="5441938"/>
            <a:ext cx="482575" cy="101575"/>
          </a:xfrm>
          <a:prstGeom prst="rect">
            <a:avLst/>
          </a:prstGeom>
        </p:spPr>
      </p:pic>
      <p:pic>
        <p:nvPicPr>
          <p:cNvPr id="77" name="Image 14" descr="connector">    </p:cNvPr>
          <p:cNvPicPr>
            <a:picLocks noChangeAspect="1"/>
          </p:cNvPicPr>
          <p:nvPr/>
        </p:nvPicPr>
        <p:blipFill>
          <a:blip r:embed="rId15"/>
          <a:srcRect l="0" r="0" t="-5" b="-5"/>
          <a:stretch/>
        </p:blipFill>
        <p:spPr>
          <a:xfrm>
            <a:off x="5822941" y="4330688"/>
            <a:ext cx="101575" cy="241267"/>
          </a:xfrm>
          <a:prstGeom prst="rect">
            <a:avLst/>
          </a:prstGeom>
        </p:spPr>
      </p:pic>
      <p:pic>
        <p:nvPicPr>
          <p:cNvPr id="78" name="Image 15" descr="connector">    </p:cNvPr>
          <p:cNvPicPr>
            <a:picLocks noChangeAspect="1"/>
          </p:cNvPicPr>
          <p:nvPr/>
        </p:nvPicPr>
        <p:blipFill>
          <a:blip r:embed="rId16"/>
          <a:srcRect l="0" r="0" t="-5" b="-5"/>
          <a:stretch/>
        </p:blipFill>
        <p:spPr>
          <a:xfrm>
            <a:off x="5822941" y="5791188"/>
            <a:ext cx="101575" cy="241267"/>
          </a:xfrm>
          <a:prstGeom prst="rect">
            <a:avLst/>
          </a:prstGeom>
        </p:spPr>
      </p:pic>
      <p:pic>
        <p:nvPicPr>
          <p:cNvPr id="79" name="Image 16" descr="connector">    </p:cNvPr>
          <p:cNvPicPr>
            <a:picLocks noChangeAspect="1"/>
          </p:cNvPicPr>
          <p:nvPr/>
        </p:nvPicPr>
        <p:blipFill>
          <a:blip r:embed="rId17"/>
          <a:srcRect l="0" r="0" t="-5" b="-5"/>
          <a:stretch/>
        </p:blipFill>
        <p:spPr>
          <a:xfrm>
            <a:off x="3219442" y="5791188"/>
            <a:ext cx="101575" cy="241267"/>
          </a:xfrm>
          <a:prstGeom prst="rect">
            <a:avLst/>
          </a:prstGeom>
        </p:spPr>
      </p:pic>
      <p:pic>
        <p:nvPicPr>
          <p:cNvPr id="80" name="Image 17" descr="connector">    </p:cNvPr>
          <p:cNvPicPr>
            <a:picLocks noChangeAspect="1"/>
          </p:cNvPicPr>
          <p:nvPr/>
        </p:nvPicPr>
        <p:blipFill>
          <a:blip r:embed="rId18"/>
          <a:srcRect l="-12" r="-12" t="0" b="0"/>
          <a:stretch/>
        </p:blipFill>
        <p:spPr>
          <a:xfrm>
            <a:off x="1193767" y="5441938"/>
            <a:ext cx="1079500" cy="101575"/>
          </a:xfrm>
          <a:prstGeom prst="rect">
            <a:avLst/>
          </a:prstGeom>
        </p:spPr>
      </p:pic>
      <p:pic>
        <p:nvPicPr>
          <p:cNvPr id="81" name="Image 18" descr="connector">    </p:cNvPr>
          <p:cNvPicPr>
            <a:picLocks noChangeAspect="1"/>
          </p:cNvPicPr>
          <p:nvPr/>
        </p:nvPicPr>
        <p:blipFill>
          <a:blip r:embed="rId19"/>
          <a:srcRect l="0" r="0" t="-12" b="-12"/>
          <a:stretch/>
        </p:blipFill>
        <p:spPr>
          <a:xfrm>
            <a:off x="1193767" y="4216381"/>
            <a:ext cx="101575" cy="1327133"/>
          </a:xfrm>
          <a:prstGeom prst="rect">
            <a:avLst/>
          </a:prstGeom>
        </p:spPr>
      </p:pic>
      <p:sp>
        <p:nvSpPr>
          <p:cNvPr id="82" name="Text 61"/>
          <p:cNvSpPr/>
          <p:nvPr/>
        </p:nvSpPr>
        <p:spPr>
          <a:xfrm>
            <a:off x="1282675" y="5232381"/>
            <a:ext cx="939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0000"/>
                </a:solidFill>
                <a:latin typeface="Carlito" pitchFamily="34" charset="0"/>
                <a:ea typeface="Carlito" pitchFamily="34" charset="-122"/>
                <a:cs typeface="Carlito" pitchFamily="34" charset="-120"/>
              </a:rPr>
              <a:t>results</a:t>
            </a:r>
            <a:endParaRPr lang="en-US" sz="1200" dirty="0"/>
          </a:p>
        </p:txBody>
      </p:sp>
      <p:sp>
        <p:nvSpPr>
          <p:cNvPr id="83" name="Text 62"/>
          <p:cNvSpPr/>
          <p:nvPr/>
        </p:nvSpPr>
        <p:spPr>
          <a:xfrm>
            <a:off x="7376160" y="6045188"/>
            <a:ext cx="3662680" cy="256538"/>
          </a:xfrm>
          <a:prstGeom prst="rect">
            <a:avLst/>
          </a:prstGeom>
          <a:noFill/>
          <a:ln/>
        </p:spPr>
        <p:txBody>
          <a:bodyPr wrap="square" lIns="0" tIns="0" rIns="0" bIns="0" rtlCol="0" anchor="t"/>
          <a:lstStyle/>
          <a:p>
            <a:pPr algn="ctr" indent="0" marL="0">
              <a:lnSpc>
                <a:spcPts val="1820"/>
              </a:lnSpc>
              <a:buNone/>
            </a:pPr>
            <a:r>
              <a:rPr lang="en-US" sz="1300" i="1" dirty="0">
                <a:solidFill>
                  <a:srgbClr val="595959"/>
                </a:solidFill>
                <a:latin typeface="Carlito" pitchFamily="34" charset="0"/>
                <a:ea typeface="Carlito" pitchFamily="34" charset="-122"/>
                <a:cs typeface="Carlito" pitchFamily="34" charset="-120"/>
              </a:rPr>
              <a:t>Dashed = built separately; joins in October</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System Design – Use Case and Sequence</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sp>
        <p:nvSpPr>
          <p:cNvPr id="5" name="Shape 1"/>
          <p:cNvSpPr/>
          <p:nvPr/>
        </p:nvSpPr>
        <p:spPr>
          <a:xfrm>
            <a:off x="2101850" y="1200113"/>
            <a:ext cx="7988300" cy="2527300"/>
          </a:xfrm>
          <a:prstGeom prst="rect">
            <a:avLst/>
          </a:prstGeom>
          <a:solidFill>
            <a:srgbClr val="FBFCFE"/>
          </a:solidFill>
          <a:ln w="12700">
            <a:solidFill>
              <a:srgbClr val="7F7F7F"/>
            </a:solidFill>
            <a:prstDash val="solid"/>
          </a:ln>
        </p:spPr>
        <p:txBody>
          <a:bodyPr/>
          <a:p/>
        </p:txBody>
      </p:sp>
      <p:sp>
        <p:nvSpPr>
          <p:cNvPr id="6" name="Text 2"/>
          <p:cNvSpPr/>
          <p:nvPr/>
        </p:nvSpPr>
        <p:spPr>
          <a:xfrm>
            <a:off x="5435600" y="1244575"/>
            <a:ext cx="1320800" cy="256538"/>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595959"/>
                </a:solidFill>
                <a:latin typeface="Carlito" pitchFamily="34" charset="0"/>
                <a:ea typeface="Carlito" pitchFamily="34" charset="-122"/>
                <a:cs typeface="Carlito" pitchFamily="34" charset="-120"/>
              </a:rPr>
              <a:t>DiaCausal</a:t>
            </a:r>
            <a:endParaRPr lang="en-US" sz="1300" dirty="0"/>
          </a:p>
        </p:txBody>
      </p:sp>
      <p:sp>
        <p:nvSpPr>
          <p:cNvPr id="7" name="Shape 3"/>
          <p:cNvSpPr/>
          <p:nvPr/>
        </p:nvSpPr>
        <p:spPr>
          <a:xfrm>
            <a:off x="2546350" y="1365231"/>
            <a:ext cx="2781300" cy="431800"/>
          </a:xfrm>
          <a:prstGeom prst="roundRect">
            <a:avLst>
              <a:gd name="adj" fmla="val 50000"/>
            </a:avLst>
          </a:prstGeom>
          <a:solidFill>
            <a:srgbClr val="FFFFFF"/>
          </a:solidFill>
          <a:ln w="12700">
            <a:solidFill>
              <a:srgbClr val="002060"/>
            </a:solidFill>
            <a:prstDash val="solid"/>
          </a:ln>
        </p:spPr>
        <p:txBody>
          <a:bodyPr/>
          <a:p/>
        </p:txBody>
      </p:sp>
      <p:sp>
        <p:nvSpPr>
          <p:cNvPr id="8" name="Text 4"/>
          <p:cNvSpPr/>
          <p:nvPr/>
        </p:nvSpPr>
        <p:spPr>
          <a:xfrm>
            <a:off x="3440269" y="1456655"/>
            <a:ext cx="993461" cy="274315"/>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000000"/>
                </a:solidFill>
                <a:latin typeface="Carlito" pitchFamily="34" charset="0"/>
                <a:ea typeface="Carlito" pitchFamily="34" charset="-122"/>
                <a:cs typeface="Carlito" pitchFamily="34" charset="-120"/>
              </a:rPr>
              <a:t>Enter patient</a:t>
            </a:r>
            <a:endParaRPr lang="en-US" sz="1400" dirty="0"/>
          </a:p>
        </p:txBody>
      </p:sp>
      <p:sp>
        <p:nvSpPr>
          <p:cNvPr id="9" name="Shape 5"/>
          <p:cNvSpPr/>
          <p:nvPr/>
        </p:nvSpPr>
        <p:spPr>
          <a:xfrm>
            <a:off x="2546350" y="1936731"/>
            <a:ext cx="2781300" cy="431800"/>
          </a:xfrm>
          <a:prstGeom prst="roundRect">
            <a:avLst>
              <a:gd name="adj" fmla="val 50000"/>
            </a:avLst>
          </a:prstGeom>
          <a:solidFill>
            <a:srgbClr val="FFFFFF"/>
          </a:solidFill>
          <a:ln w="12700">
            <a:solidFill>
              <a:srgbClr val="002060"/>
            </a:solidFill>
            <a:prstDash val="solid"/>
          </a:ln>
        </p:spPr>
        <p:txBody>
          <a:bodyPr/>
          <a:p/>
        </p:txBody>
      </p:sp>
      <p:sp>
        <p:nvSpPr>
          <p:cNvPr id="10" name="Text 6"/>
          <p:cNvSpPr/>
          <p:nvPr/>
        </p:nvSpPr>
        <p:spPr>
          <a:xfrm>
            <a:off x="3289498" y="2028155"/>
            <a:ext cx="1295003" cy="274315"/>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000000"/>
                </a:solidFill>
                <a:latin typeface="Carlito" pitchFamily="34" charset="0"/>
                <a:ea typeface="Carlito" pitchFamily="34" charset="-122"/>
                <a:cs typeface="Carlito" pitchFamily="34" charset="-120"/>
              </a:rPr>
              <a:t>View comparison</a:t>
            </a:r>
            <a:endParaRPr lang="en-US" sz="1400" dirty="0"/>
          </a:p>
        </p:txBody>
      </p:sp>
      <p:sp>
        <p:nvSpPr>
          <p:cNvPr id="11" name="Shape 7"/>
          <p:cNvSpPr/>
          <p:nvPr/>
        </p:nvSpPr>
        <p:spPr>
          <a:xfrm>
            <a:off x="2546350" y="2508231"/>
            <a:ext cx="2781300" cy="431800"/>
          </a:xfrm>
          <a:prstGeom prst="roundRect">
            <a:avLst>
              <a:gd name="adj" fmla="val 50000"/>
            </a:avLst>
          </a:prstGeom>
          <a:solidFill>
            <a:srgbClr val="FFFFFF"/>
          </a:solidFill>
          <a:ln w="12700">
            <a:solidFill>
              <a:srgbClr val="002060"/>
            </a:solidFill>
            <a:prstDash val="solid"/>
          </a:ln>
        </p:spPr>
        <p:txBody>
          <a:bodyPr/>
          <a:p/>
        </p:txBody>
      </p:sp>
      <p:sp>
        <p:nvSpPr>
          <p:cNvPr id="12" name="Text 8"/>
          <p:cNvSpPr/>
          <p:nvPr/>
        </p:nvSpPr>
        <p:spPr>
          <a:xfrm>
            <a:off x="3389461" y="2599655"/>
            <a:ext cx="1095036" cy="274315"/>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000000"/>
                </a:solidFill>
                <a:latin typeface="Carlito" pitchFamily="34" charset="0"/>
                <a:ea typeface="Carlito" pitchFamily="34" charset="-122"/>
                <a:cs typeface="Carlito" pitchFamily="34" charset="-120"/>
              </a:rPr>
              <a:t>View evidence</a:t>
            </a:r>
            <a:endParaRPr lang="en-US" sz="1400" dirty="0"/>
          </a:p>
        </p:txBody>
      </p:sp>
      <p:sp>
        <p:nvSpPr>
          <p:cNvPr id="13" name="Shape 9"/>
          <p:cNvSpPr/>
          <p:nvPr/>
        </p:nvSpPr>
        <p:spPr>
          <a:xfrm>
            <a:off x="2546350" y="3079731"/>
            <a:ext cx="2781300" cy="431800"/>
          </a:xfrm>
          <a:prstGeom prst="roundRect">
            <a:avLst>
              <a:gd name="adj" fmla="val 50000"/>
            </a:avLst>
          </a:prstGeom>
          <a:solidFill>
            <a:srgbClr val="FFFFFF"/>
          </a:solidFill>
          <a:ln w="12700">
            <a:solidFill>
              <a:srgbClr val="002060"/>
            </a:solidFill>
            <a:prstDash val="solid"/>
          </a:ln>
        </p:spPr>
        <p:txBody>
          <a:bodyPr/>
          <a:p/>
        </p:txBody>
      </p:sp>
      <p:sp>
        <p:nvSpPr>
          <p:cNvPr id="14" name="Text 10"/>
          <p:cNvSpPr/>
          <p:nvPr/>
        </p:nvSpPr>
        <p:spPr>
          <a:xfrm>
            <a:off x="3317445" y="3171155"/>
            <a:ext cx="1239069" cy="274315"/>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000000"/>
                </a:solidFill>
                <a:latin typeface="Carlito" pitchFamily="34" charset="0"/>
                <a:ea typeface="Carlito" pitchFamily="34" charset="-122"/>
                <a:cs typeface="Carlito" pitchFamily="34" charset="-120"/>
              </a:rPr>
              <a:t>Export summary</a:t>
            </a:r>
            <a:endParaRPr lang="en-US" sz="1400" dirty="0"/>
          </a:p>
        </p:txBody>
      </p:sp>
      <p:sp>
        <p:nvSpPr>
          <p:cNvPr id="15" name="Shape 11"/>
          <p:cNvSpPr/>
          <p:nvPr/>
        </p:nvSpPr>
        <p:spPr>
          <a:xfrm>
            <a:off x="6864350" y="1492231"/>
            <a:ext cx="2781300" cy="431800"/>
          </a:xfrm>
          <a:prstGeom prst="roundRect">
            <a:avLst>
              <a:gd name="adj" fmla="val 50000"/>
            </a:avLst>
          </a:prstGeom>
          <a:solidFill>
            <a:srgbClr val="FFFFFF"/>
          </a:solidFill>
          <a:ln w="12700">
            <a:solidFill>
              <a:srgbClr val="002060"/>
            </a:solidFill>
            <a:prstDash val="solid"/>
          </a:ln>
        </p:spPr>
        <p:txBody>
          <a:bodyPr/>
          <a:p/>
        </p:txBody>
      </p:sp>
      <p:sp>
        <p:nvSpPr>
          <p:cNvPr id="16" name="Text 12"/>
          <p:cNvSpPr/>
          <p:nvPr/>
        </p:nvSpPr>
        <p:spPr>
          <a:xfrm>
            <a:off x="7807176" y="1583655"/>
            <a:ext cx="895648" cy="274315"/>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000000"/>
                </a:solidFill>
                <a:latin typeface="Carlito" pitchFamily="34" charset="0"/>
                <a:ea typeface="Carlito" pitchFamily="34" charset="-122"/>
                <a:cs typeface="Carlito" pitchFamily="34" charset="-120"/>
              </a:rPr>
              <a:t>Review logs</a:t>
            </a:r>
            <a:endParaRPr lang="en-US" sz="1400" dirty="0"/>
          </a:p>
        </p:txBody>
      </p:sp>
      <p:sp>
        <p:nvSpPr>
          <p:cNvPr id="17" name="Shape 13"/>
          <p:cNvSpPr/>
          <p:nvPr/>
        </p:nvSpPr>
        <p:spPr>
          <a:xfrm>
            <a:off x="6864350" y="2127231"/>
            <a:ext cx="2781300" cy="431800"/>
          </a:xfrm>
          <a:prstGeom prst="roundRect">
            <a:avLst>
              <a:gd name="adj" fmla="val 50000"/>
            </a:avLst>
          </a:prstGeom>
          <a:solidFill>
            <a:srgbClr val="FFFFFF"/>
          </a:solidFill>
          <a:ln w="12700">
            <a:solidFill>
              <a:srgbClr val="002060"/>
            </a:solidFill>
            <a:prstDash val="solid"/>
          </a:ln>
        </p:spPr>
        <p:txBody>
          <a:bodyPr/>
          <a:p/>
        </p:txBody>
      </p:sp>
      <p:sp>
        <p:nvSpPr>
          <p:cNvPr id="18" name="Text 14"/>
          <p:cNvSpPr/>
          <p:nvPr/>
        </p:nvSpPr>
        <p:spPr>
          <a:xfrm>
            <a:off x="7660829" y="2218655"/>
            <a:ext cx="1188302" cy="274315"/>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000000"/>
                </a:solidFill>
                <a:latin typeface="Carlito" pitchFamily="34" charset="0"/>
                <a:ea typeface="Carlito" pitchFamily="34" charset="-122"/>
                <a:cs typeface="Carlito" pitchFamily="34" charset="-120"/>
              </a:rPr>
              <a:t>Run benchmark</a:t>
            </a:r>
            <a:endParaRPr lang="en-US" sz="1400" dirty="0"/>
          </a:p>
        </p:txBody>
      </p:sp>
      <p:sp>
        <p:nvSpPr>
          <p:cNvPr id="19" name="Shape 15"/>
          <p:cNvSpPr/>
          <p:nvPr/>
        </p:nvSpPr>
        <p:spPr>
          <a:xfrm>
            <a:off x="6864350" y="2952731"/>
            <a:ext cx="2781300" cy="558800"/>
          </a:xfrm>
          <a:prstGeom prst="roundRect">
            <a:avLst>
              <a:gd name="adj" fmla="val 50000"/>
            </a:avLst>
          </a:prstGeom>
          <a:solidFill>
            <a:srgbClr val="FFFFFF"/>
          </a:solidFill>
          <a:ln w="12700">
            <a:solidFill>
              <a:srgbClr val="002060"/>
            </a:solidFill>
            <a:prstDash val="solid"/>
          </a:ln>
        </p:spPr>
        <p:txBody>
          <a:bodyPr/>
          <a:p/>
        </p:txBody>
      </p:sp>
      <p:sp>
        <p:nvSpPr>
          <p:cNvPr id="20" name="Text 16"/>
          <p:cNvSpPr/>
          <p:nvPr/>
        </p:nvSpPr>
        <p:spPr>
          <a:xfrm>
            <a:off x="7739169" y="3036546"/>
            <a:ext cx="1031660" cy="416570"/>
          </a:xfrm>
          <a:prstGeom prst="rect">
            <a:avLst/>
          </a:prstGeom>
          <a:noFill/>
          <a:ln/>
        </p:spPr>
        <p:txBody>
          <a:bodyPr wrap="square" lIns="0" tIns="0" rIns="0" bIns="0" rtlCol="0" anchor="t">
            <a:normAutofit/>
          </a:bodyPr>
          <a:lstStyle/>
          <a:p>
            <a:pPr algn="ctr" indent="0" marL="0">
              <a:lnSpc>
                <a:spcPts val="1540"/>
              </a:lnSpc>
              <a:buNone/>
            </a:pPr>
            <a:r>
              <a:rPr lang="en-US" sz="1400" dirty="0">
                <a:solidFill>
                  <a:srgbClr val="000000"/>
                </a:solidFill>
                <a:latin typeface="Carlito" pitchFamily="34" charset="0"/>
                <a:ea typeface="Carlito" pitchFamily="34" charset="-122"/>
                <a:cs typeface="Carlito" pitchFamily="34" charset="-120"/>
              </a:rPr>
              <a:t>Manage rules</a:t>
            </a:r>
            <a:endParaRPr lang="en-US" sz="1400" dirty="0"/>
          </a:p>
          <a:p>
            <a:pPr algn="ctr" indent="0" marL="0">
              <a:lnSpc>
                <a:spcPts val="1540"/>
              </a:lnSpc>
              <a:buNone/>
            </a:pPr>
            <a:r>
              <a:rPr lang="en-US" sz="1400" dirty="0">
                <a:solidFill>
                  <a:srgbClr val="000000"/>
                </a:solidFill>
                <a:latin typeface="Carlito" pitchFamily="34" charset="0"/>
                <a:ea typeface="Carlito" pitchFamily="34" charset="-122"/>
                <a:cs typeface="Carlito" pitchFamily="34" charset="-120"/>
              </a:rPr>
              <a:t>and sources</a:t>
            </a:r>
            <a:endParaRPr lang="en-US" sz="1400" dirty="0"/>
          </a:p>
        </p:txBody>
      </p:sp>
      <p:sp>
        <p:nvSpPr>
          <p:cNvPr id="21" name="Shape 17"/>
          <p:cNvSpPr/>
          <p:nvPr/>
        </p:nvSpPr>
        <p:spPr>
          <a:xfrm>
            <a:off x="1165217" y="1914525"/>
            <a:ext cx="209525" cy="209525"/>
          </a:xfrm>
          <a:prstGeom prst="roundRect">
            <a:avLst>
              <a:gd name="adj" fmla="val 50000"/>
            </a:avLst>
          </a:prstGeom>
          <a:solidFill>
            <a:srgbClr val="FFFFFF"/>
          </a:solidFill>
          <a:ln w="19050">
            <a:solidFill>
              <a:srgbClr val="000000"/>
            </a:solidFill>
            <a:prstDash val="solid"/>
          </a:ln>
        </p:spPr>
        <p:txBody>
          <a:bodyPr/>
          <a:p/>
        </p:txBody>
      </p:sp>
      <p:pic>
        <p:nvPicPr>
          <p:cNvPr id="22" name="Image 2" descr="connector">    </p:cNvPr>
          <p:cNvPicPr>
            <a:picLocks noChangeAspect="1"/>
          </p:cNvPicPr>
          <p:nvPr/>
        </p:nvPicPr>
        <p:blipFill>
          <a:blip r:embed="rId3"/>
          <a:srcRect l="0" r="0" t="-11" b="-11"/>
          <a:stretch/>
        </p:blipFill>
        <p:spPr>
          <a:xfrm>
            <a:off x="1219192" y="2082763"/>
            <a:ext cx="101575" cy="457192"/>
          </a:xfrm>
          <a:prstGeom prst="rect">
            <a:avLst/>
          </a:prstGeom>
        </p:spPr>
      </p:pic>
      <p:pic>
        <p:nvPicPr>
          <p:cNvPr id="23" name="Image 3" descr="connector">    </p:cNvPr>
          <p:cNvPicPr>
            <a:picLocks noChangeAspect="1"/>
          </p:cNvPicPr>
          <p:nvPr/>
        </p:nvPicPr>
        <p:blipFill>
          <a:blip r:embed="rId4"/>
          <a:srcRect l="-12" r="-12" t="0" b="0"/>
          <a:stretch/>
        </p:blipFill>
        <p:spPr>
          <a:xfrm>
            <a:off x="1016000" y="2184381"/>
            <a:ext cx="508000" cy="101575"/>
          </a:xfrm>
          <a:prstGeom prst="rect">
            <a:avLst/>
          </a:prstGeom>
        </p:spPr>
      </p:pic>
      <p:pic>
        <p:nvPicPr>
          <p:cNvPr id="24" name="Image 4" descr="connector">    </p:cNvPr>
          <p:cNvPicPr>
            <a:picLocks noChangeAspect="1"/>
          </p:cNvPicPr>
          <p:nvPr/>
        </p:nvPicPr>
        <p:blipFill>
          <a:blip r:embed="rId5"/>
          <a:srcRect l="-4" r="-4" t="0" b="0"/>
          <a:stretch/>
        </p:blipFill>
        <p:spPr>
          <a:xfrm>
            <a:off x="1066767" y="2438381"/>
            <a:ext cx="254000" cy="355575"/>
          </a:xfrm>
          <a:prstGeom prst="rect">
            <a:avLst/>
          </a:prstGeom>
        </p:spPr>
      </p:pic>
      <p:pic>
        <p:nvPicPr>
          <p:cNvPr id="25" name="Image 5" descr="connector">    </p:cNvPr>
          <p:cNvPicPr>
            <a:picLocks noChangeAspect="1"/>
          </p:cNvPicPr>
          <p:nvPr/>
        </p:nvPicPr>
        <p:blipFill>
          <a:blip r:embed="rId6"/>
          <a:srcRect l="-4" r="-4" t="0" b="0"/>
          <a:stretch/>
        </p:blipFill>
        <p:spPr>
          <a:xfrm>
            <a:off x="1219192" y="2438381"/>
            <a:ext cx="254000" cy="355575"/>
          </a:xfrm>
          <a:prstGeom prst="rect">
            <a:avLst/>
          </a:prstGeom>
        </p:spPr>
      </p:pic>
      <p:sp>
        <p:nvSpPr>
          <p:cNvPr id="26" name="Text 18"/>
          <p:cNvSpPr/>
          <p:nvPr/>
        </p:nvSpPr>
        <p:spPr>
          <a:xfrm>
            <a:off x="673100" y="2768575"/>
            <a:ext cx="1193800" cy="256538"/>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00000"/>
                </a:solidFill>
                <a:latin typeface="Carlito" pitchFamily="34" charset="0"/>
                <a:ea typeface="Carlito" pitchFamily="34" charset="-122"/>
                <a:cs typeface="Carlito" pitchFamily="34" charset="-120"/>
              </a:rPr>
              <a:t>Clinician</a:t>
            </a:r>
            <a:endParaRPr lang="en-US" sz="1300" dirty="0"/>
          </a:p>
        </p:txBody>
      </p:sp>
      <p:pic>
        <p:nvPicPr>
          <p:cNvPr id="27" name="Image 6" descr="connector">    </p:cNvPr>
          <p:cNvPicPr>
            <a:picLocks noChangeAspect="1"/>
          </p:cNvPicPr>
          <p:nvPr/>
        </p:nvPicPr>
        <p:blipFill>
          <a:blip r:embed="rId7"/>
          <a:srcRect l="0" r="0" t="0" b="0"/>
          <a:stretch/>
        </p:blipFill>
        <p:spPr>
          <a:xfrm>
            <a:off x="1435075" y="1543013"/>
            <a:ext cx="1143000" cy="730250"/>
          </a:xfrm>
          <a:prstGeom prst="rect">
            <a:avLst/>
          </a:prstGeom>
        </p:spPr>
      </p:pic>
      <p:pic>
        <p:nvPicPr>
          <p:cNvPr id="28" name="Image 7" descr="connector">    </p:cNvPr>
          <p:cNvPicPr>
            <a:picLocks noChangeAspect="1"/>
          </p:cNvPicPr>
          <p:nvPr/>
        </p:nvPicPr>
        <p:blipFill>
          <a:blip r:embed="rId8"/>
          <a:srcRect l="0" r="0" t="0" b="0"/>
          <a:stretch/>
        </p:blipFill>
        <p:spPr>
          <a:xfrm>
            <a:off x="1435075" y="2114513"/>
            <a:ext cx="1143000" cy="158750"/>
          </a:xfrm>
          <a:prstGeom prst="rect">
            <a:avLst/>
          </a:prstGeom>
        </p:spPr>
      </p:pic>
      <p:pic>
        <p:nvPicPr>
          <p:cNvPr id="29" name="Image 8" descr="connector">    </p:cNvPr>
          <p:cNvPicPr>
            <a:picLocks noChangeAspect="1"/>
          </p:cNvPicPr>
          <p:nvPr/>
        </p:nvPicPr>
        <p:blipFill>
          <a:blip r:embed="rId9"/>
          <a:srcRect l="-2" r="-2" t="0" b="0"/>
          <a:stretch/>
        </p:blipFill>
        <p:spPr>
          <a:xfrm>
            <a:off x="1435075" y="2197075"/>
            <a:ext cx="1143000" cy="565133"/>
          </a:xfrm>
          <a:prstGeom prst="rect">
            <a:avLst/>
          </a:prstGeom>
        </p:spPr>
      </p:pic>
      <p:pic>
        <p:nvPicPr>
          <p:cNvPr id="30" name="Image 9" descr="connector">    </p:cNvPr>
          <p:cNvPicPr>
            <a:picLocks noChangeAspect="1"/>
          </p:cNvPicPr>
          <p:nvPr/>
        </p:nvPicPr>
        <p:blipFill>
          <a:blip r:embed="rId10"/>
          <a:srcRect l="-1" r="-1" t="0" b="0"/>
          <a:stretch/>
        </p:blipFill>
        <p:spPr>
          <a:xfrm>
            <a:off x="1435075" y="2197075"/>
            <a:ext cx="1143000" cy="1136633"/>
          </a:xfrm>
          <a:prstGeom prst="rect">
            <a:avLst/>
          </a:prstGeom>
        </p:spPr>
      </p:pic>
      <p:sp>
        <p:nvSpPr>
          <p:cNvPr id="31" name="Shape 19"/>
          <p:cNvSpPr/>
          <p:nvPr/>
        </p:nvSpPr>
        <p:spPr>
          <a:xfrm>
            <a:off x="10817216" y="1368406"/>
            <a:ext cx="209525" cy="209525"/>
          </a:xfrm>
          <a:prstGeom prst="roundRect">
            <a:avLst>
              <a:gd name="adj" fmla="val 50000"/>
            </a:avLst>
          </a:prstGeom>
          <a:solidFill>
            <a:srgbClr val="FFFFFF"/>
          </a:solidFill>
          <a:ln w="19050">
            <a:solidFill>
              <a:srgbClr val="000000"/>
            </a:solidFill>
            <a:prstDash val="solid"/>
          </a:ln>
        </p:spPr>
        <p:txBody>
          <a:bodyPr/>
          <a:p/>
        </p:txBody>
      </p:sp>
      <p:pic>
        <p:nvPicPr>
          <p:cNvPr id="32" name="Image 10" descr="connector">    </p:cNvPr>
          <p:cNvPicPr>
            <a:picLocks noChangeAspect="1"/>
          </p:cNvPicPr>
          <p:nvPr/>
        </p:nvPicPr>
        <p:blipFill>
          <a:blip r:embed="rId11"/>
          <a:srcRect l="0" r="0" t="-11" b="-11"/>
          <a:stretch/>
        </p:blipFill>
        <p:spPr>
          <a:xfrm>
            <a:off x="10871191" y="1536688"/>
            <a:ext cx="101575" cy="457192"/>
          </a:xfrm>
          <a:prstGeom prst="rect">
            <a:avLst/>
          </a:prstGeom>
        </p:spPr>
      </p:pic>
      <p:pic>
        <p:nvPicPr>
          <p:cNvPr id="33" name="Image 11" descr="connector">    </p:cNvPr>
          <p:cNvPicPr>
            <a:picLocks noChangeAspect="1"/>
          </p:cNvPicPr>
          <p:nvPr/>
        </p:nvPicPr>
        <p:blipFill>
          <a:blip r:embed="rId12"/>
          <a:srcRect l="-12" r="-12" t="0" b="0"/>
          <a:stretch/>
        </p:blipFill>
        <p:spPr>
          <a:xfrm>
            <a:off x="10668000" y="1638263"/>
            <a:ext cx="508000" cy="101575"/>
          </a:xfrm>
          <a:prstGeom prst="rect">
            <a:avLst/>
          </a:prstGeom>
        </p:spPr>
      </p:pic>
      <p:pic>
        <p:nvPicPr>
          <p:cNvPr id="34" name="Image 12" descr="connector">    </p:cNvPr>
          <p:cNvPicPr>
            <a:picLocks noChangeAspect="1"/>
          </p:cNvPicPr>
          <p:nvPr/>
        </p:nvPicPr>
        <p:blipFill>
          <a:blip r:embed="rId13"/>
          <a:srcRect l="-4" r="-4" t="0" b="0"/>
          <a:stretch/>
        </p:blipFill>
        <p:spPr>
          <a:xfrm>
            <a:off x="10718767" y="1892263"/>
            <a:ext cx="254000" cy="355575"/>
          </a:xfrm>
          <a:prstGeom prst="rect">
            <a:avLst/>
          </a:prstGeom>
        </p:spPr>
      </p:pic>
      <p:pic>
        <p:nvPicPr>
          <p:cNvPr id="35" name="Image 13" descr="connector">    </p:cNvPr>
          <p:cNvPicPr>
            <a:picLocks noChangeAspect="1"/>
          </p:cNvPicPr>
          <p:nvPr/>
        </p:nvPicPr>
        <p:blipFill>
          <a:blip r:embed="rId14"/>
          <a:srcRect l="-4" r="-4" t="0" b="0"/>
          <a:stretch/>
        </p:blipFill>
        <p:spPr>
          <a:xfrm>
            <a:off x="10871191" y="1892263"/>
            <a:ext cx="254000" cy="355575"/>
          </a:xfrm>
          <a:prstGeom prst="rect">
            <a:avLst/>
          </a:prstGeom>
        </p:spPr>
      </p:pic>
      <p:sp>
        <p:nvSpPr>
          <p:cNvPr id="36" name="Text 20"/>
          <p:cNvSpPr/>
          <p:nvPr/>
        </p:nvSpPr>
        <p:spPr>
          <a:xfrm>
            <a:off x="10325100" y="2222500"/>
            <a:ext cx="1193800" cy="256538"/>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00000"/>
                </a:solidFill>
                <a:latin typeface="Carlito" pitchFamily="34" charset="0"/>
                <a:ea typeface="Carlito" pitchFamily="34" charset="-122"/>
                <a:cs typeface="Carlito" pitchFamily="34" charset="-120"/>
              </a:rPr>
              <a:t>Evaluator</a:t>
            </a:r>
            <a:endParaRPr lang="en-US" sz="1300" dirty="0"/>
          </a:p>
        </p:txBody>
      </p:sp>
      <p:pic>
        <p:nvPicPr>
          <p:cNvPr id="37" name="Image 14" descr="connector">    </p:cNvPr>
          <p:cNvPicPr>
            <a:picLocks noChangeAspect="1"/>
          </p:cNvPicPr>
          <p:nvPr/>
        </p:nvPicPr>
        <p:blipFill>
          <a:blip r:embed="rId15"/>
          <a:srcRect l="0" r="0" t="0" b="0"/>
          <a:stretch/>
        </p:blipFill>
        <p:spPr>
          <a:xfrm>
            <a:off x="9613883" y="1651000"/>
            <a:ext cx="1143000" cy="95250"/>
          </a:xfrm>
          <a:prstGeom prst="rect">
            <a:avLst/>
          </a:prstGeom>
        </p:spPr>
      </p:pic>
      <p:pic>
        <p:nvPicPr>
          <p:cNvPr id="38" name="Image 15" descr="connector">    </p:cNvPr>
          <p:cNvPicPr>
            <a:picLocks noChangeAspect="1"/>
          </p:cNvPicPr>
          <p:nvPr/>
        </p:nvPicPr>
        <p:blipFill>
          <a:blip r:embed="rId16"/>
          <a:srcRect l="0" r="0" t="0" b="0"/>
          <a:stretch/>
        </p:blipFill>
        <p:spPr>
          <a:xfrm>
            <a:off x="9613883" y="1651000"/>
            <a:ext cx="1143000" cy="730250"/>
          </a:xfrm>
          <a:prstGeom prst="rect">
            <a:avLst/>
          </a:prstGeom>
        </p:spPr>
      </p:pic>
      <p:sp>
        <p:nvSpPr>
          <p:cNvPr id="39" name="Shape 21"/>
          <p:cNvSpPr/>
          <p:nvPr/>
        </p:nvSpPr>
        <p:spPr>
          <a:xfrm>
            <a:off x="10817216" y="2803525"/>
            <a:ext cx="209525" cy="209525"/>
          </a:xfrm>
          <a:prstGeom prst="roundRect">
            <a:avLst>
              <a:gd name="adj" fmla="val 50000"/>
            </a:avLst>
          </a:prstGeom>
          <a:solidFill>
            <a:srgbClr val="FFFFFF"/>
          </a:solidFill>
          <a:ln w="19050">
            <a:solidFill>
              <a:srgbClr val="000000"/>
            </a:solidFill>
            <a:prstDash val="solid"/>
          </a:ln>
        </p:spPr>
        <p:txBody>
          <a:bodyPr/>
          <a:p/>
        </p:txBody>
      </p:sp>
      <p:pic>
        <p:nvPicPr>
          <p:cNvPr id="40" name="Image 16" descr="connector">    </p:cNvPr>
          <p:cNvPicPr>
            <a:picLocks noChangeAspect="1"/>
          </p:cNvPicPr>
          <p:nvPr/>
        </p:nvPicPr>
        <p:blipFill>
          <a:blip r:embed="rId17"/>
          <a:srcRect l="0" r="0" t="-11" b="-11"/>
          <a:stretch/>
        </p:blipFill>
        <p:spPr>
          <a:xfrm>
            <a:off x="10871191" y="2971763"/>
            <a:ext cx="101575" cy="457192"/>
          </a:xfrm>
          <a:prstGeom prst="rect">
            <a:avLst/>
          </a:prstGeom>
        </p:spPr>
      </p:pic>
      <p:pic>
        <p:nvPicPr>
          <p:cNvPr id="41" name="Image 17" descr="connector">    </p:cNvPr>
          <p:cNvPicPr>
            <a:picLocks noChangeAspect="1"/>
          </p:cNvPicPr>
          <p:nvPr/>
        </p:nvPicPr>
        <p:blipFill>
          <a:blip r:embed="rId18"/>
          <a:srcRect l="-12" r="-12" t="0" b="0"/>
          <a:stretch/>
        </p:blipFill>
        <p:spPr>
          <a:xfrm>
            <a:off x="10668000" y="3073381"/>
            <a:ext cx="508000" cy="101575"/>
          </a:xfrm>
          <a:prstGeom prst="rect">
            <a:avLst/>
          </a:prstGeom>
        </p:spPr>
      </p:pic>
      <p:pic>
        <p:nvPicPr>
          <p:cNvPr id="42" name="Image 18" descr="connector">    </p:cNvPr>
          <p:cNvPicPr>
            <a:picLocks noChangeAspect="1"/>
          </p:cNvPicPr>
          <p:nvPr/>
        </p:nvPicPr>
        <p:blipFill>
          <a:blip r:embed="rId19"/>
          <a:srcRect l="-4" r="-4" t="0" b="0"/>
          <a:stretch/>
        </p:blipFill>
        <p:spPr>
          <a:xfrm>
            <a:off x="10718767" y="3327381"/>
            <a:ext cx="254000" cy="355575"/>
          </a:xfrm>
          <a:prstGeom prst="rect">
            <a:avLst/>
          </a:prstGeom>
        </p:spPr>
      </p:pic>
      <p:pic>
        <p:nvPicPr>
          <p:cNvPr id="43" name="Image 19" descr="connector">    </p:cNvPr>
          <p:cNvPicPr>
            <a:picLocks noChangeAspect="1"/>
          </p:cNvPicPr>
          <p:nvPr/>
        </p:nvPicPr>
        <p:blipFill>
          <a:blip r:embed="rId20"/>
          <a:srcRect l="-4" r="-4" t="0" b="0"/>
          <a:stretch/>
        </p:blipFill>
        <p:spPr>
          <a:xfrm>
            <a:off x="10871191" y="3327381"/>
            <a:ext cx="254000" cy="355575"/>
          </a:xfrm>
          <a:prstGeom prst="rect">
            <a:avLst/>
          </a:prstGeom>
        </p:spPr>
      </p:pic>
      <p:sp>
        <p:nvSpPr>
          <p:cNvPr id="44" name="Text 22"/>
          <p:cNvSpPr/>
          <p:nvPr/>
        </p:nvSpPr>
        <p:spPr>
          <a:xfrm>
            <a:off x="10325100" y="3657575"/>
            <a:ext cx="1193800" cy="256538"/>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00000"/>
                </a:solidFill>
                <a:latin typeface="Carlito" pitchFamily="34" charset="0"/>
                <a:ea typeface="Carlito" pitchFamily="34" charset="-122"/>
                <a:cs typeface="Carlito" pitchFamily="34" charset="-120"/>
              </a:rPr>
              <a:t>Admin</a:t>
            </a:r>
            <a:endParaRPr lang="en-US" sz="1300" dirty="0"/>
          </a:p>
        </p:txBody>
      </p:sp>
      <p:pic>
        <p:nvPicPr>
          <p:cNvPr id="45" name="Image 20" descr="connector">    </p:cNvPr>
          <p:cNvPicPr>
            <a:picLocks noChangeAspect="1"/>
          </p:cNvPicPr>
          <p:nvPr/>
        </p:nvPicPr>
        <p:blipFill>
          <a:blip r:embed="rId21"/>
          <a:srcRect l="-5" r="-5" t="0" b="0"/>
          <a:stretch/>
        </p:blipFill>
        <p:spPr>
          <a:xfrm>
            <a:off x="9613883" y="3086075"/>
            <a:ext cx="1143000" cy="184133"/>
          </a:xfrm>
          <a:prstGeom prst="rect">
            <a:avLst/>
          </a:prstGeom>
        </p:spPr>
      </p:pic>
      <p:sp>
        <p:nvSpPr>
          <p:cNvPr id="46" name="Text 23"/>
          <p:cNvSpPr/>
          <p:nvPr/>
        </p:nvSpPr>
        <p:spPr>
          <a:xfrm>
            <a:off x="609575" y="3835381"/>
            <a:ext cx="4578350" cy="309868"/>
          </a:xfrm>
          <a:prstGeom prst="rect">
            <a:avLst/>
          </a:prstGeom>
          <a:noFill/>
          <a:ln/>
        </p:spPr>
        <p:txBody>
          <a:bodyPr wrap="square" lIns="0" tIns="0" rIns="0" bIns="0" rtlCol="0" anchor="t">
            <a:normAutofit/>
          </a:bodyPr>
          <a:lstStyle/>
          <a:p>
            <a:pPr algn="l" indent="0" marL="0">
              <a:lnSpc>
                <a:spcPts val="2240"/>
              </a:lnSpc>
              <a:buNone/>
            </a:pPr>
            <a:r>
              <a:rPr lang="en-US" sz="1600" b="1" u="sng" dirty="0">
                <a:solidFill>
                  <a:srgbClr val="002060"/>
                </a:solidFill>
                <a:latin typeface="Times New Roman" pitchFamily="34" charset="0"/>
                <a:ea typeface="Times New Roman" pitchFamily="34" charset="-122"/>
                <a:cs typeface="Times New Roman" pitchFamily="34" charset="-120"/>
              </a:rPr>
              <a:t>Sequence: one consultation</a:t>
            </a:r>
            <a:endParaRPr lang="en-US" sz="1600" dirty="0"/>
          </a:p>
        </p:txBody>
      </p:sp>
      <p:sp>
        <p:nvSpPr>
          <p:cNvPr id="47" name="Shape 24"/>
          <p:cNvSpPr/>
          <p:nvPr/>
        </p:nvSpPr>
        <p:spPr>
          <a:xfrm>
            <a:off x="546100" y="4171925"/>
            <a:ext cx="1320800" cy="317492"/>
          </a:xfrm>
          <a:prstGeom prst="rect">
            <a:avLst/>
          </a:prstGeom>
          <a:solidFill>
            <a:srgbClr val="E9EEF6"/>
          </a:solidFill>
          <a:ln w="12700">
            <a:solidFill>
              <a:srgbClr val="002060"/>
            </a:solidFill>
            <a:prstDash val="solid"/>
          </a:ln>
        </p:spPr>
        <p:txBody>
          <a:bodyPr/>
          <a:p/>
        </p:txBody>
      </p:sp>
      <p:sp>
        <p:nvSpPr>
          <p:cNvPr id="48" name="Text 25"/>
          <p:cNvSpPr/>
          <p:nvPr/>
        </p:nvSpPr>
        <p:spPr>
          <a:xfrm>
            <a:off x="917815" y="4215098"/>
            <a:ext cx="62817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0000"/>
                </a:solidFill>
                <a:latin typeface="Carlito" pitchFamily="34" charset="0"/>
                <a:ea typeface="Carlito" pitchFamily="34" charset="-122"/>
                <a:cs typeface="Carlito" pitchFamily="34" charset="-120"/>
              </a:rPr>
              <a:t>Clinician</a:t>
            </a:r>
            <a:endParaRPr lang="en-US" sz="1300" dirty="0"/>
          </a:p>
        </p:txBody>
      </p:sp>
      <p:sp>
        <p:nvSpPr>
          <p:cNvPr id="49" name="Shape 26"/>
          <p:cNvSpPr/>
          <p:nvPr/>
        </p:nvSpPr>
        <p:spPr>
          <a:xfrm>
            <a:off x="2178042" y="4171925"/>
            <a:ext cx="1320800" cy="317492"/>
          </a:xfrm>
          <a:prstGeom prst="rect">
            <a:avLst/>
          </a:prstGeom>
          <a:solidFill>
            <a:srgbClr val="E9EEF6"/>
          </a:solidFill>
          <a:ln w="12700">
            <a:solidFill>
              <a:srgbClr val="002060"/>
            </a:solidFill>
            <a:prstDash val="solid"/>
          </a:ln>
        </p:spPr>
        <p:txBody>
          <a:bodyPr/>
          <a:p/>
        </p:txBody>
      </p:sp>
      <p:sp>
        <p:nvSpPr>
          <p:cNvPr id="50" name="Text 27"/>
          <p:cNvSpPr/>
          <p:nvPr/>
        </p:nvSpPr>
        <p:spPr>
          <a:xfrm>
            <a:off x="2762539" y="4215098"/>
            <a:ext cx="202605"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0000"/>
                </a:solidFill>
                <a:latin typeface="Carlito" pitchFamily="34" charset="0"/>
                <a:ea typeface="Carlito" pitchFamily="34" charset="-122"/>
                <a:cs typeface="Carlito" pitchFamily="34" charset="-120"/>
              </a:rPr>
              <a:t>UI</a:t>
            </a:r>
            <a:endParaRPr lang="en-US" sz="1300" dirty="0"/>
          </a:p>
        </p:txBody>
      </p:sp>
      <p:sp>
        <p:nvSpPr>
          <p:cNvPr id="51" name="Shape 28"/>
          <p:cNvSpPr/>
          <p:nvPr/>
        </p:nvSpPr>
        <p:spPr>
          <a:xfrm>
            <a:off x="3809983" y="4171925"/>
            <a:ext cx="1320800" cy="317492"/>
          </a:xfrm>
          <a:prstGeom prst="rect">
            <a:avLst/>
          </a:prstGeom>
          <a:solidFill>
            <a:srgbClr val="E9EEF6"/>
          </a:solidFill>
          <a:ln w="12700">
            <a:solidFill>
              <a:srgbClr val="002060"/>
            </a:solidFill>
            <a:prstDash val="solid"/>
          </a:ln>
        </p:spPr>
        <p:txBody>
          <a:bodyPr/>
          <a:p/>
        </p:txBody>
      </p:sp>
      <p:sp>
        <p:nvSpPr>
          <p:cNvPr id="52" name="Text 29"/>
          <p:cNvSpPr/>
          <p:nvPr/>
        </p:nvSpPr>
        <p:spPr>
          <a:xfrm>
            <a:off x="4354380" y="4215098"/>
            <a:ext cx="282765"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0000"/>
                </a:solidFill>
                <a:latin typeface="Carlito" pitchFamily="34" charset="0"/>
                <a:ea typeface="Carlito" pitchFamily="34" charset="-122"/>
                <a:cs typeface="Carlito" pitchFamily="34" charset="-120"/>
              </a:rPr>
              <a:t>API</a:t>
            </a:r>
            <a:endParaRPr lang="en-US" sz="1300" dirty="0"/>
          </a:p>
        </p:txBody>
      </p:sp>
      <p:sp>
        <p:nvSpPr>
          <p:cNvPr id="53" name="Shape 30"/>
          <p:cNvSpPr/>
          <p:nvPr/>
        </p:nvSpPr>
        <p:spPr>
          <a:xfrm>
            <a:off x="5441925" y="4171925"/>
            <a:ext cx="1320800" cy="317492"/>
          </a:xfrm>
          <a:prstGeom prst="rect">
            <a:avLst/>
          </a:prstGeom>
          <a:solidFill>
            <a:srgbClr val="E9EEF6"/>
          </a:solidFill>
          <a:ln w="12700">
            <a:solidFill>
              <a:srgbClr val="002060"/>
            </a:solidFill>
            <a:prstDash val="solid"/>
          </a:ln>
        </p:spPr>
        <p:txBody>
          <a:bodyPr/>
          <a:p/>
        </p:txBody>
      </p:sp>
      <p:sp>
        <p:nvSpPr>
          <p:cNvPr id="54" name="Text 31"/>
          <p:cNvSpPr/>
          <p:nvPr/>
        </p:nvSpPr>
        <p:spPr>
          <a:xfrm>
            <a:off x="5702515" y="4215098"/>
            <a:ext cx="850379"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0000"/>
                </a:solidFill>
                <a:latin typeface="Carlito" pitchFamily="34" charset="0"/>
                <a:ea typeface="Carlito" pitchFamily="34" charset="-122"/>
                <a:cs typeface="Carlito" pitchFamily="34" charset="-120"/>
              </a:rPr>
              <a:t>Safety rules</a:t>
            </a:r>
            <a:endParaRPr lang="en-US" sz="1300" dirty="0"/>
          </a:p>
        </p:txBody>
      </p:sp>
      <p:sp>
        <p:nvSpPr>
          <p:cNvPr id="55" name="Shape 32"/>
          <p:cNvSpPr/>
          <p:nvPr/>
        </p:nvSpPr>
        <p:spPr>
          <a:xfrm>
            <a:off x="7073867" y="4171925"/>
            <a:ext cx="1320800" cy="317492"/>
          </a:xfrm>
          <a:prstGeom prst="rect">
            <a:avLst/>
          </a:prstGeom>
          <a:solidFill>
            <a:srgbClr val="E9EEF6"/>
          </a:solidFill>
          <a:ln w="12700">
            <a:solidFill>
              <a:srgbClr val="002060"/>
            </a:solidFill>
            <a:prstDash val="solid"/>
          </a:ln>
        </p:spPr>
        <p:txBody>
          <a:bodyPr/>
          <a:p/>
        </p:txBody>
      </p:sp>
      <p:sp>
        <p:nvSpPr>
          <p:cNvPr id="56" name="Text 33"/>
          <p:cNvSpPr/>
          <p:nvPr/>
        </p:nvSpPr>
        <p:spPr>
          <a:xfrm>
            <a:off x="7261778" y="4215098"/>
            <a:ext cx="995776"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0000"/>
                </a:solidFill>
                <a:latin typeface="Carlito" pitchFamily="34" charset="0"/>
                <a:ea typeface="Carlito" pitchFamily="34" charset="-122"/>
                <a:cs typeface="Carlito" pitchFamily="34" charset="-120"/>
              </a:rPr>
              <a:t>Causal engine</a:t>
            </a:r>
            <a:endParaRPr lang="en-US" sz="1300" dirty="0"/>
          </a:p>
        </p:txBody>
      </p:sp>
      <p:sp>
        <p:nvSpPr>
          <p:cNvPr id="57" name="Shape 34"/>
          <p:cNvSpPr/>
          <p:nvPr/>
        </p:nvSpPr>
        <p:spPr>
          <a:xfrm>
            <a:off x="8705850" y="4171925"/>
            <a:ext cx="1320800" cy="317492"/>
          </a:xfrm>
          <a:prstGeom prst="rect">
            <a:avLst/>
          </a:prstGeom>
          <a:solidFill>
            <a:srgbClr val="FFFFFF"/>
          </a:solidFill>
          <a:ln w="12700">
            <a:solidFill>
              <a:srgbClr val="002060"/>
            </a:solidFill>
            <a:prstDash val="dash"/>
          </a:ln>
        </p:spPr>
        <p:txBody>
          <a:bodyPr/>
          <a:p/>
        </p:txBody>
      </p:sp>
      <p:sp>
        <p:nvSpPr>
          <p:cNvPr id="58" name="Text 35"/>
          <p:cNvSpPr/>
          <p:nvPr/>
        </p:nvSpPr>
        <p:spPr>
          <a:xfrm>
            <a:off x="9030353" y="4215098"/>
            <a:ext cx="722594"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0000"/>
                </a:solidFill>
                <a:latin typeface="Carlito" pitchFamily="34" charset="0"/>
                <a:ea typeface="Carlito" pitchFamily="34" charset="-122"/>
                <a:cs typeface="Carlito" pitchFamily="34" charset="-120"/>
              </a:rPr>
              <a:t>RAG</a:t>
            </a:r>
            <a:endParaRPr lang="en-US" sz="1300" dirty="0"/>
          </a:p>
        </p:txBody>
      </p:sp>
      <p:sp>
        <p:nvSpPr>
          <p:cNvPr id="59" name="Shape 36"/>
          <p:cNvSpPr/>
          <p:nvPr/>
        </p:nvSpPr>
        <p:spPr>
          <a:xfrm>
            <a:off x="10337791" y="4171925"/>
            <a:ext cx="1320800" cy="317492"/>
          </a:xfrm>
          <a:prstGeom prst="rect">
            <a:avLst/>
          </a:prstGeom>
          <a:solidFill>
            <a:srgbClr val="E9EEF6"/>
          </a:solidFill>
          <a:ln w="12700">
            <a:solidFill>
              <a:srgbClr val="002060"/>
            </a:solidFill>
            <a:prstDash val="solid"/>
          </a:ln>
        </p:spPr>
        <p:txBody>
          <a:bodyPr/>
          <a:p/>
        </p:txBody>
      </p:sp>
      <p:sp>
        <p:nvSpPr>
          <p:cNvPr id="60" name="Text 37"/>
          <p:cNvSpPr/>
          <p:nvPr/>
        </p:nvSpPr>
        <p:spPr>
          <a:xfrm>
            <a:off x="10688216" y="4215098"/>
            <a:ext cx="670752"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0000"/>
                </a:solidFill>
                <a:latin typeface="Carlito" pitchFamily="34" charset="0"/>
                <a:ea typeface="Carlito" pitchFamily="34" charset="-122"/>
                <a:cs typeface="Carlito" pitchFamily="34" charset="-120"/>
              </a:rPr>
              <a:t>Audit log</a:t>
            </a:r>
            <a:endParaRPr lang="en-US" sz="1300" dirty="0"/>
          </a:p>
        </p:txBody>
      </p:sp>
      <p:pic>
        <p:nvPicPr>
          <p:cNvPr id="61" name="Image 21" descr="connector">    </p:cNvPr>
          <p:cNvPicPr>
            <a:picLocks noChangeAspect="1"/>
          </p:cNvPicPr>
          <p:nvPr/>
        </p:nvPicPr>
        <p:blipFill>
          <a:blip r:embed="rId22"/>
          <a:srcRect l="0" r="0" t="-5" b="-5"/>
          <a:stretch/>
        </p:blipFill>
        <p:spPr>
          <a:xfrm>
            <a:off x="1168383" y="4457688"/>
            <a:ext cx="76192" cy="2216133"/>
          </a:xfrm>
          <a:prstGeom prst="rect">
            <a:avLst/>
          </a:prstGeom>
        </p:spPr>
      </p:pic>
      <p:pic>
        <p:nvPicPr>
          <p:cNvPr id="62" name="Image 22" descr="connector">    </p:cNvPr>
          <p:cNvPicPr>
            <a:picLocks noChangeAspect="1"/>
          </p:cNvPicPr>
          <p:nvPr/>
        </p:nvPicPr>
        <p:blipFill>
          <a:blip r:embed="rId23"/>
          <a:srcRect l="0" r="0" t="-5" b="-5"/>
          <a:stretch/>
        </p:blipFill>
        <p:spPr>
          <a:xfrm>
            <a:off x="2800325" y="4457688"/>
            <a:ext cx="76192" cy="2216133"/>
          </a:xfrm>
          <a:prstGeom prst="rect">
            <a:avLst/>
          </a:prstGeom>
        </p:spPr>
      </p:pic>
      <p:pic>
        <p:nvPicPr>
          <p:cNvPr id="63" name="Image 23" descr="connector">    </p:cNvPr>
          <p:cNvPicPr>
            <a:picLocks noChangeAspect="1"/>
          </p:cNvPicPr>
          <p:nvPr/>
        </p:nvPicPr>
        <p:blipFill>
          <a:blip r:embed="rId24"/>
          <a:srcRect l="0" r="0" t="-5" b="-5"/>
          <a:stretch/>
        </p:blipFill>
        <p:spPr>
          <a:xfrm>
            <a:off x="4432267" y="4457688"/>
            <a:ext cx="76192" cy="2216133"/>
          </a:xfrm>
          <a:prstGeom prst="rect">
            <a:avLst/>
          </a:prstGeom>
        </p:spPr>
      </p:pic>
      <p:pic>
        <p:nvPicPr>
          <p:cNvPr id="64" name="Image 24" descr="connector">    </p:cNvPr>
          <p:cNvPicPr>
            <a:picLocks noChangeAspect="1"/>
          </p:cNvPicPr>
          <p:nvPr/>
        </p:nvPicPr>
        <p:blipFill>
          <a:blip r:embed="rId25"/>
          <a:srcRect l="0" r="0" t="-5" b="-5"/>
          <a:stretch/>
        </p:blipFill>
        <p:spPr>
          <a:xfrm>
            <a:off x="6064250" y="4457688"/>
            <a:ext cx="76192" cy="2216133"/>
          </a:xfrm>
          <a:prstGeom prst="rect">
            <a:avLst/>
          </a:prstGeom>
        </p:spPr>
      </p:pic>
      <p:pic>
        <p:nvPicPr>
          <p:cNvPr id="65" name="Image 25" descr="connector">    </p:cNvPr>
          <p:cNvPicPr>
            <a:picLocks noChangeAspect="1"/>
          </p:cNvPicPr>
          <p:nvPr/>
        </p:nvPicPr>
        <p:blipFill>
          <a:blip r:embed="rId26"/>
          <a:srcRect l="0" r="0" t="-5" b="-5"/>
          <a:stretch/>
        </p:blipFill>
        <p:spPr>
          <a:xfrm>
            <a:off x="7696191" y="4457688"/>
            <a:ext cx="76192" cy="2216133"/>
          </a:xfrm>
          <a:prstGeom prst="rect">
            <a:avLst/>
          </a:prstGeom>
        </p:spPr>
      </p:pic>
      <p:pic>
        <p:nvPicPr>
          <p:cNvPr id="66" name="Image 26" descr="connector">    </p:cNvPr>
          <p:cNvPicPr>
            <a:picLocks noChangeAspect="1"/>
          </p:cNvPicPr>
          <p:nvPr/>
        </p:nvPicPr>
        <p:blipFill>
          <a:blip r:embed="rId27"/>
          <a:srcRect l="0" r="0" t="-5" b="-5"/>
          <a:stretch/>
        </p:blipFill>
        <p:spPr>
          <a:xfrm>
            <a:off x="9328133" y="4457688"/>
            <a:ext cx="76192" cy="2216133"/>
          </a:xfrm>
          <a:prstGeom prst="rect">
            <a:avLst/>
          </a:prstGeom>
        </p:spPr>
      </p:pic>
      <p:pic>
        <p:nvPicPr>
          <p:cNvPr id="67" name="Image 27" descr="connector">    </p:cNvPr>
          <p:cNvPicPr>
            <a:picLocks noChangeAspect="1"/>
          </p:cNvPicPr>
          <p:nvPr/>
        </p:nvPicPr>
        <p:blipFill>
          <a:blip r:embed="rId28"/>
          <a:srcRect l="0" r="0" t="-5" b="-5"/>
          <a:stretch/>
        </p:blipFill>
        <p:spPr>
          <a:xfrm>
            <a:off x="10960075" y="4457688"/>
            <a:ext cx="76192" cy="2216133"/>
          </a:xfrm>
          <a:prstGeom prst="rect">
            <a:avLst/>
          </a:prstGeom>
        </p:spPr>
      </p:pic>
      <p:pic>
        <p:nvPicPr>
          <p:cNvPr id="68" name="Image 28" descr="connector">    </p:cNvPr>
          <p:cNvPicPr>
            <a:picLocks noChangeAspect="1"/>
          </p:cNvPicPr>
          <p:nvPr/>
        </p:nvPicPr>
        <p:blipFill>
          <a:blip r:embed="rId29"/>
          <a:srcRect l="-11" r="-11" t="0" b="0"/>
          <a:stretch/>
        </p:blipFill>
        <p:spPr>
          <a:xfrm>
            <a:off x="1155692" y="4787881"/>
            <a:ext cx="1733517" cy="101575"/>
          </a:xfrm>
          <a:prstGeom prst="rect">
            <a:avLst/>
          </a:prstGeom>
        </p:spPr>
      </p:pic>
      <p:sp>
        <p:nvSpPr>
          <p:cNvPr id="69" name="Text 38"/>
          <p:cNvSpPr/>
          <p:nvPr/>
        </p:nvSpPr>
        <p:spPr>
          <a:xfrm>
            <a:off x="1181100" y="4648188"/>
            <a:ext cx="16827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0000"/>
                </a:solidFill>
                <a:latin typeface="Carlito" pitchFamily="34" charset="0"/>
                <a:ea typeface="Carlito" pitchFamily="34" charset="-122"/>
                <a:cs typeface="Carlito" pitchFamily="34" charset="-120"/>
              </a:rPr>
              <a:t>enter details</a:t>
            </a:r>
            <a:endParaRPr lang="en-US" sz="1200" dirty="0"/>
          </a:p>
        </p:txBody>
      </p:sp>
      <p:pic>
        <p:nvPicPr>
          <p:cNvPr id="70" name="Image 29" descr="connector">    </p:cNvPr>
          <p:cNvPicPr>
            <a:picLocks noChangeAspect="1"/>
          </p:cNvPicPr>
          <p:nvPr/>
        </p:nvPicPr>
        <p:blipFill>
          <a:blip r:embed="rId30"/>
          <a:srcRect l="-11" r="-11" t="0" b="0"/>
          <a:stretch/>
        </p:blipFill>
        <p:spPr>
          <a:xfrm>
            <a:off x="2787633" y="4978381"/>
            <a:ext cx="1733517" cy="101575"/>
          </a:xfrm>
          <a:prstGeom prst="rect">
            <a:avLst/>
          </a:prstGeom>
        </p:spPr>
      </p:pic>
      <p:sp>
        <p:nvSpPr>
          <p:cNvPr id="71" name="Text 39"/>
          <p:cNvSpPr/>
          <p:nvPr/>
        </p:nvSpPr>
        <p:spPr>
          <a:xfrm>
            <a:off x="2813042" y="4838688"/>
            <a:ext cx="16827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0000"/>
                </a:solidFill>
                <a:latin typeface="Carlito" pitchFamily="34" charset="0"/>
                <a:ea typeface="Carlito" pitchFamily="34" charset="-122"/>
                <a:cs typeface="Carlito" pitchFamily="34" charset="-120"/>
              </a:rPr>
              <a:t>POST /recommend</a:t>
            </a:r>
            <a:endParaRPr lang="en-US" sz="1200" dirty="0"/>
          </a:p>
        </p:txBody>
      </p:sp>
      <p:pic>
        <p:nvPicPr>
          <p:cNvPr id="72" name="Image 30" descr="connector">    </p:cNvPr>
          <p:cNvPicPr>
            <a:picLocks noChangeAspect="1"/>
          </p:cNvPicPr>
          <p:nvPr/>
        </p:nvPicPr>
        <p:blipFill>
          <a:blip r:embed="rId31"/>
          <a:srcRect l="-11" r="-11" t="0" b="0"/>
          <a:stretch/>
        </p:blipFill>
        <p:spPr>
          <a:xfrm>
            <a:off x="4419575" y="5168881"/>
            <a:ext cx="1733517" cy="101575"/>
          </a:xfrm>
          <a:prstGeom prst="rect">
            <a:avLst/>
          </a:prstGeom>
        </p:spPr>
      </p:pic>
      <p:sp>
        <p:nvSpPr>
          <p:cNvPr id="73" name="Text 40"/>
          <p:cNvSpPr/>
          <p:nvPr/>
        </p:nvSpPr>
        <p:spPr>
          <a:xfrm>
            <a:off x="4444983" y="5029188"/>
            <a:ext cx="16827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0000"/>
                </a:solidFill>
                <a:latin typeface="Carlito" pitchFamily="34" charset="0"/>
                <a:ea typeface="Carlito" pitchFamily="34" charset="-122"/>
                <a:cs typeface="Carlito" pitchFamily="34" charset="-120"/>
              </a:rPr>
              <a:t>apply rules</a:t>
            </a:r>
            <a:endParaRPr lang="en-US" sz="1200" dirty="0"/>
          </a:p>
        </p:txBody>
      </p:sp>
      <p:pic>
        <p:nvPicPr>
          <p:cNvPr id="74" name="Image 31" descr="connector">    </p:cNvPr>
          <p:cNvPicPr>
            <a:picLocks noChangeAspect="1"/>
          </p:cNvPicPr>
          <p:nvPr/>
        </p:nvPicPr>
        <p:blipFill>
          <a:blip r:embed="rId32"/>
          <a:srcRect l="-11" r="-11" t="0" b="0"/>
          <a:stretch/>
        </p:blipFill>
        <p:spPr>
          <a:xfrm>
            <a:off x="4419575" y="5359381"/>
            <a:ext cx="1733517" cy="101575"/>
          </a:xfrm>
          <a:prstGeom prst="rect">
            <a:avLst/>
          </a:prstGeom>
        </p:spPr>
      </p:pic>
      <p:sp>
        <p:nvSpPr>
          <p:cNvPr id="75" name="Text 41"/>
          <p:cNvSpPr/>
          <p:nvPr/>
        </p:nvSpPr>
        <p:spPr>
          <a:xfrm>
            <a:off x="4444983" y="5219688"/>
            <a:ext cx="16827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0000"/>
                </a:solidFill>
                <a:latin typeface="Carlito" pitchFamily="34" charset="0"/>
                <a:ea typeface="Carlito" pitchFamily="34" charset="-122"/>
                <a:cs typeface="Carlito" pitchFamily="34" charset="-120"/>
              </a:rPr>
              <a:t>rule results</a:t>
            </a:r>
            <a:endParaRPr lang="en-US" sz="1200" dirty="0"/>
          </a:p>
        </p:txBody>
      </p:sp>
      <p:pic>
        <p:nvPicPr>
          <p:cNvPr id="76" name="Image 32" descr="connector">    </p:cNvPr>
          <p:cNvPicPr>
            <a:picLocks noChangeAspect="1"/>
          </p:cNvPicPr>
          <p:nvPr/>
        </p:nvPicPr>
        <p:blipFill>
          <a:blip r:embed="rId33"/>
          <a:srcRect l="-12" r="-12" t="0" b="0"/>
          <a:stretch/>
        </p:blipFill>
        <p:spPr>
          <a:xfrm>
            <a:off x="4419575" y="5549881"/>
            <a:ext cx="3365500" cy="101575"/>
          </a:xfrm>
          <a:prstGeom prst="rect">
            <a:avLst/>
          </a:prstGeom>
        </p:spPr>
      </p:pic>
      <p:sp>
        <p:nvSpPr>
          <p:cNvPr id="77" name="Text 42"/>
          <p:cNvSpPr/>
          <p:nvPr/>
        </p:nvSpPr>
        <p:spPr>
          <a:xfrm>
            <a:off x="4421425" y="5410188"/>
            <a:ext cx="336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0000"/>
                </a:solidFill>
                <a:latin typeface="Carlito" pitchFamily="34" charset="0"/>
                <a:ea typeface="Carlito" pitchFamily="34" charset="-122"/>
                <a:cs typeface="Carlito" pitchFamily="34" charset="-120"/>
              </a:rPr>
              <a:t>allowed options only</a:t>
            </a:r>
            <a:endParaRPr lang="en-US" sz="1200" dirty="0"/>
          </a:p>
        </p:txBody>
      </p:sp>
      <p:pic>
        <p:nvPicPr>
          <p:cNvPr id="78" name="Image 33" descr="connector">    </p:cNvPr>
          <p:cNvPicPr>
            <a:picLocks noChangeAspect="1"/>
          </p:cNvPicPr>
          <p:nvPr/>
        </p:nvPicPr>
        <p:blipFill>
          <a:blip r:embed="rId34"/>
          <a:srcRect l="-12" r="-12" t="0" b="0"/>
          <a:stretch/>
        </p:blipFill>
        <p:spPr>
          <a:xfrm>
            <a:off x="4419575" y="5740381"/>
            <a:ext cx="3365500" cy="101575"/>
          </a:xfrm>
          <a:prstGeom prst="rect">
            <a:avLst/>
          </a:prstGeom>
        </p:spPr>
      </p:pic>
      <p:sp>
        <p:nvSpPr>
          <p:cNvPr id="79" name="Text 43"/>
          <p:cNvSpPr/>
          <p:nvPr/>
        </p:nvSpPr>
        <p:spPr>
          <a:xfrm>
            <a:off x="4421425" y="5600688"/>
            <a:ext cx="336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0000"/>
                </a:solidFill>
                <a:latin typeface="Carlito" pitchFamily="34" charset="0"/>
                <a:ea typeface="Carlito" pitchFamily="34" charset="-122"/>
                <a:cs typeface="Carlito" pitchFamily="34" charset="-120"/>
              </a:rPr>
              <a:t>estimate ± 95% range</a:t>
            </a:r>
            <a:endParaRPr lang="en-US" sz="1200" dirty="0"/>
          </a:p>
        </p:txBody>
      </p:sp>
      <p:pic>
        <p:nvPicPr>
          <p:cNvPr id="80" name="Image 34" descr="connector">    </p:cNvPr>
          <p:cNvPicPr>
            <a:picLocks noChangeAspect="1"/>
          </p:cNvPicPr>
          <p:nvPr/>
        </p:nvPicPr>
        <p:blipFill>
          <a:blip r:embed="rId35"/>
          <a:srcRect l="-12" r="-12" t="0" b="0"/>
          <a:stretch/>
        </p:blipFill>
        <p:spPr>
          <a:xfrm>
            <a:off x="4419575" y="5930881"/>
            <a:ext cx="4997441" cy="101575"/>
          </a:xfrm>
          <a:prstGeom prst="rect">
            <a:avLst/>
          </a:prstGeom>
        </p:spPr>
      </p:pic>
      <p:sp>
        <p:nvSpPr>
          <p:cNvPr id="81" name="Text 44"/>
          <p:cNvSpPr/>
          <p:nvPr/>
        </p:nvSpPr>
        <p:spPr>
          <a:xfrm>
            <a:off x="4396946" y="5791188"/>
            <a:ext cx="5042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0000"/>
                </a:solidFill>
                <a:latin typeface="Carlito" pitchFamily="34" charset="0"/>
                <a:ea typeface="Carlito" pitchFamily="34" charset="-122"/>
                <a:cs typeface="Carlito" pitchFamily="34" charset="-120"/>
              </a:rPr>
              <a:t>cite evidence</a:t>
            </a:r>
            <a:endParaRPr lang="en-US" sz="1200" dirty="0"/>
          </a:p>
        </p:txBody>
      </p:sp>
      <p:pic>
        <p:nvPicPr>
          <p:cNvPr id="82" name="Image 35" descr="connector">    </p:cNvPr>
          <p:cNvPicPr>
            <a:picLocks noChangeAspect="1"/>
          </p:cNvPicPr>
          <p:nvPr/>
        </p:nvPicPr>
        <p:blipFill>
          <a:blip r:embed="rId36"/>
          <a:srcRect l="-12" r="-12" t="0" b="0"/>
          <a:stretch/>
        </p:blipFill>
        <p:spPr>
          <a:xfrm>
            <a:off x="4419575" y="6121381"/>
            <a:ext cx="6629383" cy="101575"/>
          </a:xfrm>
          <a:prstGeom prst="rect">
            <a:avLst/>
          </a:prstGeom>
        </p:spPr>
      </p:pic>
      <p:sp>
        <p:nvSpPr>
          <p:cNvPr id="83" name="Text 45"/>
          <p:cNvSpPr/>
          <p:nvPr/>
        </p:nvSpPr>
        <p:spPr>
          <a:xfrm>
            <a:off x="4372467" y="5981688"/>
            <a:ext cx="67236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0000"/>
                </a:solidFill>
                <a:latin typeface="Carlito" pitchFamily="34" charset="0"/>
                <a:ea typeface="Carlito" pitchFamily="34" charset="-122"/>
                <a:cs typeface="Carlito" pitchFamily="34" charset="-120"/>
              </a:rPr>
              <a:t>log request</a:t>
            </a:r>
            <a:endParaRPr lang="en-US" sz="1200" dirty="0"/>
          </a:p>
        </p:txBody>
      </p:sp>
      <p:pic>
        <p:nvPicPr>
          <p:cNvPr id="84" name="Image 36" descr="connector">    </p:cNvPr>
          <p:cNvPicPr>
            <a:picLocks noChangeAspect="1"/>
          </p:cNvPicPr>
          <p:nvPr/>
        </p:nvPicPr>
        <p:blipFill>
          <a:blip r:embed="rId37"/>
          <a:srcRect l="-11" r="-11" t="0" b="0"/>
          <a:stretch/>
        </p:blipFill>
        <p:spPr>
          <a:xfrm>
            <a:off x="2787633" y="6311881"/>
            <a:ext cx="1733517" cy="101575"/>
          </a:xfrm>
          <a:prstGeom prst="rect">
            <a:avLst/>
          </a:prstGeom>
        </p:spPr>
      </p:pic>
      <p:sp>
        <p:nvSpPr>
          <p:cNvPr id="85" name="Text 46"/>
          <p:cNvSpPr/>
          <p:nvPr/>
        </p:nvSpPr>
        <p:spPr>
          <a:xfrm>
            <a:off x="2813042" y="6172188"/>
            <a:ext cx="16827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0000"/>
                </a:solidFill>
                <a:latin typeface="Carlito" pitchFamily="34" charset="0"/>
                <a:ea typeface="Carlito" pitchFamily="34" charset="-122"/>
                <a:cs typeface="Carlito" pitchFamily="34" charset="-120"/>
              </a:rPr>
              <a:t>Causal Output</a:t>
            </a:r>
            <a:endParaRPr lang="en-US" sz="1200" dirty="0"/>
          </a:p>
        </p:txBody>
      </p:sp>
      <p:pic>
        <p:nvPicPr>
          <p:cNvPr id="86" name="Image 37" descr="connector">    </p:cNvPr>
          <p:cNvPicPr>
            <a:picLocks noChangeAspect="1"/>
          </p:cNvPicPr>
          <p:nvPr/>
        </p:nvPicPr>
        <p:blipFill>
          <a:blip r:embed="rId38"/>
          <a:srcRect l="-11" r="-11" t="0" b="0"/>
          <a:stretch/>
        </p:blipFill>
        <p:spPr>
          <a:xfrm>
            <a:off x="1155692" y="6502381"/>
            <a:ext cx="1733517" cy="101575"/>
          </a:xfrm>
          <a:prstGeom prst="rect">
            <a:avLst/>
          </a:prstGeom>
        </p:spPr>
      </p:pic>
      <p:sp>
        <p:nvSpPr>
          <p:cNvPr id="87" name="Text 47"/>
          <p:cNvSpPr/>
          <p:nvPr/>
        </p:nvSpPr>
        <p:spPr>
          <a:xfrm>
            <a:off x="1181100" y="6362688"/>
            <a:ext cx="16827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0000"/>
                </a:solidFill>
                <a:latin typeface="Carlito" pitchFamily="34" charset="0"/>
                <a:ea typeface="Carlito" pitchFamily="34" charset="-122"/>
                <a:cs typeface="Carlito" pitchFamily="34" charset="-120"/>
              </a:rPr>
              <a:t>doctor decides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System Design – Data and API</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sp>
        <p:nvSpPr>
          <p:cNvPr id="5" name="Text 1"/>
          <p:cNvSpPr/>
          <p:nvPr/>
        </p:nvSpPr>
        <p:spPr>
          <a:xfrm>
            <a:off x="609575" y="1238250"/>
            <a:ext cx="11302035" cy="309166"/>
          </a:xfrm>
          <a:prstGeom prst="rect">
            <a:avLst/>
          </a:prstGeom>
          <a:noFill/>
          <a:ln/>
        </p:spPr>
        <p:txBody>
          <a:bodyPr wrap="square" lIns="0" tIns="0" rIns="0" bIns="0" rtlCol="0" anchor="t">
            <a:normAutofit/>
          </a:bodyPr>
          <a:lstStyle/>
          <a:p>
            <a:pPr algn="l" indent="0" marL="0">
              <a:lnSpc>
                <a:spcPts val="2240"/>
              </a:lnSpc>
              <a:buNone/>
            </a:pPr>
            <a:r>
              <a:rPr lang="en-US" sz="1600" b="1" u="sng" dirty="0">
                <a:solidFill>
                  <a:srgbClr val="002060"/>
                </a:solidFill>
                <a:latin typeface="Times New Roman" pitchFamily="34" charset="0"/>
                <a:ea typeface="Times New Roman" pitchFamily="34" charset="-122"/>
                <a:cs typeface="Times New Roman" pitchFamily="34" charset="-120"/>
              </a:rPr>
              <a:t>rules.csv – safety rules (R01–R10, each cited)</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0159" y="1621480"/>
          <a:ext cx="10962266" cy="1957297"/>
        </p:xfrm>
        <a:graphic>
          <a:graphicData uri="http://schemas.openxmlformats.org/drawingml/2006/table">
            <a:tbl>
              <a:tblPr/>
              <a:tblGrid>
                <a:gridCol w="657736"/>
                <a:gridCol w="876981"/>
                <a:gridCol w="1205849"/>
                <a:gridCol w="986604"/>
                <a:gridCol w="3179057"/>
                <a:gridCol w="1753963"/>
                <a:gridCol w="1096227"/>
                <a:gridCol w="1205849"/>
              </a:tblGrid>
              <a:tr h="329778">
                <a:tc>
                  <a:txBody>
                    <a:bodyPr/>
                    <a:lstStyle/>
                    <a:p>
                      <a:pPr indent="0" marL="0">
                        <a:lnSpc>
                          <a:spcPts val="1675"/>
                        </a:lnSpc>
                        <a:buNone/>
                      </a:pPr>
                      <a:r>
                        <a:rPr lang="en-US" sz="1196" b="1" dirty="0">
                          <a:solidFill>
                            <a:srgbClr val="FFFFFF"/>
                          </a:solidFill>
                          <a:latin typeface="Carlito" pitchFamily="34" charset="0"/>
                          <a:ea typeface="Carlito" pitchFamily="34" charset="-122"/>
                          <a:cs typeface="Carlito" pitchFamily="34" charset="-120"/>
                        </a:rPr>
                        <a:t>rule id</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675"/>
                        </a:lnSpc>
                        <a:buNone/>
                      </a:pPr>
                      <a:r>
                        <a:rPr lang="en-US" sz="1196" b="1" dirty="0">
                          <a:solidFill>
                            <a:srgbClr val="FFFFFF"/>
                          </a:solidFill>
                          <a:latin typeface="Carlito" pitchFamily="34" charset="0"/>
                          <a:ea typeface="Carlito" pitchFamily="34" charset="-122"/>
                          <a:cs typeface="Carlito" pitchFamily="34" charset="-120"/>
                        </a:rPr>
                        <a:t>drug class</a:t>
                      </a:r>
                      <a:endParaRPr lang="en-US" sz="1196" dirty="0">
                        <a:latin typeface="Carlito" charset="0"/>
                        <a:ea typeface="Carlito" charset="0"/>
                        <a:cs typeface="Carlito" charset="0"/>
                      </a:endParaRPr>
                    </a:p>
                  </a:txBody>
                  <a:tcPr marL="53173" marR="53173" marT="53173" marB="53173"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675"/>
                        </a:lnSpc>
                        <a:buNone/>
                      </a:pPr>
                      <a:r>
                        <a:rPr lang="en-US" sz="1196" b="1" dirty="0">
                          <a:solidFill>
                            <a:srgbClr val="FFFFFF"/>
                          </a:solidFill>
                          <a:latin typeface="Carlito" pitchFamily="34" charset="0"/>
                          <a:ea typeface="Carlito" pitchFamily="34" charset="-122"/>
                          <a:cs typeface="Carlito" pitchFamily="34" charset="-120"/>
                        </a:rPr>
                        <a:t>condition</a:t>
                      </a:r>
                      <a:endParaRPr lang="en-US" sz="1196" dirty="0">
                        <a:latin typeface="Carlito" charset="0"/>
                        <a:ea typeface="Carlito" charset="0"/>
                        <a:cs typeface="Carlito" charset="0"/>
                      </a:endParaRPr>
                    </a:p>
                  </a:txBody>
                  <a:tcPr marL="53173" marR="53173" marT="53173" marB="53173"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675"/>
                        </a:lnSpc>
                        <a:buNone/>
                      </a:pPr>
                      <a:r>
                        <a:rPr lang="en-US" sz="1196" b="1" dirty="0">
                          <a:solidFill>
                            <a:srgbClr val="FFFFFF"/>
                          </a:solidFill>
                          <a:latin typeface="Carlito" pitchFamily="34" charset="0"/>
                          <a:ea typeface="Carlito" pitchFamily="34" charset="-122"/>
                          <a:cs typeface="Carlito" pitchFamily="34" charset="-120"/>
                        </a:rPr>
                        <a:t>action</a:t>
                      </a:r>
                      <a:endParaRPr lang="en-US" sz="1196" dirty="0">
                        <a:latin typeface="Carlito" charset="0"/>
                        <a:ea typeface="Carlito" charset="0"/>
                        <a:cs typeface="Carlito" charset="0"/>
                      </a:endParaRPr>
                    </a:p>
                  </a:txBody>
                  <a:tcPr marL="53173" marR="53173" marT="53173" marB="53173"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675"/>
                        </a:lnSpc>
                        <a:buNone/>
                      </a:pPr>
                      <a:r>
                        <a:rPr lang="en-US" sz="1196" b="1" dirty="0">
                          <a:solidFill>
                            <a:srgbClr val="FFFFFF"/>
                          </a:solidFill>
                          <a:latin typeface="Carlito" pitchFamily="34" charset="0"/>
                          <a:ea typeface="Carlito" pitchFamily="34" charset="-122"/>
                          <a:cs typeface="Carlito" pitchFamily="34" charset="-120"/>
                        </a:rPr>
                        <a:t>message</a:t>
                      </a:r>
                      <a:endParaRPr lang="en-US" sz="1196" dirty="0">
                        <a:latin typeface="Carlito" charset="0"/>
                        <a:ea typeface="Carlito" charset="0"/>
                        <a:cs typeface="Carlito" charset="0"/>
                      </a:endParaRPr>
                    </a:p>
                  </a:txBody>
                  <a:tcPr marL="53173" marR="53173" marT="53173" marB="53173"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675"/>
                        </a:lnSpc>
                        <a:buNone/>
                      </a:pPr>
                      <a:r>
                        <a:rPr lang="en-US" sz="1196" b="1" dirty="0">
                          <a:solidFill>
                            <a:srgbClr val="FFFFFF"/>
                          </a:solidFill>
                          <a:latin typeface="Carlito" pitchFamily="34" charset="0"/>
                          <a:ea typeface="Carlito" pitchFamily="34" charset="-122"/>
                          <a:cs typeface="Carlito" pitchFamily="34" charset="-120"/>
                        </a:rPr>
                        <a:t>source</a:t>
                      </a:r>
                      <a:endParaRPr lang="en-US" sz="1196" dirty="0">
                        <a:latin typeface="Carlito" charset="0"/>
                        <a:ea typeface="Carlito" charset="0"/>
                        <a:cs typeface="Carlito" charset="0"/>
                      </a:endParaRPr>
                    </a:p>
                  </a:txBody>
                  <a:tcPr marL="53173" marR="53173" marT="53173" marB="53173"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675"/>
                        </a:lnSpc>
                        <a:buNone/>
                      </a:pPr>
                      <a:r>
                        <a:rPr lang="en-US" sz="1196" b="1" dirty="0">
                          <a:solidFill>
                            <a:srgbClr val="FFFFFF"/>
                          </a:solidFill>
                          <a:latin typeface="Carlito" pitchFamily="34" charset="0"/>
                          <a:ea typeface="Carlito" pitchFamily="34" charset="-122"/>
                          <a:cs typeface="Carlito" pitchFamily="34" charset="-120"/>
                        </a:rPr>
                        <a:t>section</a:t>
                      </a:r>
                      <a:endParaRPr lang="en-US" sz="1196" dirty="0">
                        <a:latin typeface="Carlito" charset="0"/>
                        <a:ea typeface="Carlito" charset="0"/>
                        <a:cs typeface="Carlito" charset="0"/>
                      </a:endParaRPr>
                    </a:p>
                  </a:txBody>
                  <a:tcPr marL="53173" marR="53173" marT="53173" marB="53173"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675"/>
                        </a:lnSpc>
                        <a:buNone/>
                      </a:pPr>
                      <a:r>
                        <a:rPr lang="en-US" sz="1196" b="1" dirty="0">
                          <a:solidFill>
                            <a:srgbClr val="FFFFFF"/>
                          </a:solidFill>
                          <a:latin typeface="Carlito" pitchFamily="34" charset="0"/>
                          <a:ea typeface="Carlito" pitchFamily="34" charset="-122"/>
                          <a:cs typeface="Carlito" pitchFamily="34" charset="-120"/>
                        </a:rPr>
                        <a:t>status</a:t>
                      </a:r>
                      <a:endParaRPr lang="en-US" sz="1196" dirty="0">
                        <a:latin typeface="Carlito" charset="0"/>
                        <a:ea typeface="Carlito" charset="0"/>
                        <a:cs typeface="Carlito" charset="0"/>
                      </a:endParaRPr>
                    </a:p>
                  </a:txBody>
                  <a:tcPr marL="53173" marR="53173" marT="53173" marB="53173"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r>
              <a:tr h="542479">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R01</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SGLT2i</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eGFR &lt; 45</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5"/>
                        </a:lnSpc>
                        <a:buNone/>
                      </a:pPr>
                      <a:r>
                        <a:rPr lang="en-US" sz="1196" dirty="0">
                          <a:solidFill>
                            <a:srgbClr val="C00000"/>
                          </a:solidFill>
                          <a:latin typeface="Carlito" pitchFamily="34" charset="0"/>
                          <a:ea typeface="Carlito" pitchFamily="34" charset="-122"/>
                          <a:cs typeface="Carlito" pitchFamily="34" charset="-120"/>
                        </a:rPr>
                        <a:t>EXCLUDE</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Not recommended to improve glycaemic control when eGFR &lt; 45</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FARXIGA label; KDIGO 2022</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Sec 1, 2.2</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5"/>
                        </a:lnSpc>
                        <a:buNone/>
                      </a:pPr>
                      <a:r>
                        <a:rPr lang="en-US" sz="1196" dirty="0">
                          <a:solidFill>
                            <a:srgbClr val="002060"/>
                          </a:solidFill>
                          <a:latin typeface="Carlito" pitchFamily="34" charset="0"/>
                          <a:ea typeface="Carlito" pitchFamily="34" charset="-122"/>
                          <a:cs typeface="Carlito" pitchFamily="34" charset="-120"/>
                        </a:rPr>
                        <a:t>VERIFIED</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2520">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R05</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DPP-4i</a:t>
                      </a:r>
                      <a:endParaRPr lang="en-US" sz="1196" dirty="0">
                        <a:latin typeface="Carlito" charset="0"/>
                        <a:ea typeface="Carlito" charset="0"/>
                        <a:cs typeface="Carlito" charset="0"/>
                      </a:endParaRPr>
                    </a:p>
                  </a:txBody>
                  <a:tcPr marL="53173" marR="53173" marT="53173" marB="53173"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past pancreatitis</a:t>
                      </a:r>
                      <a:endParaRPr lang="en-US" sz="1196" dirty="0">
                        <a:latin typeface="Carlito" charset="0"/>
                        <a:ea typeface="Carlito" charset="0"/>
                        <a:cs typeface="Carlito" charset="0"/>
                      </a:endParaRPr>
                    </a:p>
                  </a:txBody>
                  <a:tcPr marL="53173" marR="53173" marT="53173" marB="53173"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675"/>
                        </a:lnSpc>
                        <a:buNone/>
                      </a:pPr>
                      <a:r>
                        <a:rPr lang="en-US" sz="1196" dirty="0">
                          <a:solidFill>
                            <a:srgbClr val="C55A11"/>
                          </a:solidFill>
                          <a:latin typeface="Carlito" pitchFamily="34" charset="0"/>
                          <a:ea typeface="Carlito" pitchFamily="34" charset="-122"/>
                          <a:cs typeface="Carlito" pitchFamily="34" charset="-120"/>
                        </a:rPr>
                        <a:t>CAUTION</a:t>
                      </a:r>
                      <a:endParaRPr lang="en-US" sz="1196" dirty="0">
                        <a:latin typeface="Carlito" charset="0"/>
                        <a:ea typeface="Carlito" charset="0"/>
                        <a:cs typeface="Carlito" charset="0"/>
                      </a:endParaRPr>
                    </a:p>
                  </a:txBody>
                  <a:tcPr marL="53173" marR="53173" marT="53173" marB="53173"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Not studied in patients with a history of pancreatitis</a:t>
                      </a:r>
                      <a:endParaRPr lang="en-US" sz="1196" dirty="0">
                        <a:latin typeface="Carlito" charset="0"/>
                        <a:ea typeface="Carlito" charset="0"/>
                        <a:cs typeface="Carlito" charset="0"/>
                      </a:endParaRPr>
                    </a:p>
                  </a:txBody>
                  <a:tcPr marL="53173" marR="53173" marT="53173" marB="53173"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JANUVIA label</a:t>
                      </a:r>
                      <a:endParaRPr lang="en-US" sz="1196" dirty="0">
                        <a:latin typeface="Carlito" charset="0"/>
                        <a:ea typeface="Carlito" charset="0"/>
                        <a:cs typeface="Carlito" charset="0"/>
                      </a:endParaRPr>
                    </a:p>
                  </a:txBody>
                  <a:tcPr marL="53173" marR="53173" marT="53173" marB="53173"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Sec 1; 5.1</a:t>
                      </a:r>
                      <a:endParaRPr lang="en-US" sz="1196" dirty="0">
                        <a:latin typeface="Carlito" charset="0"/>
                        <a:ea typeface="Carlito" charset="0"/>
                        <a:cs typeface="Carlito" charset="0"/>
                      </a:endParaRPr>
                    </a:p>
                  </a:txBody>
                  <a:tcPr marL="53173" marR="53173" marT="53173" marB="53173"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675"/>
                        </a:lnSpc>
                        <a:buNone/>
                      </a:pPr>
                      <a:r>
                        <a:rPr lang="en-US" sz="1196" dirty="0">
                          <a:solidFill>
                            <a:srgbClr val="002060"/>
                          </a:solidFill>
                          <a:latin typeface="Carlito" pitchFamily="34" charset="0"/>
                          <a:ea typeface="Carlito" pitchFamily="34" charset="-122"/>
                          <a:cs typeface="Carlito" pitchFamily="34" charset="-120"/>
                        </a:rPr>
                        <a:t>VERIFIED</a:t>
                      </a:r>
                      <a:endParaRPr lang="en-US" sz="1196" dirty="0">
                        <a:latin typeface="Carlito" charset="0"/>
                        <a:ea typeface="Carlito" charset="0"/>
                        <a:cs typeface="Carlito" charset="0"/>
                      </a:endParaRPr>
                    </a:p>
                  </a:txBody>
                  <a:tcPr marL="53173" marR="53173" marT="53173" marB="53173"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542520">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R08</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SU</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age ≥ 65</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5"/>
                        </a:lnSpc>
                        <a:buNone/>
                      </a:pPr>
                      <a:r>
                        <a:rPr lang="en-US" sz="1196" dirty="0">
                          <a:solidFill>
                            <a:srgbClr val="C55A11"/>
                          </a:solidFill>
                          <a:latin typeface="Carlito" pitchFamily="34" charset="0"/>
                          <a:ea typeface="Carlito" pitchFamily="34" charset="-122"/>
                          <a:cs typeface="Carlito" pitchFamily="34" charset="-120"/>
                        </a:rPr>
                        <a:t>CAUTION</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Higher hypoglycaemia risk; age cut-off 65 is team-set</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Glimepiride label</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5"/>
                        </a:lnSpc>
                        <a:buNone/>
                      </a:pPr>
                      <a:r>
                        <a:rPr lang="en-US" sz="1196" dirty="0">
                          <a:solidFill>
                            <a:srgbClr val="000000"/>
                          </a:solidFill>
                          <a:latin typeface="Carlito" pitchFamily="34" charset="0"/>
                          <a:ea typeface="Carlito" pitchFamily="34" charset="-122"/>
                          <a:cs typeface="Carlito" pitchFamily="34" charset="-120"/>
                        </a:rPr>
                        <a:t>Sec 2.1; 8.5</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5"/>
                        </a:lnSpc>
                        <a:buNone/>
                      </a:pPr>
                      <a:r>
                        <a:rPr lang="en-US" sz="1196" dirty="0">
                          <a:solidFill>
                            <a:srgbClr val="7F7F7F"/>
                          </a:solidFill>
                          <a:latin typeface="Carlito" pitchFamily="34" charset="0"/>
                          <a:ea typeface="Carlito" pitchFamily="34" charset="-122"/>
                          <a:cs typeface="Carlito" pitchFamily="34" charset="-120"/>
                        </a:rPr>
                        <a:t>UNVERIFIED</a:t>
                      </a:r>
                      <a:endParaRPr lang="en-US" sz="1196" dirty="0">
                        <a:latin typeface="Carlito" charset="0"/>
                        <a:ea typeface="Carlito" charset="0"/>
                        <a:cs typeface="Carlito" charset="0"/>
                      </a:endParaRPr>
                    </a:p>
                  </a:txBody>
                  <a:tcPr marL="53173" marR="53173" marT="53173" marB="531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2"/>
          <p:cNvSpPr/>
          <p:nvPr/>
        </p:nvSpPr>
        <p:spPr>
          <a:xfrm>
            <a:off x="609575" y="3667658"/>
            <a:ext cx="11302035" cy="309166"/>
          </a:xfrm>
          <a:prstGeom prst="rect">
            <a:avLst/>
          </a:prstGeom>
          <a:noFill/>
          <a:ln/>
        </p:spPr>
        <p:txBody>
          <a:bodyPr wrap="square" lIns="0" tIns="0" rIns="0" bIns="0" rtlCol="0" anchor="t">
            <a:normAutofit/>
          </a:bodyPr>
          <a:lstStyle/>
          <a:p>
            <a:pPr algn="l" indent="0" marL="0">
              <a:lnSpc>
                <a:spcPts val="2240"/>
              </a:lnSpc>
              <a:buNone/>
            </a:pPr>
            <a:r>
              <a:rPr lang="en-US" sz="1600" b="1" u="sng" dirty="0">
                <a:solidFill>
                  <a:srgbClr val="002060"/>
                </a:solidFill>
                <a:latin typeface="Times New Roman" pitchFamily="34" charset="0"/>
                <a:ea typeface="Times New Roman" pitchFamily="34" charset="-122"/>
                <a:cs typeface="Times New Roman" pitchFamily="34" charset="-120"/>
              </a:rPr>
              <a:t>prices.csv</a:t>
            </a:r>
            <a:endParaRPr lang="en-US" sz="16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620159" y="4050895"/>
          <a:ext cx="10962266" cy="661128"/>
        </p:xfrm>
        <a:graphic>
          <a:graphicData uri="http://schemas.openxmlformats.org/drawingml/2006/table">
            <a:tbl>
              <a:tblPr/>
              <a:tblGrid>
                <a:gridCol w="2850189"/>
                <a:gridCol w="2411699"/>
                <a:gridCol w="1753963"/>
                <a:gridCol w="3946416"/>
              </a:tblGrid>
              <a:tr h="330564">
                <a:tc>
                  <a:txBody>
                    <a:bodyPr/>
                    <a:lstStyle/>
                    <a:p>
                      <a:pPr indent="0" marL="0">
                        <a:lnSpc>
                          <a:spcPts val="1680"/>
                        </a:lnSpc>
                        <a:buNone/>
                      </a:pPr>
                      <a:r>
                        <a:rPr lang="en-US" sz="1200" b="1" dirty="0">
                          <a:solidFill>
                            <a:srgbClr val="FFFFFF"/>
                          </a:solidFill>
                          <a:latin typeface="Carlito" pitchFamily="34" charset="0"/>
                          <a:ea typeface="Carlito" pitchFamily="34" charset="-122"/>
                          <a:cs typeface="Carlito" pitchFamily="34" charset="-120"/>
                        </a:rPr>
                        <a:t>drug</a:t>
                      </a:r>
                      <a:endParaRPr lang="en-US" sz="1200" dirty="0">
                        <a:latin typeface="Carlito" charset="0"/>
                        <a:ea typeface="Carlito" charset="0"/>
                        <a:cs typeface="Carlit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680"/>
                        </a:lnSpc>
                        <a:buNone/>
                      </a:pPr>
                      <a:r>
                        <a:rPr lang="en-US" sz="1200" b="1" dirty="0">
                          <a:solidFill>
                            <a:srgbClr val="FFFFFF"/>
                          </a:solidFill>
                          <a:latin typeface="Carlito" pitchFamily="34" charset="0"/>
                          <a:ea typeface="Carlito" pitchFamily="34" charset="-122"/>
                          <a:cs typeface="Carlito" pitchFamily="34" charset="-120"/>
                        </a:rPr>
                        <a:t>INR per month</a:t>
                      </a:r>
                      <a:endParaRPr lang="en-US" sz="1200" dirty="0">
                        <a:latin typeface="Carlito" charset="0"/>
                        <a:ea typeface="Carlito" charset="0"/>
                        <a:cs typeface="Carlito" charset="0"/>
                      </a:endParaRPr>
                    </a:p>
                  </a:txBody>
                  <a:tcPr marL="53340" marR="53340" marT="53340" marB="53340"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680"/>
                        </a:lnSpc>
                        <a:buNone/>
                      </a:pPr>
                      <a:r>
                        <a:rPr lang="en-US" sz="1200" b="1" dirty="0">
                          <a:solidFill>
                            <a:srgbClr val="FFFFFF"/>
                          </a:solidFill>
                          <a:latin typeface="Carlito" pitchFamily="34" charset="0"/>
                          <a:ea typeface="Carlito" pitchFamily="34" charset="-122"/>
                          <a:cs typeface="Carlito" pitchFamily="34" charset="-120"/>
                        </a:rPr>
                        <a:t>as-of date</a:t>
                      </a:r>
                      <a:endParaRPr lang="en-US" sz="1200" dirty="0">
                        <a:latin typeface="Carlito" charset="0"/>
                        <a:ea typeface="Carlito" charset="0"/>
                        <a:cs typeface="Carlito" charset="0"/>
                      </a:endParaRPr>
                    </a:p>
                  </a:txBody>
                  <a:tcPr marL="53340" marR="53340" marT="53340" marB="53340"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680"/>
                        </a:lnSpc>
                        <a:buNone/>
                      </a:pPr>
                      <a:r>
                        <a:rPr lang="en-US" sz="1200" b="1" dirty="0">
                          <a:solidFill>
                            <a:srgbClr val="FFFFFF"/>
                          </a:solidFill>
                          <a:latin typeface="Carlito" pitchFamily="34" charset="0"/>
                          <a:ea typeface="Carlito" pitchFamily="34" charset="-122"/>
                          <a:cs typeface="Carlito" pitchFamily="34" charset="-120"/>
                        </a:rPr>
                        <a:t>source</a:t>
                      </a:r>
                      <a:endParaRPr lang="en-US" sz="1200" dirty="0">
                        <a:latin typeface="Carlito" charset="0"/>
                        <a:ea typeface="Carlito" charset="0"/>
                        <a:cs typeface="Carlito" charset="0"/>
                      </a:endParaRPr>
                    </a:p>
                  </a:txBody>
                  <a:tcPr marL="53340" marR="53340" marT="53340" marB="53340"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r>
              <a:tr h="330564">
                <a:tc>
                  <a:txBody>
                    <a:bodyPr/>
                    <a:lstStyle/>
                    <a:p>
                      <a:pPr indent="0" marL="0">
                        <a:lnSpc>
                          <a:spcPts val="1680"/>
                        </a:lnSpc>
                        <a:buNone/>
                      </a:pPr>
                      <a:r>
                        <a:rPr lang="en-US" sz="1200" dirty="0">
                          <a:solidFill>
                            <a:srgbClr val="000000"/>
                          </a:solidFill>
                          <a:latin typeface="Carlito" pitchFamily="34" charset="0"/>
                          <a:ea typeface="Carlito" pitchFamily="34" charset="-122"/>
                          <a:cs typeface="Carlito" pitchFamily="34" charset="-120"/>
                        </a:rPr>
                        <a:t>dapagliflozin (SGLT2i)</a:t>
                      </a:r>
                      <a:endParaRPr lang="en-US" sz="1200" dirty="0">
                        <a:latin typeface="Carlito" charset="0"/>
                        <a:ea typeface="Carlito" charset="0"/>
                        <a:cs typeface="Carlit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7F7F7F"/>
                          </a:solidFill>
                          <a:latin typeface="Carlito" pitchFamily="34" charset="0"/>
                          <a:ea typeface="Carlito" pitchFamily="34" charset="-122"/>
                          <a:cs typeface="Carlito" pitchFamily="34" charset="-120"/>
                        </a:rPr>
                        <a:t>price unavailable</a:t>
                      </a:r>
                      <a:endParaRPr lang="en-US" sz="1200" dirty="0">
                        <a:latin typeface="Carlito" charset="0"/>
                        <a:ea typeface="Carlito" charset="0"/>
                        <a:cs typeface="Carlit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00000"/>
                          </a:solidFill>
                          <a:latin typeface="Carlito" pitchFamily="34" charset="0"/>
                          <a:ea typeface="Carlito" pitchFamily="34" charset="-122"/>
                          <a:cs typeface="Carlito" pitchFamily="34" charset="-120"/>
                        </a:rPr>
                        <a:t>—</a:t>
                      </a:r>
                      <a:endParaRPr lang="en-US" sz="1200" dirty="0">
                        <a:latin typeface="Carlito" charset="0"/>
                        <a:ea typeface="Carlito" charset="0"/>
                        <a:cs typeface="Carlit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00000"/>
                          </a:solidFill>
                          <a:latin typeface="Carlito" pitchFamily="34" charset="0"/>
                          <a:ea typeface="Carlito" pitchFamily="34" charset="-122"/>
                          <a:cs typeface="Carlito" pitchFamily="34" charset="-120"/>
                        </a:rPr>
                        <a:t>to be confirmed (Jan Aushadhi list)</a:t>
                      </a:r>
                      <a:endParaRPr lang="en-US" sz="1200" dirty="0">
                        <a:latin typeface="Carlito" charset="0"/>
                        <a:ea typeface="Carlito" charset="0"/>
                        <a:cs typeface="Carlit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3"/>
          <p:cNvSpPr/>
          <p:nvPr/>
        </p:nvSpPr>
        <p:spPr>
          <a:xfrm>
            <a:off x="609575" y="4799248"/>
            <a:ext cx="11302035" cy="309166"/>
          </a:xfrm>
          <a:prstGeom prst="rect">
            <a:avLst/>
          </a:prstGeom>
          <a:noFill/>
          <a:ln/>
        </p:spPr>
        <p:txBody>
          <a:bodyPr wrap="square" lIns="0" tIns="0" rIns="0" bIns="0" rtlCol="0" anchor="t">
            <a:normAutofit/>
          </a:bodyPr>
          <a:lstStyle/>
          <a:p>
            <a:pPr algn="l" indent="0" marL="0">
              <a:lnSpc>
                <a:spcPts val="2240"/>
              </a:lnSpc>
              <a:buNone/>
            </a:pPr>
            <a:r>
              <a:rPr lang="en-US" sz="1600" b="1" u="sng" dirty="0">
                <a:solidFill>
                  <a:srgbClr val="002060"/>
                </a:solidFill>
                <a:latin typeface="Times New Roman" pitchFamily="34" charset="0"/>
                <a:ea typeface="Times New Roman" pitchFamily="34" charset="-122"/>
                <a:cs typeface="Times New Roman" pitchFamily="34" charset="-120"/>
              </a:rPr>
              <a:t>POST /api/v1/recommend</a:t>
            </a:r>
            <a:endParaRPr lang="en-US" sz="1600" dirty="0"/>
          </a:p>
        </p:txBody>
      </p:sp>
      <p:sp>
        <p:nvSpPr>
          <p:cNvPr id="10" name="Shape 4"/>
          <p:cNvSpPr/>
          <p:nvPr/>
        </p:nvSpPr>
        <p:spPr>
          <a:xfrm>
            <a:off x="615925" y="5178251"/>
            <a:ext cx="5257800" cy="1419399"/>
          </a:xfrm>
          <a:prstGeom prst="rect">
            <a:avLst/>
          </a:prstGeom>
          <a:solidFill>
            <a:srgbClr val="F2F2F2"/>
          </a:solidFill>
          <a:ln w="12700">
            <a:solidFill>
              <a:srgbClr val="BFBFBF"/>
            </a:solidFill>
            <a:prstDash val="solid"/>
          </a:ln>
        </p:spPr>
      </p:sp>
      <p:sp>
        <p:nvSpPr>
          <p:cNvPr id="11" name="Text 5"/>
          <p:cNvSpPr/>
          <p:nvPr/>
        </p:nvSpPr>
        <p:spPr>
          <a:xfrm>
            <a:off x="772542" y="5296750"/>
            <a:ext cx="5092903" cy="25579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2060"/>
                </a:solidFill>
                <a:latin typeface="Carlito" pitchFamily="34" charset="0"/>
                <a:ea typeface="Carlito" pitchFamily="34" charset="-122"/>
                <a:cs typeface="Carlito" pitchFamily="34" charset="-120"/>
              </a:rPr>
              <a:t>Input: patient details</a:t>
            </a:r>
            <a:endParaRPr lang="en-US" sz="1300" dirty="0"/>
          </a:p>
        </p:txBody>
      </p:sp>
      <p:sp>
        <p:nvSpPr>
          <p:cNvPr id="12" name="Text 6"/>
          <p:cNvSpPr/>
          <p:nvPr/>
        </p:nvSpPr>
        <p:spPr>
          <a:xfrm>
            <a:off x="772542" y="5552529"/>
            <a:ext cx="5092903" cy="238017"/>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000000"/>
                </a:solidFill>
                <a:latin typeface="Courier New" pitchFamily="34" charset="0"/>
                <a:ea typeface="Courier New" pitchFamily="34" charset="-122"/>
                <a:cs typeface="Courier New" pitchFamily="34" charset="-120"/>
              </a:rPr>
              <a:t>{"age": 60, "sex": "female",</a:t>
            </a:r>
            <a:endParaRPr lang="en-US" sz="1196" dirty="0"/>
          </a:p>
        </p:txBody>
      </p:sp>
      <p:sp>
        <p:nvSpPr>
          <p:cNvPr id="13" name="Text 7"/>
          <p:cNvSpPr/>
          <p:nvPr/>
        </p:nvSpPr>
        <p:spPr>
          <a:xfrm>
            <a:off x="772542" y="5790530"/>
            <a:ext cx="5092903" cy="238017"/>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000000"/>
                </a:solidFill>
                <a:latin typeface="Courier New" pitchFamily="34" charset="0"/>
                <a:ea typeface="Courier New" pitchFamily="34" charset="-122"/>
                <a:cs typeface="Courier New" pitchFamily="34" charset="-120"/>
              </a:rPr>
              <a:t> "duration_years": 8, "hba1c": 8.2,</a:t>
            </a:r>
            <a:endParaRPr lang="en-US" sz="1196" dirty="0"/>
          </a:p>
        </p:txBody>
      </p:sp>
      <p:sp>
        <p:nvSpPr>
          <p:cNvPr id="14" name="Text 8"/>
          <p:cNvSpPr/>
          <p:nvPr/>
        </p:nvSpPr>
        <p:spPr>
          <a:xfrm>
            <a:off x="772542" y="6028531"/>
            <a:ext cx="5092903" cy="238017"/>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000000"/>
                </a:solidFill>
                <a:latin typeface="Courier New" pitchFamily="34" charset="0"/>
                <a:ea typeface="Courier New" pitchFamily="34" charset="-122"/>
                <a:cs typeface="Courier New" pitchFamily="34" charset="-120"/>
              </a:rPr>
              <a:t> "egfr": 40, "bmi": 25.5,</a:t>
            </a:r>
            <a:endParaRPr lang="en-US" sz="1196" dirty="0"/>
          </a:p>
        </p:txBody>
      </p:sp>
      <p:sp>
        <p:nvSpPr>
          <p:cNvPr id="15" name="Text 9"/>
          <p:cNvSpPr/>
          <p:nvPr/>
        </p:nvSpPr>
        <p:spPr>
          <a:xfrm>
            <a:off x="772542" y="6266532"/>
            <a:ext cx="5092903" cy="238017"/>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000000"/>
                </a:solidFill>
                <a:latin typeface="Courier New" pitchFamily="34" charset="0"/>
                <a:ea typeface="Courier New" pitchFamily="34" charset="-122"/>
                <a:cs typeface="Courier New" pitchFamily="34" charset="-120"/>
              </a:rPr>
              <a:t> "pancreatitis_history": true}</a:t>
            </a:r>
            <a:endParaRPr lang="en-US" sz="1196" dirty="0"/>
          </a:p>
        </p:txBody>
      </p:sp>
      <p:sp>
        <p:nvSpPr>
          <p:cNvPr id="16" name="Shape 10"/>
          <p:cNvSpPr/>
          <p:nvPr/>
        </p:nvSpPr>
        <p:spPr>
          <a:xfrm>
            <a:off x="6089617" y="5178251"/>
            <a:ext cx="5486458" cy="1419399"/>
          </a:xfrm>
          <a:prstGeom prst="rect">
            <a:avLst/>
          </a:prstGeom>
          <a:solidFill>
            <a:srgbClr val="FFFFFF"/>
          </a:solidFill>
          <a:ln w="12700">
            <a:solidFill>
              <a:srgbClr val="002060"/>
            </a:solidFill>
            <a:prstDash val="solid"/>
          </a:ln>
        </p:spPr>
      </p:sp>
      <p:sp>
        <p:nvSpPr>
          <p:cNvPr id="17" name="Text 11"/>
          <p:cNvSpPr/>
          <p:nvPr/>
        </p:nvSpPr>
        <p:spPr>
          <a:xfrm>
            <a:off x="6246233" y="5296750"/>
            <a:ext cx="5328421"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2060"/>
                </a:solidFill>
                <a:latin typeface="Carlito" pitchFamily="34" charset="0"/>
                <a:ea typeface="Carlito" pitchFamily="34" charset="-122"/>
                <a:cs typeface="Carlito" pitchFamily="34" charset="-120"/>
              </a:rPr>
              <a:t>Output: Causal Output</a:t>
            </a:r>
            <a:endParaRPr lang="en-US" sz="1300" dirty="0"/>
          </a:p>
        </p:txBody>
      </p:sp>
      <p:sp>
        <p:nvSpPr>
          <p:cNvPr id="18" name="Text 12"/>
          <p:cNvSpPr/>
          <p:nvPr/>
        </p:nvSpPr>
        <p:spPr>
          <a:xfrm>
            <a:off x="6246233" y="5565961"/>
            <a:ext cx="5328421" cy="669330"/>
          </a:xfrm>
          <a:prstGeom prst="rect">
            <a:avLst/>
          </a:prstGeom>
          <a:noFill/>
          <a:ln/>
        </p:spPr>
        <p:txBody>
          <a:bodyPr wrap="square" lIns="0" tIns="0" rIns="0" bIns="0" rtlCol="0" anchor="t">
            <a:normAutofit/>
          </a:bodyPr>
          <a:lstStyle/>
          <a:p>
            <a:pPr algn="l" marL="198120" indent="-155956">
              <a:lnSpc>
                <a:spcPts val="1690"/>
              </a:lnSpc>
              <a:buSzPct val="100000"/>
              <a:buChar char="•"/>
            </a:pPr>
            <a:r>
              <a:rPr lang="en-US" sz="1300" dirty="0">
                <a:solidFill>
                  <a:srgbClr val="000000"/>
                </a:solidFill>
                <a:latin typeface="Carlito" pitchFamily="34" charset="0"/>
                <a:ea typeface="Carlito" pitchFamily="34" charset="-122"/>
                <a:cs typeface="Carlito" pitchFamily="34" charset="-120"/>
              </a:rPr>
              <a:t>Each option: estimate with 95% range, or “insufficient evidence”</a:t>
            </a:r>
            <a:endParaRPr lang="en-US" sz="1300" dirty="0"/>
          </a:p>
          <a:p>
            <a:pPr algn="l" marL="198120" indent="-155956">
              <a:lnSpc>
                <a:spcPts val="1690"/>
              </a:lnSpc>
              <a:buSzPct val="100000"/>
              <a:buChar char="•"/>
            </a:pPr>
            <a:r>
              <a:rPr lang="en-US" sz="1300" dirty="0">
                <a:solidFill>
                  <a:srgbClr val="000000"/>
                </a:solidFill>
                <a:latin typeface="Carlito" pitchFamily="34" charset="0"/>
                <a:ea typeface="Carlito" pitchFamily="34" charset="-122"/>
                <a:cs typeface="Carlito" pitchFamily="34" charset="-120"/>
              </a:rPr>
              <a:t>Exclusions and cautions, each with its source</a:t>
            </a:r>
            <a:endParaRPr lang="en-US" sz="1300" dirty="0"/>
          </a:p>
          <a:p>
            <a:pPr algn="l" marL="198120" indent="-155956">
              <a:lnSpc>
                <a:spcPts val="1690"/>
              </a:lnSpc>
              <a:buSzPct val="100000"/>
              <a:buChar char="•"/>
            </a:pPr>
            <a:r>
              <a:rPr lang="en-US" sz="1300" dirty="0">
                <a:solidFill>
                  <a:srgbClr val="000000"/>
                </a:solidFill>
                <a:latin typeface="Carlito" pitchFamily="34" charset="0"/>
                <a:ea typeface="Carlito" pitchFamily="34" charset="-122"/>
                <a:cs typeface="Carlito" pitchFamily="34" charset="-120"/>
              </a:rPr>
              <a:t>Versions and a request ID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Implementation – What’s Built</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0159" y="1280583"/>
          <a:ext cx="10962266" cy="4607223"/>
        </p:xfrm>
        <a:graphic>
          <a:graphicData uri="http://schemas.openxmlformats.org/drawingml/2006/table">
            <a:tbl>
              <a:tblPr/>
              <a:tblGrid>
                <a:gridCol w="3507925"/>
                <a:gridCol w="1425095"/>
                <a:gridCol w="6029246"/>
              </a:tblGrid>
              <a:tr h="383935">
                <a:tc>
                  <a:txBody>
                    <a:bodyPr/>
                    <a:lstStyle/>
                    <a:p>
                      <a:pPr indent="0" marL="0">
                        <a:lnSpc>
                          <a:spcPts val="1960"/>
                        </a:lnSpc>
                        <a:buNone/>
                      </a:pPr>
                      <a:r>
                        <a:rPr lang="en-US" sz="1400" b="1" dirty="0">
                          <a:solidFill>
                            <a:srgbClr val="FFFFFF"/>
                          </a:solidFill>
                          <a:latin typeface="Carlito" pitchFamily="34" charset="0"/>
                          <a:ea typeface="Carlito" pitchFamily="34" charset="-122"/>
                          <a:cs typeface="Carlito" pitchFamily="34" charset="-120"/>
                        </a:rPr>
                        <a:t>Module</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algn="ctr" indent="0" marL="0">
                        <a:lnSpc>
                          <a:spcPts val="1960"/>
                        </a:lnSpc>
                        <a:buNone/>
                      </a:pPr>
                      <a:r>
                        <a:rPr lang="en-US" sz="1400" b="1" dirty="0">
                          <a:solidFill>
                            <a:srgbClr val="FFFFFF"/>
                          </a:solidFill>
                          <a:latin typeface="Carlito" pitchFamily="34" charset="0"/>
                          <a:ea typeface="Carlito" pitchFamily="34" charset="-122"/>
                          <a:cs typeface="Carlito" pitchFamily="34" charset="-120"/>
                        </a:rPr>
                        <a:t>Status</a:t>
                      </a:r>
                      <a:endParaRPr lang="en-US" sz="1400" dirty="0">
                        <a:latin typeface="Carlito" charset="0"/>
                        <a:ea typeface="Carlito" charset="0"/>
                        <a:cs typeface="Carlito" charset="0"/>
                      </a:endParaRPr>
                    </a:p>
                  </a:txBody>
                  <a:tcPr marL="62230" marR="62230" marT="62230" marB="62230"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960"/>
                        </a:lnSpc>
                        <a:buNone/>
                      </a:pPr>
                      <a:r>
                        <a:rPr lang="en-US" sz="1400" b="1" dirty="0">
                          <a:solidFill>
                            <a:srgbClr val="FFFFFF"/>
                          </a:solidFill>
                          <a:latin typeface="Carlito" pitchFamily="34" charset="0"/>
                          <a:ea typeface="Carlito" pitchFamily="34" charset="-122"/>
                          <a:cs typeface="Carlito" pitchFamily="34" charset="-120"/>
                        </a:rPr>
                        <a:t>Evidence</a:t>
                      </a:r>
                      <a:endParaRPr lang="en-US" sz="1400" dirty="0">
                        <a:latin typeface="Carlito" charset="0"/>
                        <a:ea typeface="Carlito" charset="0"/>
                        <a:cs typeface="Carlito" charset="0"/>
                      </a:endParaRPr>
                    </a:p>
                  </a:txBody>
                  <a:tcPr marL="62230" marR="62230" marT="62230" marB="62230"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r>
              <a:tr h="383935">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Synthetic patient generator</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002060"/>
                          </a:solidFill>
                          <a:latin typeface="Carlito" pitchFamily="34" charset="0"/>
                          <a:ea typeface="Carlito" pitchFamily="34" charset="-122"/>
                          <a:cs typeface="Carlito" pitchFamily="34" charset="-120"/>
                        </a:rPr>
                        <a:t>Done</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cohort.py; every number sourced in params.yaml</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935">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Safety rules</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algn="ctr" indent="0" marL="0">
                        <a:lnSpc>
                          <a:spcPts val="1960"/>
                        </a:lnSpc>
                        <a:buNone/>
                      </a:pPr>
                      <a:r>
                        <a:rPr lang="en-US" sz="1400" dirty="0">
                          <a:solidFill>
                            <a:srgbClr val="002060"/>
                          </a:solidFill>
                          <a:latin typeface="Carlito" pitchFamily="34" charset="0"/>
                          <a:ea typeface="Carlito" pitchFamily="34" charset="-122"/>
                          <a:cs typeface="Carlito" pitchFamily="34" charset="-120"/>
                        </a:rPr>
                        <a:t>Done</a:t>
                      </a:r>
                      <a:endParaRPr lang="en-US" sz="14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rules.csv: R01–R10, each with a source</a:t>
                      </a:r>
                      <a:endParaRPr lang="en-US" sz="14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383935">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Propensity and overlap check</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002060"/>
                          </a:solidFill>
                          <a:latin typeface="Carlito" pitchFamily="34" charset="0"/>
                          <a:ea typeface="Carlito" pitchFamily="34" charset="-122"/>
                          <a:cs typeface="Carlito" pitchFamily="34" charset="-120"/>
                        </a:rPr>
                        <a:t>Done</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Abstains when propensity is below 0.05</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935">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Naive / IPW / AIPW</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algn="ctr" indent="0" marL="0">
                        <a:lnSpc>
                          <a:spcPts val="1960"/>
                        </a:lnSpc>
                        <a:buNone/>
                      </a:pPr>
                      <a:r>
                        <a:rPr lang="en-US" sz="1400" dirty="0">
                          <a:solidFill>
                            <a:srgbClr val="002060"/>
                          </a:solidFill>
                          <a:latin typeface="Carlito" pitchFamily="34" charset="0"/>
                          <a:ea typeface="Carlito" pitchFamily="34" charset="-122"/>
                          <a:cs typeface="Carlito" pitchFamily="34" charset="-120"/>
                        </a:rPr>
                        <a:t>Done</a:t>
                      </a:r>
                      <a:endParaRPr lang="en-US" sz="14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estimators.py (plus matching); results table</a:t>
                      </a:r>
                      <a:endParaRPr lang="en-US" sz="14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383935">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DR-learner</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002060"/>
                          </a:solidFill>
                          <a:latin typeface="Carlito" pitchFamily="34" charset="0"/>
                          <a:ea typeface="Carlito" pitchFamily="34" charset="-122"/>
                          <a:cs typeface="Carlito" pitchFamily="34" charset="-120"/>
                        </a:rPr>
                        <a:t>Done</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Per-patient estimate with a 95% interval</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935">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Metrics; weight and low-sugar risk</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algn="ctr" indent="0" marL="0">
                        <a:lnSpc>
                          <a:spcPts val="1960"/>
                        </a:lnSpc>
                        <a:buNone/>
                      </a:pPr>
                      <a:r>
                        <a:rPr lang="en-US" sz="1400" dirty="0">
                          <a:solidFill>
                            <a:srgbClr val="002060"/>
                          </a:solidFill>
                          <a:latin typeface="Carlito" pitchFamily="34" charset="0"/>
                          <a:ea typeface="Carlito" pitchFamily="34" charset="-122"/>
                          <a:cs typeface="Carlito" pitchFamily="34" charset="-120"/>
                        </a:rPr>
                        <a:t>Done</a:t>
                      </a:r>
                      <a:endParaRPr lang="en-US" sz="14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Bias, RMSE, coverage, regret; weight and low-sugar risk</a:t>
                      </a:r>
                      <a:endParaRPr lang="en-US" sz="14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383935">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Benchmark</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002060"/>
                          </a:solidFill>
                          <a:latin typeface="Carlito" pitchFamily="34" charset="0"/>
                          <a:ea typeface="Carlito" pitchFamily="34" charset="-122"/>
                          <a:cs typeface="Carlito" pitchFamily="34" charset="-120"/>
                        </a:rPr>
                        <a:t>Done</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20 cohorts × 5,000 patients; refutation 9 of 9</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935">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Demo app and website</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algn="ctr" indent="0" marL="0">
                        <a:lnSpc>
                          <a:spcPts val="1960"/>
                        </a:lnSpc>
                        <a:buNone/>
                      </a:pPr>
                      <a:r>
                        <a:rPr lang="en-US" sz="1400" dirty="0">
                          <a:solidFill>
                            <a:srgbClr val="002060"/>
                          </a:solidFill>
                          <a:latin typeface="Carlito" pitchFamily="34" charset="0"/>
                          <a:ea typeface="Carlito" pitchFamily="34" charset="-122"/>
                          <a:cs typeface="Carlito" pitchFamily="34" charset="-120"/>
                        </a:rPr>
                        <a:t>Done</a:t>
                      </a:r>
                      <a:endParaRPr lang="en-US" sz="14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Streamlit; diacausal.netlify.app with accounts and MFA</a:t>
                      </a:r>
                      <a:endParaRPr lang="en-US" sz="14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383935">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API</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002060"/>
                          </a:solidFill>
                          <a:latin typeface="Carlito" pitchFamily="34" charset="0"/>
                          <a:ea typeface="Carlito" pitchFamily="34" charset="-122"/>
                          <a:cs typeface="Carlito" pitchFamily="34" charset="-120"/>
                        </a:rPr>
                        <a:t>Done</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POST /api/v1/recommend</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935">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Automated tests</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algn="ctr" indent="0" marL="0">
                        <a:lnSpc>
                          <a:spcPts val="1960"/>
                        </a:lnSpc>
                        <a:buNone/>
                      </a:pPr>
                      <a:r>
                        <a:rPr lang="en-US" sz="1400" dirty="0">
                          <a:solidFill>
                            <a:srgbClr val="002060"/>
                          </a:solidFill>
                          <a:latin typeface="Carlito" pitchFamily="34" charset="0"/>
                          <a:ea typeface="Carlito" pitchFamily="34" charset="-122"/>
                          <a:cs typeface="Carlito" pitchFamily="34" charset="-120"/>
                        </a:rPr>
                        <a:t>Done</a:t>
                      </a:r>
                      <a:endParaRPr lang="en-US" sz="14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150 engine, 33 RAG, 19 website; chat app 392 + 238</a:t>
                      </a:r>
                      <a:endParaRPr lang="en-US" sz="14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383935">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RAG pipeline</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002060"/>
                          </a:solidFill>
                          <a:latin typeface="Carlito" pitchFamily="34" charset="0"/>
                          <a:ea typeface="Carlito" pitchFamily="34" charset="-122"/>
                          <a:cs typeface="Carlito" pitchFamily="34" charset="-120"/>
                        </a:rPr>
                        <a:t>Done</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000000"/>
                          </a:solidFill>
                          <a:latin typeface="Carlito" pitchFamily="34" charset="0"/>
                          <a:ea typeface="Carlito" pitchFamily="34" charset="-122"/>
                          <a:cs typeface="Carlito" pitchFamily="34" charset="-120"/>
                        </a:rPr>
                        <a:t>WHO 2018 + 7 FDA notices; hybrid search; cited quoted answers</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1"/>
          <p:cNvSpPr/>
          <p:nvPr/>
        </p:nvSpPr>
        <p:spPr>
          <a:xfrm>
            <a:off x="444982" y="6300000"/>
            <a:ext cx="11302035" cy="256538"/>
          </a:xfrm>
          <a:prstGeom prst="rect">
            <a:avLst/>
          </a:prstGeom>
          <a:noFill/>
          <a:ln/>
        </p:spPr>
        <p:txBody>
          <a:bodyPr wrap="square" lIns="0" tIns="0" rIns="0" bIns="0" rtlCol="0" anchor="t">
            <a:normAutofit/>
          </a:bodyPr>
          <a:lstStyle/>
          <a:p>
            <a:pPr algn="ctr" indent="0" marL="0">
              <a:lnSpc>
                <a:spcPts val="1820"/>
              </a:lnSpc>
              <a:buNone/>
            </a:pPr>
            <a:r>
              <a:rPr lang="en-US" sz="1300" i="1" dirty="0">
                <a:solidFill>
                  <a:srgbClr val="595959"/>
                </a:solidFill>
                <a:latin typeface="Carlito" pitchFamily="34" charset="0"/>
                <a:ea typeface="Carlito" pitchFamily="34" charset="-122"/>
                <a:cs typeface="Carlito" pitchFamily="34" charset="-120"/>
              </a:rPr>
              <a:t>Causal engine v0.3.0 · RAG v1 · synthetic India-calibrated data only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Implementation – How the Code Works</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sp>
        <p:nvSpPr>
          <p:cNvPr id="5" name="Text 1"/>
          <p:cNvSpPr/>
          <p:nvPr/>
        </p:nvSpPr>
        <p:spPr>
          <a:xfrm>
            <a:off x="609575" y="1270000"/>
            <a:ext cx="11302035" cy="345463"/>
          </a:xfrm>
          <a:prstGeom prst="rect">
            <a:avLst/>
          </a:prstGeom>
          <a:noFill/>
          <a:ln/>
        </p:spPr>
        <p:txBody>
          <a:bodyPr wrap="square" lIns="0" tIns="0" rIns="0" bIns="0" rtlCol="0" anchor="t">
            <a:normAutofit/>
          </a:bodyPr>
          <a:lstStyle/>
          <a:p>
            <a:pPr algn="l" indent="0" marL="0">
              <a:lnSpc>
                <a:spcPts val="2520"/>
              </a:lnSpc>
              <a:buNone/>
            </a:pPr>
            <a:r>
              <a:rPr lang="en-US" sz="1800" b="1" u="sng" dirty="0">
                <a:solidFill>
                  <a:srgbClr val="002060"/>
                </a:solidFill>
                <a:latin typeface="Times New Roman" pitchFamily="34" charset="0"/>
                <a:ea typeface="Times New Roman" pitchFamily="34" charset="-122"/>
                <a:cs typeface="Times New Roman" pitchFamily="34" charset="-120"/>
              </a:rPr>
              <a:t>AIPW score (doubly robust) – estimators.py</a:t>
            </a:r>
            <a:endParaRPr lang="en-US" sz="1800" dirty="0"/>
          </a:p>
        </p:txBody>
      </p:sp>
      <p:sp>
        <p:nvSpPr>
          <p:cNvPr id="6" name="Shape 2"/>
          <p:cNvSpPr/>
          <p:nvPr/>
        </p:nvSpPr>
        <p:spPr>
          <a:xfrm>
            <a:off x="615925" y="1697980"/>
            <a:ext cx="10960150" cy="1179372"/>
          </a:xfrm>
          <a:prstGeom prst="rect">
            <a:avLst/>
          </a:prstGeom>
          <a:solidFill>
            <a:srgbClr val="F2F2F2"/>
          </a:solidFill>
          <a:ln w="12700">
            <a:solidFill>
              <a:srgbClr val="BFBFBF"/>
            </a:solidFill>
            <a:prstDash val="solid"/>
          </a:ln>
        </p:spPr>
      </p:sp>
      <p:sp>
        <p:nvSpPr>
          <p:cNvPr id="7" name="Text 3"/>
          <p:cNvSpPr/>
          <p:nvPr/>
        </p:nvSpPr>
        <p:spPr>
          <a:xfrm>
            <a:off x="797925" y="1841909"/>
            <a:ext cx="10914033" cy="238762"/>
          </a:xfrm>
          <a:prstGeom prst="rect">
            <a:avLst/>
          </a:prstGeom>
          <a:noFill/>
          <a:ln/>
        </p:spPr>
        <p:txBody>
          <a:bodyPr wrap="square" lIns="0" tIns="0" rIns="0" bIns="0" rtlCol="0" anchor="t">
            <a:normAutofit/>
          </a:bodyPr>
          <a:lstStyle/>
          <a:p>
            <a:pPr algn="l" indent="0" marL="0">
              <a:lnSpc>
                <a:spcPts val="1680"/>
              </a:lnSpc>
              <a:buNone/>
            </a:pPr>
            <a:r>
              <a:rPr lang="en-US" sz="1400" dirty="0">
                <a:solidFill>
                  <a:srgbClr val="000000"/>
                </a:solidFill>
                <a:latin typeface="Courier New" pitchFamily="34" charset="0"/>
                <a:ea typeface="Courier New" pitchFamily="34" charset="-122"/>
                <a:cs typeface="Courier New" pitchFamily="34" charset="-120"/>
              </a:rPr>
              <a:t>def aipw_scores(Y, T, e, mu):</a:t>
            </a:r>
            <a:endParaRPr lang="en-US" sz="1400" dirty="0"/>
          </a:p>
        </p:txBody>
      </p:sp>
      <p:sp>
        <p:nvSpPr>
          <p:cNvPr id="8" name="Text 4"/>
          <p:cNvSpPr/>
          <p:nvPr/>
        </p:nvSpPr>
        <p:spPr>
          <a:xfrm>
            <a:off x="797925" y="2067967"/>
            <a:ext cx="10914033" cy="238762"/>
          </a:xfrm>
          <a:prstGeom prst="rect">
            <a:avLst/>
          </a:prstGeom>
          <a:noFill/>
          <a:ln/>
        </p:spPr>
        <p:txBody>
          <a:bodyPr wrap="square" lIns="0" tIns="0" rIns="0" bIns="0" rtlCol="0" anchor="t">
            <a:normAutofit/>
          </a:bodyPr>
          <a:lstStyle/>
          <a:p>
            <a:pPr algn="l" indent="0" marL="0">
              <a:lnSpc>
                <a:spcPts val="1680"/>
              </a:lnSpc>
              <a:buNone/>
            </a:pPr>
            <a:r>
              <a:rPr lang="en-US" sz="1400" dirty="0">
                <a:solidFill>
                  <a:srgbClr val="000000"/>
                </a:solidFill>
                <a:latin typeface="Courier New" pitchFamily="34" charset="0"/>
                <a:ea typeface="Courier New" pitchFamily="34" charset="-122"/>
                <a:cs typeface="Courier New" pitchFamily="34" charset="-120"/>
              </a:rPr>
              <a:t>    # phi_a = mu_a(X) + 1{T=a} (Y - mu_a(X)) / e_a(X)</a:t>
            </a:r>
            <a:endParaRPr lang="en-US" sz="1400" dirty="0"/>
          </a:p>
        </p:txBody>
      </p:sp>
      <p:sp>
        <p:nvSpPr>
          <p:cNvPr id="9" name="Text 5"/>
          <p:cNvSpPr/>
          <p:nvPr/>
        </p:nvSpPr>
        <p:spPr>
          <a:xfrm>
            <a:off x="797925" y="2294012"/>
            <a:ext cx="10914033" cy="238762"/>
          </a:xfrm>
          <a:prstGeom prst="rect">
            <a:avLst/>
          </a:prstGeom>
          <a:noFill/>
          <a:ln/>
        </p:spPr>
        <p:txBody>
          <a:bodyPr wrap="square" lIns="0" tIns="0" rIns="0" bIns="0" rtlCol="0" anchor="t">
            <a:normAutofit/>
          </a:bodyPr>
          <a:lstStyle/>
          <a:p>
            <a:pPr algn="l" indent="0" marL="0">
              <a:lnSpc>
                <a:spcPts val="1680"/>
              </a:lnSpc>
              <a:buNone/>
            </a:pPr>
            <a:r>
              <a:rPr lang="en-US" sz="1400" dirty="0">
                <a:solidFill>
                  <a:srgbClr val="000000"/>
                </a:solidFill>
                <a:latin typeface="Courier New" pitchFamily="34" charset="0"/>
                <a:ea typeface="Courier New" pitchFamily="34" charset="-122"/>
                <a:cs typeface="Courier New" pitchFamily="34" charset="-120"/>
              </a:rPr>
              <a:t>    got = (T[:, None] == np.arange(len(ARMS))[None, :]).astype(float)</a:t>
            </a:r>
            <a:endParaRPr lang="en-US" sz="1400" dirty="0"/>
          </a:p>
        </p:txBody>
      </p:sp>
      <p:sp>
        <p:nvSpPr>
          <p:cNvPr id="10" name="Text 6"/>
          <p:cNvSpPr/>
          <p:nvPr/>
        </p:nvSpPr>
        <p:spPr>
          <a:xfrm>
            <a:off x="797925" y="2520069"/>
            <a:ext cx="10914033" cy="238762"/>
          </a:xfrm>
          <a:prstGeom prst="rect">
            <a:avLst/>
          </a:prstGeom>
          <a:noFill/>
          <a:ln/>
        </p:spPr>
        <p:txBody>
          <a:bodyPr wrap="square" lIns="0" tIns="0" rIns="0" bIns="0" rtlCol="0" anchor="t">
            <a:normAutofit/>
          </a:bodyPr>
          <a:lstStyle/>
          <a:p>
            <a:pPr algn="l" indent="0" marL="0">
              <a:lnSpc>
                <a:spcPts val="1680"/>
              </a:lnSpc>
              <a:buNone/>
            </a:pPr>
            <a:r>
              <a:rPr lang="en-US" sz="1400" dirty="0">
                <a:solidFill>
                  <a:srgbClr val="000000"/>
                </a:solidFill>
                <a:latin typeface="Courier New" pitchFamily="34" charset="0"/>
                <a:ea typeface="Courier New" pitchFamily="34" charset="-122"/>
                <a:cs typeface="Courier New" pitchFamily="34" charset="-120"/>
              </a:rPr>
              <a:t>    return mu + got * (Y[:, None] - mu) / e</a:t>
            </a:r>
            <a:endParaRPr lang="en-US" sz="1400" dirty="0"/>
          </a:p>
        </p:txBody>
      </p:sp>
      <p:sp>
        <p:nvSpPr>
          <p:cNvPr id="11" name="Text 7"/>
          <p:cNvSpPr/>
          <p:nvPr/>
        </p:nvSpPr>
        <p:spPr>
          <a:xfrm>
            <a:off x="609575" y="2985281"/>
            <a:ext cx="11302035" cy="345463"/>
          </a:xfrm>
          <a:prstGeom prst="rect">
            <a:avLst/>
          </a:prstGeom>
          <a:noFill/>
          <a:ln/>
        </p:spPr>
        <p:txBody>
          <a:bodyPr wrap="square" lIns="0" tIns="0" rIns="0" bIns="0" rtlCol="0" anchor="t">
            <a:normAutofit/>
          </a:bodyPr>
          <a:lstStyle/>
          <a:p>
            <a:pPr algn="l" indent="0" marL="0">
              <a:lnSpc>
                <a:spcPts val="2520"/>
              </a:lnSpc>
              <a:buNone/>
            </a:pPr>
            <a:r>
              <a:rPr lang="en-US" sz="1800" b="1" u="sng" dirty="0">
                <a:solidFill>
                  <a:srgbClr val="002060"/>
                </a:solidFill>
                <a:latin typeface="Times New Roman" pitchFamily="34" charset="0"/>
                <a:ea typeface="Times New Roman" pitchFamily="34" charset="-122"/>
                <a:cs typeface="Times New Roman" pitchFamily="34" charset="-120"/>
              </a:rPr>
              <a:t>DR-learner: this patient’s estimate with a 95% interval (condensed)</a:t>
            </a:r>
            <a:endParaRPr lang="en-US" sz="1800" dirty="0"/>
          </a:p>
        </p:txBody>
      </p:sp>
      <p:sp>
        <p:nvSpPr>
          <p:cNvPr id="12" name="Shape 8"/>
          <p:cNvSpPr/>
          <p:nvPr/>
        </p:nvSpPr>
        <p:spPr>
          <a:xfrm>
            <a:off x="615925" y="3413274"/>
            <a:ext cx="10960150" cy="1405425"/>
          </a:xfrm>
          <a:prstGeom prst="rect">
            <a:avLst/>
          </a:prstGeom>
          <a:solidFill>
            <a:srgbClr val="F2F2F2"/>
          </a:solidFill>
          <a:ln w="12700">
            <a:solidFill>
              <a:srgbClr val="BFBFBF"/>
            </a:solidFill>
            <a:prstDash val="solid"/>
          </a:ln>
        </p:spPr>
      </p:sp>
      <p:sp>
        <p:nvSpPr>
          <p:cNvPr id="13" name="Text 9"/>
          <p:cNvSpPr/>
          <p:nvPr/>
        </p:nvSpPr>
        <p:spPr>
          <a:xfrm>
            <a:off x="797925" y="3557191"/>
            <a:ext cx="10914033" cy="238762"/>
          </a:xfrm>
          <a:prstGeom prst="rect">
            <a:avLst/>
          </a:prstGeom>
          <a:noFill/>
          <a:ln/>
        </p:spPr>
        <p:txBody>
          <a:bodyPr wrap="square" lIns="0" tIns="0" rIns="0" bIns="0" rtlCol="0" anchor="t">
            <a:normAutofit/>
          </a:bodyPr>
          <a:lstStyle/>
          <a:p>
            <a:pPr algn="l" indent="0" marL="0">
              <a:lnSpc>
                <a:spcPts val="1680"/>
              </a:lnSpc>
              <a:buNone/>
            </a:pPr>
            <a:r>
              <a:rPr lang="en-US" sz="1400" dirty="0">
                <a:solidFill>
                  <a:srgbClr val="000000"/>
                </a:solidFill>
                <a:latin typeface="Courier New" pitchFamily="34" charset="0"/>
                <a:ea typeface="Courier New" pitchFamily="34" charset="-122"/>
                <a:cs typeface="Courier New" pitchFamily="34" charset="-120"/>
              </a:rPr>
              <a:t>bread = np.linalg.pinv(B.T @ B)</a:t>
            </a:r>
            <a:endParaRPr lang="en-US" sz="1400" dirty="0"/>
          </a:p>
        </p:txBody>
      </p:sp>
      <p:sp>
        <p:nvSpPr>
          <p:cNvPr id="14" name="Text 10"/>
          <p:cNvSpPr/>
          <p:nvPr/>
        </p:nvSpPr>
        <p:spPr>
          <a:xfrm>
            <a:off x="797925" y="3783248"/>
            <a:ext cx="10914033" cy="238762"/>
          </a:xfrm>
          <a:prstGeom prst="rect">
            <a:avLst/>
          </a:prstGeom>
          <a:noFill/>
          <a:ln/>
        </p:spPr>
        <p:txBody>
          <a:bodyPr wrap="square" lIns="0" tIns="0" rIns="0" bIns="0" rtlCol="0" anchor="t">
            <a:normAutofit/>
          </a:bodyPr>
          <a:lstStyle/>
          <a:p>
            <a:pPr algn="l" indent="0" marL="0">
              <a:lnSpc>
                <a:spcPts val="1680"/>
              </a:lnSpc>
              <a:buNone/>
            </a:pPr>
            <a:r>
              <a:rPr lang="en-US" sz="1400" dirty="0">
                <a:solidFill>
                  <a:srgbClr val="000000"/>
                </a:solidFill>
                <a:latin typeface="Courier New" pitchFamily="34" charset="0"/>
                <a:ea typeface="Courier New" pitchFamily="34" charset="-122"/>
                <a:cs typeface="Courier New" pitchFamily="34" charset="-120"/>
              </a:rPr>
              <a:t>self.beta_ = bread @ B.T @ pseudo                            # regress AIPW scores on details</a:t>
            </a:r>
            <a:endParaRPr lang="en-US" sz="1400" dirty="0"/>
          </a:p>
        </p:txBody>
      </p:sp>
      <p:sp>
        <p:nvSpPr>
          <p:cNvPr id="15" name="Text 11"/>
          <p:cNvSpPr/>
          <p:nvPr/>
        </p:nvSpPr>
        <p:spPr>
          <a:xfrm>
            <a:off x="797925" y="4009306"/>
            <a:ext cx="10914033" cy="238762"/>
          </a:xfrm>
          <a:prstGeom prst="rect">
            <a:avLst/>
          </a:prstGeom>
          <a:noFill/>
          <a:ln/>
        </p:spPr>
        <p:txBody>
          <a:bodyPr wrap="square" lIns="0" tIns="0" rIns="0" bIns="0" rtlCol="0" anchor="t">
            <a:normAutofit/>
          </a:bodyPr>
          <a:lstStyle/>
          <a:p>
            <a:pPr algn="l" indent="0" marL="0">
              <a:lnSpc>
                <a:spcPts val="1680"/>
              </a:lnSpc>
              <a:buNone/>
            </a:pPr>
            <a:r>
              <a:rPr lang="en-US" sz="1400" dirty="0">
                <a:solidFill>
                  <a:srgbClr val="000000"/>
                </a:solidFill>
                <a:latin typeface="Courier New" pitchFamily="34" charset="0"/>
                <a:ea typeface="Courier New" pitchFamily="34" charset="-122"/>
                <a:cs typeface="Courier New" pitchFamily="34" charset="-120"/>
              </a:rPr>
              <a:t>value = B @ self.beta_[:, k]                                 # this patient’s estimate</a:t>
            </a:r>
            <a:endParaRPr lang="en-US" sz="1400" dirty="0"/>
          </a:p>
        </p:txBody>
      </p:sp>
      <p:sp>
        <p:nvSpPr>
          <p:cNvPr id="16" name="Text 12"/>
          <p:cNvSpPr/>
          <p:nvPr/>
        </p:nvSpPr>
        <p:spPr>
          <a:xfrm>
            <a:off x="797925" y="4235351"/>
            <a:ext cx="10914033" cy="238762"/>
          </a:xfrm>
          <a:prstGeom prst="rect">
            <a:avLst/>
          </a:prstGeom>
          <a:noFill/>
          <a:ln/>
        </p:spPr>
        <p:txBody>
          <a:bodyPr wrap="square" lIns="0" tIns="0" rIns="0" bIns="0" rtlCol="0" anchor="t">
            <a:normAutofit/>
          </a:bodyPr>
          <a:lstStyle/>
          <a:p>
            <a:pPr algn="l" indent="0" marL="0">
              <a:lnSpc>
                <a:spcPts val="1680"/>
              </a:lnSpc>
              <a:buNone/>
            </a:pPr>
            <a:r>
              <a:rPr lang="en-US" sz="1400" dirty="0">
                <a:solidFill>
                  <a:srgbClr val="000000"/>
                </a:solidFill>
                <a:latin typeface="Courier New" pitchFamily="34" charset="0"/>
                <a:ea typeface="Courier New" pitchFamily="34" charset="-122"/>
                <a:cs typeface="Courier New" pitchFamily="34" charset="-120"/>
              </a:rPr>
              <a:t>se = np.sqrt(np.einsum("ij,jk,ik-&gt;i", B, self.cov_[k], B))   # HC3 SE</a:t>
            </a:r>
            <a:endParaRPr lang="en-US" sz="1400" dirty="0"/>
          </a:p>
        </p:txBody>
      </p:sp>
      <p:sp>
        <p:nvSpPr>
          <p:cNvPr id="17" name="Text 13"/>
          <p:cNvSpPr/>
          <p:nvPr/>
        </p:nvSpPr>
        <p:spPr>
          <a:xfrm>
            <a:off x="797925" y="4461408"/>
            <a:ext cx="10914033" cy="238762"/>
          </a:xfrm>
          <a:prstGeom prst="rect">
            <a:avLst/>
          </a:prstGeom>
          <a:noFill/>
          <a:ln/>
        </p:spPr>
        <p:txBody>
          <a:bodyPr wrap="square" lIns="0" tIns="0" rIns="0" bIns="0" rtlCol="0" anchor="t">
            <a:normAutofit/>
          </a:bodyPr>
          <a:lstStyle/>
          <a:p>
            <a:pPr algn="l" indent="0" marL="0">
              <a:lnSpc>
                <a:spcPts val="1680"/>
              </a:lnSpc>
              <a:buNone/>
            </a:pPr>
            <a:r>
              <a:rPr lang="en-US" sz="1400" dirty="0">
                <a:solidFill>
                  <a:srgbClr val="000000"/>
                </a:solidFill>
                <a:latin typeface="Courier New" pitchFamily="34" charset="0"/>
                <a:ea typeface="Courier New" pitchFamily="34" charset="-122"/>
                <a:cs typeface="Courier New" pitchFamily="34" charset="-120"/>
              </a:rPr>
              <a:t>low, high = value - z * se, value + z * se                   # z = 1.96</a:t>
            </a:r>
            <a:endParaRPr lang="en-US" sz="1400" dirty="0"/>
          </a:p>
        </p:txBody>
      </p:sp>
      <p:sp>
        <p:nvSpPr>
          <p:cNvPr id="18" name="Text 14"/>
          <p:cNvSpPr/>
          <p:nvPr/>
        </p:nvSpPr>
        <p:spPr>
          <a:xfrm>
            <a:off x="609575" y="4926620"/>
            <a:ext cx="11302035" cy="665526"/>
          </a:xfrm>
          <a:prstGeom prst="rect">
            <a:avLst/>
          </a:prstGeom>
          <a:noFill/>
          <a:ln/>
        </p:spPr>
        <p:txBody>
          <a:bodyPr wrap="square" lIns="0" tIns="0" rIns="0" bIns="0" rtlCol="0" anchor="t">
            <a:normAutofit/>
          </a:bodyPr>
          <a:lstStyle/>
          <a:p>
            <a:pPr algn="l" marL="274320" indent="-197866">
              <a:lnSpc>
                <a:spcPts val="2520"/>
              </a:lnSpc>
              <a:buSzPct val="100000"/>
              <a:buChar char="•"/>
            </a:pPr>
            <a:r>
              <a:rPr lang="en-US" sz="1800" b="1" dirty="0">
                <a:solidFill>
                  <a:srgbClr val="000000"/>
                </a:solidFill>
                <a:latin typeface="Carlito" pitchFamily="34" charset="0"/>
                <a:ea typeface="Carlito" pitchFamily="34" charset="-122"/>
                <a:cs typeface="Carlito" pitchFamily="34" charset="-120"/>
              </a:rPr>
              <a:t>Safety thresholds live only in rules.csv</a:t>
            </a:r>
            <a:r>
              <a:rPr lang="en-US" sz="1800" dirty="0">
                <a:solidFill>
                  <a:srgbClr val="000000"/>
                </a:solidFill>
                <a:latin typeface="Carlito" pitchFamily="34" charset="0"/>
                <a:ea typeface="Carlito" pitchFamily="34" charset="-122"/>
                <a:cs typeface="Carlito" pitchFamily="34" charset="-120"/>
              </a:rPr>
              <a:t>, each with a source</a:t>
            </a:r>
            <a:endParaRPr lang="en-US" sz="1800" dirty="0"/>
          </a:p>
          <a:p>
            <a:pPr algn="l" marL="274320" indent="-197866">
              <a:lnSpc>
                <a:spcPts val="2520"/>
              </a:lnSpc>
              <a:buSzPct val="100000"/>
              <a:buChar char="•"/>
            </a:pPr>
            <a:r>
              <a:rPr lang="en-US" sz="1800" b="1" dirty="0">
                <a:solidFill>
                  <a:srgbClr val="000000"/>
                </a:solidFill>
                <a:latin typeface="Carlito" pitchFamily="34" charset="0"/>
                <a:ea typeface="Carlito" pitchFamily="34" charset="-122"/>
                <a:cs typeface="Carlito" pitchFamily="34" charset="-120"/>
              </a:rPr>
              <a:t>Output check</a:t>
            </a:r>
            <a:r>
              <a:rPr lang="en-US" sz="1800" dirty="0">
                <a:solidFill>
                  <a:srgbClr val="000000"/>
                </a:solidFill>
                <a:latin typeface="Carlito" pitchFamily="34" charset="0"/>
                <a:ea typeface="Carlito" pitchFamily="34" charset="-122"/>
                <a:cs typeface="Carlito" pitchFamily="34" charset="-120"/>
              </a:rPr>
              <a:t> refuses any dose, or an estimate without its 95% range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Initial Results – Accuracy</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sp>
        <p:nvSpPr>
          <p:cNvPr id="5" name="Text 1"/>
          <p:cNvSpPr/>
          <p:nvPr/>
        </p:nvSpPr>
        <p:spPr>
          <a:xfrm>
            <a:off x="523469" y="1257263"/>
            <a:ext cx="5912595" cy="256538"/>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002060"/>
                </a:solidFill>
                <a:latin typeface="Carlito" pitchFamily="34" charset="0"/>
                <a:ea typeface="Carlito" pitchFamily="34" charset="-122"/>
                <a:cs typeface="Carlito" pitchFamily="34" charset="-120"/>
              </a:rPr>
              <a:t>Bias vs truth: SGLT2i minus DPP-4i (HbA1c points)</a:t>
            </a:r>
            <a:endParaRPr lang="en-US" sz="1300" dirty="0"/>
          </a:p>
        </p:txBody>
      </p:sp>
      <p:pic>
        <p:nvPicPr>
          <p:cNvPr id="6" name="Image 2" descr="connector">    </p:cNvPr>
          <p:cNvPicPr>
            <a:picLocks noChangeAspect="1"/>
          </p:cNvPicPr>
          <p:nvPr/>
        </p:nvPicPr>
        <p:blipFill>
          <a:blip r:embed="rId3"/>
          <a:srcRect l="-5" r="-5" t="0" b="0"/>
          <a:stretch/>
        </p:blipFill>
        <p:spPr>
          <a:xfrm>
            <a:off x="1231883" y="1676375"/>
            <a:ext cx="5156191" cy="76192"/>
          </a:xfrm>
          <a:prstGeom prst="rect">
            <a:avLst/>
          </a:prstGeom>
        </p:spPr>
      </p:pic>
      <p:pic>
        <p:nvPicPr>
          <p:cNvPr id="7" name="Image 3" descr="connector">    </p:cNvPr>
          <p:cNvPicPr>
            <a:picLocks noChangeAspect="1"/>
          </p:cNvPicPr>
          <p:nvPr/>
        </p:nvPicPr>
        <p:blipFill>
          <a:blip r:embed="rId4"/>
          <a:srcRect l="-5" r="-5" t="0" b="0"/>
          <a:stretch/>
        </p:blipFill>
        <p:spPr>
          <a:xfrm>
            <a:off x="1231883" y="2946375"/>
            <a:ext cx="5156191" cy="76192"/>
          </a:xfrm>
          <a:prstGeom prst="rect">
            <a:avLst/>
          </a:prstGeom>
        </p:spPr>
      </p:pic>
      <p:pic>
        <p:nvPicPr>
          <p:cNvPr id="8" name="Image 4" descr="connector">    </p:cNvPr>
          <p:cNvPicPr>
            <a:picLocks noChangeAspect="1"/>
          </p:cNvPicPr>
          <p:nvPr/>
        </p:nvPicPr>
        <p:blipFill>
          <a:blip r:embed="rId5"/>
          <a:srcRect l="-5" r="-5" t="0" b="0"/>
          <a:stretch/>
        </p:blipFill>
        <p:spPr>
          <a:xfrm>
            <a:off x="1231883" y="3581375"/>
            <a:ext cx="5156191" cy="76192"/>
          </a:xfrm>
          <a:prstGeom prst="rect">
            <a:avLst/>
          </a:prstGeom>
        </p:spPr>
      </p:pic>
      <p:pic>
        <p:nvPicPr>
          <p:cNvPr id="9" name="Image 5" descr="connector">    </p:cNvPr>
          <p:cNvPicPr>
            <a:picLocks noChangeAspect="1"/>
          </p:cNvPicPr>
          <p:nvPr/>
        </p:nvPicPr>
        <p:blipFill>
          <a:blip r:embed="rId6"/>
          <a:srcRect l="-5" r="-5" t="0" b="0"/>
          <a:stretch/>
        </p:blipFill>
        <p:spPr>
          <a:xfrm>
            <a:off x="1231883" y="4216375"/>
            <a:ext cx="5156191" cy="76192"/>
          </a:xfrm>
          <a:prstGeom prst="rect">
            <a:avLst/>
          </a:prstGeom>
        </p:spPr>
      </p:pic>
      <p:pic>
        <p:nvPicPr>
          <p:cNvPr id="10" name="Image 6" descr="connector">    </p:cNvPr>
          <p:cNvPicPr>
            <a:picLocks noChangeAspect="1"/>
          </p:cNvPicPr>
          <p:nvPr/>
        </p:nvPicPr>
        <p:blipFill>
          <a:blip r:embed="rId7"/>
          <a:srcRect l="-5" r="-5" t="0" b="0"/>
          <a:stretch/>
        </p:blipFill>
        <p:spPr>
          <a:xfrm>
            <a:off x="1231883" y="4851375"/>
            <a:ext cx="5156191" cy="76192"/>
          </a:xfrm>
          <a:prstGeom prst="rect">
            <a:avLst/>
          </a:prstGeom>
        </p:spPr>
      </p:pic>
      <p:sp>
        <p:nvSpPr>
          <p:cNvPr id="11" name="Text 2"/>
          <p:cNvSpPr/>
          <p:nvPr/>
        </p:nvSpPr>
        <p:spPr>
          <a:xfrm>
            <a:off x="558775" y="1619250"/>
            <a:ext cx="64768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Carlito" pitchFamily="34" charset="0"/>
                <a:ea typeface="Carlito" pitchFamily="34" charset="-122"/>
                <a:cs typeface="Carlito" pitchFamily="34" charset="-120"/>
              </a:rPr>
              <a:t>0.05</a:t>
            </a:r>
            <a:endParaRPr lang="en-US" sz="1200" dirty="0"/>
          </a:p>
        </p:txBody>
      </p:sp>
      <p:sp>
        <p:nvSpPr>
          <p:cNvPr id="12" name="Text 3"/>
          <p:cNvSpPr/>
          <p:nvPr/>
        </p:nvSpPr>
        <p:spPr>
          <a:xfrm>
            <a:off x="558775" y="2254250"/>
            <a:ext cx="64768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Carlito" pitchFamily="34" charset="0"/>
                <a:ea typeface="Carlito" pitchFamily="34" charset="-122"/>
                <a:cs typeface="Carlito" pitchFamily="34" charset="-120"/>
              </a:rPr>
              <a:t>0.00</a:t>
            </a:r>
            <a:endParaRPr lang="en-US" sz="1200" dirty="0"/>
          </a:p>
        </p:txBody>
      </p:sp>
      <p:sp>
        <p:nvSpPr>
          <p:cNvPr id="13" name="Text 4"/>
          <p:cNvSpPr/>
          <p:nvPr/>
        </p:nvSpPr>
        <p:spPr>
          <a:xfrm>
            <a:off x="558775" y="2889250"/>
            <a:ext cx="64768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Carlito" pitchFamily="34" charset="0"/>
                <a:ea typeface="Carlito" pitchFamily="34" charset="-122"/>
                <a:cs typeface="Carlito" pitchFamily="34" charset="-120"/>
              </a:rPr>
              <a:t>−0.05</a:t>
            </a:r>
            <a:endParaRPr lang="en-US" sz="1200" dirty="0"/>
          </a:p>
        </p:txBody>
      </p:sp>
      <p:sp>
        <p:nvSpPr>
          <p:cNvPr id="14" name="Text 5"/>
          <p:cNvSpPr/>
          <p:nvPr/>
        </p:nvSpPr>
        <p:spPr>
          <a:xfrm>
            <a:off x="558775" y="3524250"/>
            <a:ext cx="64768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Carlito" pitchFamily="34" charset="0"/>
                <a:ea typeface="Carlito" pitchFamily="34" charset="-122"/>
                <a:cs typeface="Carlito" pitchFamily="34" charset="-120"/>
              </a:rPr>
              <a:t>−0.10</a:t>
            </a:r>
            <a:endParaRPr lang="en-US" sz="1200" dirty="0"/>
          </a:p>
        </p:txBody>
      </p:sp>
      <p:sp>
        <p:nvSpPr>
          <p:cNvPr id="15" name="Text 6"/>
          <p:cNvSpPr/>
          <p:nvPr/>
        </p:nvSpPr>
        <p:spPr>
          <a:xfrm>
            <a:off x="558775" y="4159250"/>
            <a:ext cx="64768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Carlito" pitchFamily="34" charset="0"/>
                <a:ea typeface="Carlito" pitchFamily="34" charset="-122"/>
                <a:cs typeface="Carlito" pitchFamily="34" charset="-120"/>
              </a:rPr>
              <a:t>−0.15</a:t>
            </a:r>
            <a:endParaRPr lang="en-US" sz="1200" dirty="0"/>
          </a:p>
        </p:txBody>
      </p:sp>
      <p:sp>
        <p:nvSpPr>
          <p:cNvPr id="16" name="Text 7"/>
          <p:cNvSpPr/>
          <p:nvPr/>
        </p:nvSpPr>
        <p:spPr>
          <a:xfrm>
            <a:off x="558775" y="4794250"/>
            <a:ext cx="64768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5959"/>
                </a:solidFill>
                <a:latin typeface="Carlito" pitchFamily="34" charset="0"/>
                <a:ea typeface="Carlito" pitchFamily="34" charset="-122"/>
                <a:cs typeface="Carlito" pitchFamily="34" charset="-120"/>
              </a:rPr>
              <a:t>−0.20</a:t>
            </a:r>
            <a:endParaRPr lang="en-US" sz="1200" dirty="0"/>
          </a:p>
        </p:txBody>
      </p:sp>
      <p:sp>
        <p:nvSpPr>
          <p:cNvPr id="17" name="Shape 8"/>
          <p:cNvSpPr/>
          <p:nvPr/>
        </p:nvSpPr>
        <p:spPr>
          <a:xfrm>
            <a:off x="1555750" y="2349500"/>
            <a:ext cx="698500" cy="2019267"/>
          </a:xfrm>
          <a:prstGeom prst="rect">
            <a:avLst/>
          </a:prstGeom>
          <a:solidFill>
            <a:srgbClr val="7F7F7F"/>
          </a:solidFill>
          <a:ln/>
        </p:spPr>
      </p:sp>
      <p:sp>
        <p:nvSpPr>
          <p:cNvPr id="18" name="Shape 9"/>
          <p:cNvSpPr/>
          <p:nvPr/>
        </p:nvSpPr>
        <p:spPr>
          <a:xfrm>
            <a:off x="2825750" y="2330438"/>
            <a:ext cx="698500" cy="19017"/>
          </a:xfrm>
          <a:prstGeom prst="rect">
            <a:avLst/>
          </a:prstGeom>
          <a:solidFill>
            <a:srgbClr val="002060"/>
          </a:solidFill>
          <a:ln/>
        </p:spPr>
      </p:sp>
      <p:sp>
        <p:nvSpPr>
          <p:cNvPr id="19" name="Shape 10"/>
          <p:cNvSpPr/>
          <p:nvPr/>
        </p:nvSpPr>
        <p:spPr>
          <a:xfrm>
            <a:off x="4095750" y="2349500"/>
            <a:ext cx="698500" cy="25383"/>
          </a:xfrm>
          <a:prstGeom prst="rect">
            <a:avLst/>
          </a:prstGeom>
          <a:solidFill>
            <a:srgbClr val="002060"/>
          </a:solidFill>
          <a:ln/>
        </p:spPr>
      </p:sp>
      <p:sp>
        <p:nvSpPr>
          <p:cNvPr id="20" name="Shape 11"/>
          <p:cNvSpPr/>
          <p:nvPr/>
        </p:nvSpPr>
        <p:spPr>
          <a:xfrm>
            <a:off x="5365750" y="2324075"/>
            <a:ext cx="698500" cy="25383"/>
          </a:xfrm>
          <a:prstGeom prst="rect">
            <a:avLst/>
          </a:prstGeom>
          <a:solidFill>
            <a:srgbClr val="002060"/>
          </a:solidFill>
          <a:ln/>
        </p:spPr>
      </p:sp>
      <p:pic>
        <p:nvPicPr>
          <p:cNvPr id="21" name="Image 7" descr="connector">    </p:cNvPr>
          <p:cNvPicPr>
            <a:picLocks noChangeAspect="1"/>
          </p:cNvPicPr>
          <p:nvPr/>
        </p:nvPicPr>
        <p:blipFill>
          <a:blip r:embed="rId8"/>
          <a:srcRect l="-5" r="-5" t="0" b="0"/>
          <a:stretch/>
        </p:blipFill>
        <p:spPr>
          <a:xfrm>
            <a:off x="1231883" y="2311375"/>
            <a:ext cx="5156191" cy="76192"/>
          </a:xfrm>
          <a:prstGeom prst="rect">
            <a:avLst/>
          </a:prstGeom>
        </p:spPr>
      </p:pic>
      <p:sp>
        <p:nvSpPr>
          <p:cNvPr id="22" name="Text 12"/>
          <p:cNvSpPr/>
          <p:nvPr/>
        </p:nvSpPr>
        <p:spPr>
          <a:xfrm>
            <a:off x="1371600" y="4419575"/>
            <a:ext cx="1066800" cy="256538"/>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00000"/>
                </a:solidFill>
                <a:latin typeface="Carlito" pitchFamily="34" charset="0"/>
                <a:ea typeface="Carlito" pitchFamily="34" charset="-122"/>
                <a:cs typeface="Carlito" pitchFamily="34" charset="-120"/>
              </a:rPr>
              <a:t>−0.159</a:t>
            </a:r>
            <a:endParaRPr lang="en-US" sz="1300" dirty="0"/>
          </a:p>
        </p:txBody>
      </p:sp>
      <p:sp>
        <p:nvSpPr>
          <p:cNvPr id="23" name="Text 13"/>
          <p:cNvSpPr/>
          <p:nvPr/>
        </p:nvSpPr>
        <p:spPr>
          <a:xfrm>
            <a:off x="2641600" y="2070075"/>
            <a:ext cx="1066800" cy="256538"/>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02060"/>
                </a:solidFill>
                <a:latin typeface="Carlito" pitchFamily="34" charset="0"/>
                <a:ea typeface="Carlito" pitchFamily="34" charset="-122"/>
                <a:cs typeface="Carlito" pitchFamily="34" charset="-120"/>
              </a:rPr>
              <a:t>+0.001</a:t>
            </a:r>
            <a:endParaRPr lang="en-US" sz="1300" dirty="0"/>
          </a:p>
        </p:txBody>
      </p:sp>
      <p:sp>
        <p:nvSpPr>
          <p:cNvPr id="24" name="Text 14"/>
          <p:cNvSpPr/>
          <p:nvPr/>
        </p:nvSpPr>
        <p:spPr>
          <a:xfrm>
            <a:off x="3911600" y="2425688"/>
            <a:ext cx="1066800" cy="256538"/>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02060"/>
                </a:solidFill>
                <a:latin typeface="Carlito" pitchFamily="34" charset="0"/>
                <a:ea typeface="Carlito" pitchFamily="34" charset="-122"/>
                <a:cs typeface="Carlito" pitchFamily="34" charset="-120"/>
              </a:rPr>
              <a:t>−0.002</a:t>
            </a:r>
            <a:endParaRPr lang="en-US" sz="1300" dirty="0"/>
          </a:p>
        </p:txBody>
      </p:sp>
      <p:sp>
        <p:nvSpPr>
          <p:cNvPr id="25" name="Text 15"/>
          <p:cNvSpPr/>
          <p:nvPr/>
        </p:nvSpPr>
        <p:spPr>
          <a:xfrm>
            <a:off x="5181600" y="2070075"/>
            <a:ext cx="1066800" cy="256538"/>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002060"/>
                </a:solidFill>
                <a:latin typeface="Carlito" pitchFamily="34" charset="0"/>
                <a:ea typeface="Carlito" pitchFamily="34" charset="-122"/>
                <a:cs typeface="Carlito" pitchFamily="34" charset="-120"/>
              </a:rPr>
              <a:t>+0.002</a:t>
            </a:r>
            <a:endParaRPr lang="en-US" sz="1300" dirty="0"/>
          </a:p>
        </p:txBody>
      </p:sp>
      <p:sp>
        <p:nvSpPr>
          <p:cNvPr id="26" name="Text 16"/>
          <p:cNvSpPr/>
          <p:nvPr/>
        </p:nvSpPr>
        <p:spPr>
          <a:xfrm>
            <a:off x="1371600" y="4991075"/>
            <a:ext cx="1066800" cy="274315"/>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000000"/>
                </a:solidFill>
                <a:latin typeface="Carlito" pitchFamily="34" charset="0"/>
                <a:ea typeface="Carlito" pitchFamily="34" charset="-122"/>
                <a:cs typeface="Carlito" pitchFamily="34" charset="-120"/>
              </a:rPr>
              <a:t>Naive</a:t>
            </a:r>
            <a:endParaRPr lang="en-US" sz="1400" dirty="0"/>
          </a:p>
        </p:txBody>
      </p:sp>
      <p:sp>
        <p:nvSpPr>
          <p:cNvPr id="27" name="Text 17"/>
          <p:cNvSpPr/>
          <p:nvPr/>
        </p:nvSpPr>
        <p:spPr>
          <a:xfrm>
            <a:off x="2641600" y="4991075"/>
            <a:ext cx="1066800" cy="274315"/>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000000"/>
                </a:solidFill>
                <a:latin typeface="Carlito" pitchFamily="34" charset="0"/>
                <a:ea typeface="Carlito" pitchFamily="34" charset="-122"/>
                <a:cs typeface="Carlito" pitchFamily="34" charset="-120"/>
              </a:rPr>
              <a:t>IPW</a:t>
            </a:r>
            <a:endParaRPr lang="en-US" sz="1400" dirty="0"/>
          </a:p>
        </p:txBody>
      </p:sp>
      <p:sp>
        <p:nvSpPr>
          <p:cNvPr id="28" name="Text 18"/>
          <p:cNvSpPr/>
          <p:nvPr/>
        </p:nvSpPr>
        <p:spPr>
          <a:xfrm>
            <a:off x="3911600" y="4991075"/>
            <a:ext cx="1066800" cy="274315"/>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000000"/>
                </a:solidFill>
                <a:latin typeface="Carlito" pitchFamily="34" charset="0"/>
                <a:ea typeface="Carlito" pitchFamily="34" charset="-122"/>
                <a:cs typeface="Carlito" pitchFamily="34" charset="-120"/>
              </a:rPr>
              <a:t>Matching</a:t>
            </a:r>
            <a:endParaRPr lang="en-US" sz="1400" dirty="0"/>
          </a:p>
        </p:txBody>
      </p:sp>
      <p:sp>
        <p:nvSpPr>
          <p:cNvPr id="29" name="Text 19"/>
          <p:cNvSpPr/>
          <p:nvPr/>
        </p:nvSpPr>
        <p:spPr>
          <a:xfrm>
            <a:off x="5181600" y="4991075"/>
            <a:ext cx="1066800" cy="274315"/>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000000"/>
                </a:solidFill>
                <a:latin typeface="Carlito" pitchFamily="34" charset="0"/>
                <a:ea typeface="Carlito" pitchFamily="34" charset="-122"/>
                <a:cs typeface="Carlito" pitchFamily="34" charset="-120"/>
              </a:rPr>
              <a:t>AIPW</a:t>
            </a:r>
            <a:endParaRPr lang="en-US" sz="1400" dirty="0"/>
          </a:p>
        </p:txBody>
      </p:sp>
      <p:sp>
        <p:nvSpPr>
          <p:cNvPr id="30" name="Shape 20"/>
          <p:cNvSpPr/>
          <p:nvPr/>
        </p:nvSpPr>
        <p:spPr>
          <a:xfrm>
            <a:off x="6858000" y="1301750"/>
            <a:ext cx="4724383" cy="889000"/>
          </a:xfrm>
          <a:prstGeom prst="rect">
            <a:avLst/>
          </a:prstGeom>
          <a:solidFill>
            <a:srgbClr val="E9EEF6"/>
          </a:solidFill>
          <a:ln/>
        </p:spPr>
      </p:sp>
      <p:sp>
        <p:nvSpPr>
          <p:cNvPr id="31" name="Text 21"/>
          <p:cNvSpPr/>
          <p:nvPr/>
        </p:nvSpPr>
        <p:spPr>
          <a:xfrm>
            <a:off x="7035767" y="1427510"/>
            <a:ext cx="4499915" cy="388582"/>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002060"/>
                </a:solidFill>
                <a:latin typeface="Carlito" pitchFamily="34" charset="0"/>
                <a:ea typeface="Carlito" pitchFamily="34" charset="-122"/>
                <a:cs typeface="Carlito" pitchFamily="34" charset="-120"/>
              </a:rPr>
              <a:t>−0.159 → +0.002</a:t>
            </a:r>
            <a:endParaRPr lang="en-US" sz="2600" dirty="0"/>
          </a:p>
        </p:txBody>
      </p:sp>
      <p:sp>
        <p:nvSpPr>
          <p:cNvPr id="32" name="Text 22"/>
          <p:cNvSpPr/>
          <p:nvPr/>
        </p:nvSpPr>
        <p:spPr>
          <a:xfrm>
            <a:off x="7035767" y="1816075"/>
            <a:ext cx="4499915"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Carlito" pitchFamily="34" charset="0"/>
                <a:ea typeface="Carlito" pitchFamily="34" charset="-122"/>
                <a:cs typeface="Carlito" pitchFamily="34" charset="-120"/>
              </a:rPr>
              <a:t>Bias: naive → AIPW</a:t>
            </a:r>
            <a:endParaRPr lang="en-US" sz="1400" dirty="0"/>
          </a:p>
        </p:txBody>
      </p:sp>
      <p:sp>
        <p:nvSpPr>
          <p:cNvPr id="33" name="Shape 23"/>
          <p:cNvSpPr/>
          <p:nvPr/>
        </p:nvSpPr>
        <p:spPr>
          <a:xfrm>
            <a:off x="6858000" y="2330438"/>
            <a:ext cx="4724383" cy="889000"/>
          </a:xfrm>
          <a:prstGeom prst="rect">
            <a:avLst/>
          </a:prstGeom>
          <a:solidFill>
            <a:srgbClr val="E9EEF6"/>
          </a:solidFill>
          <a:ln/>
        </p:spPr>
      </p:sp>
      <p:sp>
        <p:nvSpPr>
          <p:cNvPr id="34" name="Text 24"/>
          <p:cNvSpPr/>
          <p:nvPr/>
        </p:nvSpPr>
        <p:spPr>
          <a:xfrm>
            <a:off x="7035767" y="2456197"/>
            <a:ext cx="4499915" cy="388582"/>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002060"/>
                </a:solidFill>
                <a:latin typeface="Carlito" pitchFamily="34" charset="0"/>
                <a:ea typeface="Carlito" pitchFamily="34" charset="-122"/>
                <a:cs typeface="Carlito" pitchFamily="34" charset="-120"/>
              </a:rPr>
              <a:t>90–95%</a:t>
            </a:r>
            <a:endParaRPr lang="en-US" sz="2600" dirty="0"/>
          </a:p>
        </p:txBody>
      </p:sp>
      <p:sp>
        <p:nvSpPr>
          <p:cNvPr id="35" name="Text 25"/>
          <p:cNvSpPr/>
          <p:nvPr/>
        </p:nvSpPr>
        <p:spPr>
          <a:xfrm>
            <a:off x="7035767" y="2844763"/>
            <a:ext cx="4499915"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Carlito" pitchFamily="34" charset="0"/>
                <a:ea typeface="Carlito" pitchFamily="34" charset="-122"/>
                <a:cs typeface="Carlito" pitchFamily="34" charset="-120"/>
              </a:rPr>
              <a:t>AIPW 95% interval coverage</a:t>
            </a:r>
            <a:endParaRPr lang="en-US" sz="1400" dirty="0"/>
          </a:p>
        </p:txBody>
      </p:sp>
      <p:sp>
        <p:nvSpPr>
          <p:cNvPr id="36" name="Shape 26"/>
          <p:cNvSpPr/>
          <p:nvPr/>
        </p:nvSpPr>
        <p:spPr>
          <a:xfrm>
            <a:off x="6858000" y="3359125"/>
            <a:ext cx="4724383" cy="889000"/>
          </a:xfrm>
          <a:prstGeom prst="rect">
            <a:avLst/>
          </a:prstGeom>
          <a:solidFill>
            <a:srgbClr val="E9EEF6"/>
          </a:solidFill>
          <a:ln/>
        </p:spPr>
      </p:sp>
      <p:sp>
        <p:nvSpPr>
          <p:cNvPr id="37" name="Text 27"/>
          <p:cNvSpPr/>
          <p:nvPr/>
        </p:nvSpPr>
        <p:spPr>
          <a:xfrm>
            <a:off x="7035767" y="3484885"/>
            <a:ext cx="4499915" cy="388582"/>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002060"/>
                </a:solidFill>
                <a:latin typeface="Carlito" pitchFamily="34" charset="0"/>
                <a:ea typeface="Carlito" pitchFamily="34" charset="-122"/>
                <a:cs typeface="Carlito" pitchFamily="34" charset="-120"/>
              </a:rPr>
              <a:t>92.7–94.7%</a:t>
            </a:r>
            <a:endParaRPr lang="en-US" sz="2600" dirty="0"/>
          </a:p>
        </p:txBody>
      </p:sp>
      <p:sp>
        <p:nvSpPr>
          <p:cNvPr id="38" name="Text 28"/>
          <p:cNvSpPr/>
          <p:nvPr/>
        </p:nvSpPr>
        <p:spPr>
          <a:xfrm>
            <a:off x="7035767" y="3873450"/>
            <a:ext cx="4499915"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Carlito" pitchFamily="34" charset="0"/>
                <a:ea typeface="Carlito" pitchFamily="34" charset="-122"/>
                <a:cs typeface="Carlito" pitchFamily="34" charset="-120"/>
              </a:rPr>
              <a:t>DR-learner per-patient coverage</a:t>
            </a:r>
            <a:endParaRPr lang="en-US" sz="1400" dirty="0"/>
          </a:p>
        </p:txBody>
      </p:sp>
      <p:sp>
        <p:nvSpPr>
          <p:cNvPr id="39" name="Shape 29"/>
          <p:cNvSpPr/>
          <p:nvPr/>
        </p:nvSpPr>
        <p:spPr>
          <a:xfrm>
            <a:off x="6858000" y="4387825"/>
            <a:ext cx="4724383" cy="889000"/>
          </a:xfrm>
          <a:prstGeom prst="rect">
            <a:avLst/>
          </a:prstGeom>
          <a:solidFill>
            <a:srgbClr val="E9EEF6"/>
          </a:solidFill>
          <a:ln/>
        </p:spPr>
      </p:sp>
      <p:sp>
        <p:nvSpPr>
          <p:cNvPr id="40" name="Text 30"/>
          <p:cNvSpPr/>
          <p:nvPr/>
        </p:nvSpPr>
        <p:spPr>
          <a:xfrm>
            <a:off x="7035767" y="4513585"/>
            <a:ext cx="4499915" cy="388582"/>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002060"/>
                </a:solidFill>
                <a:latin typeface="Carlito" pitchFamily="34" charset="0"/>
                <a:ea typeface="Carlito" pitchFamily="34" charset="-122"/>
                <a:cs typeface="Carlito" pitchFamily="34" charset="-120"/>
              </a:rPr>
              <a:t>0.011</a:t>
            </a:r>
            <a:endParaRPr lang="en-US" sz="2600" dirty="0"/>
          </a:p>
        </p:txBody>
      </p:sp>
      <p:sp>
        <p:nvSpPr>
          <p:cNvPr id="41" name="Text 31"/>
          <p:cNvSpPr/>
          <p:nvPr/>
        </p:nvSpPr>
        <p:spPr>
          <a:xfrm>
            <a:off x="7035767" y="4902150"/>
            <a:ext cx="4499915" cy="274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Carlito" pitchFamily="34" charset="0"/>
                <a:ea typeface="Carlito" pitchFamily="34" charset="-122"/>
                <a:cs typeface="Carlito" pitchFamily="34" charset="-120"/>
              </a:rPr>
              <a:t>Policy regret (naive: 0.062)</a:t>
            </a:r>
            <a:endParaRPr lang="en-US" sz="1400" dirty="0"/>
          </a:p>
        </p:txBody>
      </p:sp>
      <p:sp>
        <p:nvSpPr>
          <p:cNvPr id="42" name="Text 32"/>
          <p:cNvSpPr/>
          <p:nvPr/>
        </p:nvSpPr>
        <p:spPr>
          <a:xfrm>
            <a:off x="609575" y="5499075"/>
            <a:ext cx="11301950" cy="520667"/>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00000"/>
                </a:solidFill>
                <a:latin typeface="Carlito" pitchFamily="34" charset="0"/>
                <a:ea typeface="Carlito" pitchFamily="34" charset="-122"/>
                <a:cs typeface="Carlito" pitchFamily="34" charset="-120"/>
              </a:rPr>
              <a:t>20 synthetic India-calibrated cohorts × 5,000 patients</a:t>
            </a:r>
            <a:r>
              <a:rPr lang="en-US" sz="1500" dirty="0">
                <a:solidFill>
                  <a:srgbClr val="000000"/>
                </a:solidFill>
                <a:latin typeface="Carlito" pitchFamily="34" charset="0"/>
                <a:ea typeface="Carlito" pitchFamily="34" charset="-122"/>
                <a:cs typeface="Carlito" pitchFamily="34" charset="-120"/>
              </a:rPr>
              <a:t>; true effect −0.211. Balance: largest SMD </a:t>
            </a:r>
            <a:r>
              <a:rPr lang="en-US" sz="1500" b="1" dirty="0">
                <a:solidFill>
                  <a:srgbClr val="000000"/>
                </a:solidFill>
                <a:latin typeface="Carlito" pitchFamily="34" charset="0"/>
                <a:ea typeface="Carlito" pitchFamily="34" charset="-122"/>
                <a:cs typeface="Carlito" pitchFamily="34" charset="-120"/>
              </a:rPr>
              <a:t>0.70 → 0.08</a:t>
            </a:r>
            <a:r>
              <a:rPr lang="en-US" sz="1500" dirty="0">
                <a:solidFill>
                  <a:srgbClr val="000000"/>
                </a:solidFill>
                <a:latin typeface="Carlito" pitchFamily="34" charset="0"/>
                <a:ea typeface="Carlito" pitchFamily="34" charset="-122"/>
                <a:cs typeface="Carlito" pitchFamily="34" charset="-120"/>
              </a:rPr>
              <a:t>. Refutation: </a:t>
            </a:r>
            <a:r>
              <a:rPr lang="en-US" sz="1500" b="1" dirty="0">
                <a:solidFill>
                  <a:srgbClr val="000000"/>
                </a:solidFill>
                <a:latin typeface="Carlito" pitchFamily="34" charset="0"/>
                <a:ea typeface="Carlito" pitchFamily="34" charset="-122"/>
                <a:cs typeface="Carlito" pitchFamily="34" charset="-120"/>
              </a:rPr>
              <a:t>9 of 9</a:t>
            </a:r>
            <a:r>
              <a:rPr lang="en-US" sz="1500" dirty="0">
                <a:solidFill>
                  <a:srgbClr val="000000"/>
                </a:solidFill>
                <a:latin typeface="Carlito" pitchFamily="34" charset="0"/>
                <a:ea typeface="Carlito" pitchFamily="34" charset="-122"/>
                <a:cs typeface="Carlito" pitchFamily="34" charset="-120"/>
              </a:rPr>
              <a:t> checks passed.</a:t>
            </a:r>
            <a:endParaRPr lang="en-US" sz="1500" dirty="0"/>
          </a:p>
        </p:txBody>
      </p:sp>
      <p:sp>
        <p:nvSpPr>
          <p:cNvPr id="43" name="Text 33"/>
          <p:cNvSpPr/>
          <p:nvPr/>
        </p:nvSpPr>
        <p:spPr>
          <a:xfrm>
            <a:off x="609575" y="6159500"/>
            <a:ext cx="11301950" cy="256538"/>
          </a:xfrm>
          <a:prstGeom prst="rect">
            <a:avLst/>
          </a:prstGeom>
          <a:noFill/>
          <a:ln/>
        </p:spPr>
        <p:txBody>
          <a:bodyPr wrap="square" lIns="0" tIns="0" rIns="0" bIns="0" rtlCol="0" anchor="t">
            <a:normAutofit/>
          </a:bodyPr>
          <a:lstStyle/>
          <a:p>
            <a:pPr algn="l" indent="0" marL="0">
              <a:lnSpc>
                <a:spcPts val="1820"/>
              </a:lnSpc>
              <a:buNone/>
            </a:pPr>
            <a:r>
              <a:rPr lang="en-US" sz="1300" b="1" i="1" dirty="0">
                <a:solidFill>
                  <a:srgbClr val="595959"/>
                </a:solidFill>
                <a:latin typeface="Carlito" pitchFamily="34" charset="0"/>
                <a:ea typeface="Carlito" pitchFamily="34" charset="-122"/>
                <a:cs typeface="Carlito" pitchFamily="34" charset="-120"/>
              </a:rPr>
              <a:t>Synthetic data:</a:t>
            </a:r>
            <a:r>
              <a:rPr lang="en-US" sz="1300" i="1" dirty="0">
                <a:solidFill>
                  <a:srgbClr val="595959"/>
                </a:solidFill>
                <a:latin typeface="Carlito" pitchFamily="34" charset="0"/>
                <a:ea typeface="Carlito" pitchFamily="34" charset="-122"/>
                <a:cs typeface="Carlito" pitchFamily="34" charset="-120"/>
              </a:rPr>
              <a:t> shows the methods recover a planted truth, not real-world drug effects.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Initial Results – Plots</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pic>
        <p:nvPicPr>
          <p:cNvPr id="5" name="Image 2" descr="Overlap plot: propensity score histograms for SGLT2i, DPP-4i and sulfonylurea, with a dashed line at 0.05 below which the system reports insufficient evidence">    </p:cNvPr>
          <p:cNvPicPr>
            <a:picLocks noChangeAspect="1"/>
          </p:cNvPicPr>
          <p:nvPr/>
        </p:nvPicPr>
        <p:blipFill>
          <a:blip r:embed="rId3"/>
          <a:srcRect l="-355" r="-355" t="0" b="0"/>
          <a:stretch/>
        </p:blipFill>
        <p:spPr>
          <a:xfrm>
            <a:off x="1111217" y="1282700"/>
            <a:ext cx="6680175" cy="2387600"/>
          </a:xfrm>
          <a:prstGeom prst="rect">
            <a:avLst/>
          </a:prstGeom>
        </p:spPr>
      </p:pic>
      <p:sp>
        <p:nvSpPr>
          <p:cNvPr id="6" name="Shape 1"/>
          <p:cNvSpPr/>
          <p:nvPr/>
        </p:nvSpPr>
        <p:spPr>
          <a:xfrm>
            <a:off x="1104867" y="1276350"/>
            <a:ext cx="6692875" cy="2400300"/>
          </a:xfrm>
          <a:prstGeom prst="rect">
            <a:avLst/>
          </a:prstGeom>
          <a:noFill/>
          <a:ln w="12700">
            <a:solidFill>
              <a:srgbClr val="BFBFBF"/>
            </a:solidFill>
            <a:prstDash val="solid"/>
          </a:ln>
        </p:spPr>
      </p:sp>
      <p:pic>
        <p:nvPicPr>
          <p:cNvPr id="7" name="Image 3" descr="Love plot: largest standardised mean difference per covariate before and after IPW weighting, all below 0.1 after weighting">    </p:cNvPr>
          <p:cNvPicPr>
            <a:picLocks noChangeAspect="1"/>
          </p:cNvPicPr>
          <p:nvPr/>
        </p:nvPicPr>
        <p:blipFill>
          <a:blip r:embed="rId4"/>
          <a:srcRect l="-40" r="-40" t="0" b="0"/>
          <a:stretch/>
        </p:blipFill>
        <p:spPr>
          <a:xfrm>
            <a:off x="8121641" y="1282700"/>
            <a:ext cx="2959100" cy="2387600"/>
          </a:xfrm>
          <a:prstGeom prst="rect">
            <a:avLst/>
          </a:prstGeom>
        </p:spPr>
      </p:pic>
      <p:sp>
        <p:nvSpPr>
          <p:cNvPr id="8" name="Shape 2"/>
          <p:cNvSpPr/>
          <p:nvPr/>
        </p:nvSpPr>
        <p:spPr>
          <a:xfrm>
            <a:off x="8115291" y="1276350"/>
            <a:ext cx="2971800" cy="2400300"/>
          </a:xfrm>
          <a:prstGeom prst="rect">
            <a:avLst/>
          </a:prstGeom>
          <a:noFill/>
          <a:ln w="12700">
            <a:solidFill>
              <a:srgbClr val="BFBFBF"/>
            </a:solidFill>
            <a:prstDash val="solid"/>
          </a:ln>
        </p:spPr>
      </p:sp>
      <p:sp>
        <p:nvSpPr>
          <p:cNvPr id="9" name="Text 3"/>
          <p:cNvSpPr/>
          <p:nvPr/>
        </p:nvSpPr>
        <p:spPr>
          <a:xfrm>
            <a:off x="997933" y="3759188"/>
            <a:ext cx="6906742" cy="274315"/>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00000"/>
                </a:solidFill>
                <a:latin typeface="Carlito" pitchFamily="34" charset="0"/>
                <a:ea typeface="Carlito" pitchFamily="34" charset="-122"/>
                <a:cs typeface="Carlito" pitchFamily="34" charset="-120"/>
              </a:rPr>
              <a:t>Overlap:</a:t>
            </a:r>
            <a:r>
              <a:rPr lang="en-US" sz="1400" dirty="0">
                <a:solidFill>
                  <a:srgbClr val="000000"/>
                </a:solidFill>
                <a:latin typeface="Carlito" pitchFamily="34" charset="0"/>
                <a:ea typeface="Carlito" pitchFamily="34" charset="-122"/>
                <a:cs typeface="Carlito" pitchFamily="34" charset="-120"/>
              </a:rPr>
              <a:t> below 0.05, the system abstains (“insufficient evidence”)</a:t>
            </a:r>
            <a:endParaRPr lang="en-US" sz="1400" dirty="0"/>
          </a:p>
        </p:txBody>
      </p:sp>
      <p:sp>
        <p:nvSpPr>
          <p:cNvPr id="10" name="Text 4"/>
          <p:cNvSpPr/>
          <p:nvPr/>
        </p:nvSpPr>
        <p:spPr>
          <a:xfrm>
            <a:off x="8064174" y="3759188"/>
            <a:ext cx="3074035" cy="274315"/>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00000"/>
                </a:solidFill>
                <a:latin typeface="Carlito" pitchFamily="34" charset="0"/>
                <a:ea typeface="Carlito" pitchFamily="34" charset="-122"/>
                <a:cs typeface="Carlito" pitchFamily="34" charset="-120"/>
              </a:rPr>
              <a:t>Balance:</a:t>
            </a:r>
            <a:r>
              <a:rPr lang="en-US" sz="1400" dirty="0">
                <a:solidFill>
                  <a:srgbClr val="000000"/>
                </a:solidFill>
                <a:latin typeface="Carlito" pitchFamily="34" charset="0"/>
                <a:ea typeface="Carlito" pitchFamily="34" charset="-122"/>
                <a:cs typeface="Carlito" pitchFamily="34" charset="-120"/>
              </a:rPr>
              <a:t> largest SMD 0.70 → 0.08</a:t>
            </a:r>
            <a:endParaRPr lang="en-US" sz="1400" dirty="0"/>
          </a:p>
        </p:txBody>
      </p:sp>
      <p:pic>
        <p:nvPicPr>
          <p:cNvPr id="11" name="Image 4" descr="Scatter plots of DR-learner patient-level estimates against the true effects for three drug comparisons, lying close to the diagonal">    </p:cNvPr>
          <p:cNvPicPr>
            <a:picLocks noChangeAspect="1"/>
          </p:cNvPicPr>
          <p:nvPr/>
        </p:nvPicPr>
        <p:blipFill>
          <a:blip r:embed="rId5"/>
          <a:srcRect l="-368" r="-368" t="0" b="0"/>
          <a:stretch/>
        </p:blipFill>
        <p:spPr>
          <a:xfrm>
            <a:off x="3600450" y="4140200"/>
            <a:ext cx="4997425" cy="2070100"/>
          </a:xfrm>
          <a:prstGeom prst="rect">
            <a:avLst/>
          </a:prstGeom>
        </p:spPr>
      </p:pic>
      <p:sp>
        <p:nvSpPr>
          <p:cNvPr id="12" name="Shape 5"/>
          <p:cNvSpPr/>
          <p:nvPr/>
        </p:nvSpPr>
        <p:spPr>
          <a:xfrm>
            <a:off x="3594100" y="4133850"/>
            <a:ext cx="5010125" cy="2082800"/>
          </a:xfrm>
          <a:prstGeom prst="rect">
            <a:avLst/>
          </a:prstGeom>
          <a:noFill/>
          <a:ln w="12700">
            <a:solidFill>
              <a:srgbClr val="BFBFBF"/>
            </a:solidFill>
            <a:prstDash val="solid"/>
          </a:ln>
        </p:spPr>
      </p:sp>
      <p:sp>
        <p:nvSpPr>
          <p:cNvPr id="13" name="Text 6"/>
          <p:cNvSpPr/>
          <p:nvPr/>
        </p:nvSpPr>
        <p:spPr>
          <a:xfrm>
            <a:off x="2858358" y="6286500"/>
            <a:ext cx="6481610" cy="274315"/>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00000"/>
                </a:solidFill>
                <a:latin typeface="Carlito" pitchFamily="34" charset="0"/>
                <a:ea typeface="Carlito" pitchFamily="34" charset="-122"/>
                <a:cs typeface="Carlito" pitchFamily="34" charset="-120"/>
              </a:rPr>
              <a:t>Per-patient effects</a:t>
            </a:r>
            <a:r>
              <a:rPr lang="en-US" sz="1400" dirty="0">
                <a:solidFill>
                  <a:srgbClr val="000000"/>
                </a:solidFill>
                <a:latin typeface="Carlito" pitchFamily="34" charset="0"/>
                <a:ea typeface="Carlito" pitchFamily="34" charset="-122"/>
                <a:cs typeface="Carlito" pitchFamily="34" charset="-120"/>
              </a:rPr>
              <a:t> vs truth on fresh test patients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Demo</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pic>
        <p:nvPicPr>
          <p:cNvPr id="5" name="Image 2" descr="Demo preset 1, a typical patient: three estimates, each with a 95% range">    </p:cNvPr>
          <p:cNvPicPr>
            <a:picLocks noChangeAspect="1"/>
          </p:cNvPicPr>
          <p:nvPr/>
        </p:nvPicPr>
        <p:blipFill>
          <a:blip r:embed="rId3"/>
          <a:srcRect l="-203" r="-203" t="0" b="0"/>
          <a:stretch/>
        </p:blipFill>
        <p:spPr>
          <a:xfrm>
            <a:off x="622275" y="1282700"/>
            <a:ext cx="3530600" cy="2336792"/>
          </a:xfrm>
          <a:prstGeom prst="rect">
            <a:avLst/>
          </a:prstGeom>
        </p:spPr>
      </p:pic>
      <p:sp>
        <p:nvSpPr>
          <p:cNvPr id="6" name="Shape 1"/>
          <p:cNvSpPr/>
          <p:nvPr/>
        </p:nvSpPr>
        <p:spPr>
          <a:xfrm>
            <a:off x="615925" y="1276350"/>
            <a:ext cx="3543300" cy="2349492"/>
          </a:xfrm>
          <a:prstGeom prst="rect">
            <a:avLst/>
          </a:prstGeom>
          <a:noFill/>
          <a:ln w="12700">
            <a:solidFill>
              <a:srgbClr val="BFBFBF"/>
            </a:solidFill>
            <a:prstDash val="solid"/>
          </a:ln>
        </p:spPr>
      </p:sp>
      <p:pic>
        <p:nvPicPr>
          <p:cNvPr id="7" name="Image 3" descr="Demo preset 2, eGFR 40 and past pancreatitis: SGLT2 inhibitor excluded in red with its source, amber cautions for the others">    </p:cNvPr>
          <p:cNvPicPr>
            <a:picLocks noChangeAspect="1"/>
          </p:cNvPicPr>
          <p:nvPr/>
        </p:nvPicPr>
        <p:blipFill>
          <a:blip r:embed="rId4"/>
          <a:srcRect l="-203" r="-203" t="0" b="0"/>
          <a:stretch/>
        </p:blipFill>
        <p:spPr>
          <a:xfrm>
            <a:off x="4330700" y="1282700"/>
            <a:ext cx="3530600" cy="2336792"/>
          </a:xfrm>
          <a:prstGeom prst="rect">
            <a:avLst/>
          </a:prstGeom>
        </p:spPr>
      </p:pic>
      <p:sp>
        <p:nvSpPr>
          <p:cNvPr id="8" name="Shape 2"/>
          <p:cNvSpPr/>
          <p:nvPr/>
        </p:nvSpPr>
        <p:spPr>
          <a:xfrm>
            <a:off x="4324350" y="1276350"/>
            <a:ext cx="3543300" cy="2349492"/>
          </a:xfrm>
          <a:prstGeom prst="rect">
            <a:avLst/>
          </a:prstGeom>
          <a:noFill/>
          <a:ln w="12700">
            <a:solidFill>
              <a:srgbClr val="BFBFBF"/>
            </a:solidFill>
            <a:prstDash val="solid"/>
          </a:ln>
        </p:spPr>
      </p:sp>
      <p:pic>
        <p:nvPicPr>
          <p:cNvPr id="9" name="Image 4" descr="Demo preset 3, older patient with past hypoglycaemia: sulfonylurea shows insufficient evidence in grey">    </p:cNvPr>
          <p:cNvPicPr>
            <a:picLocks noChangeAspect="1"/>
          </p:cNvPicPr>
          <p:nvPr/>
        </p:nvPicPr>
        <p:blipFill>
          <a:blip r:embed="rId5"/>
          <a:srcRect l="-203" r="-203" t="0" b="0"/>
          <a:stretch/>
        </p:blipFill>
        <p:spPr>
          <a:xfrm>
            <a:off x="8039083" y="1282700"/>
            <a:ext cx="3530600" cy="2336792"/>
          </a:xfrm>
          <a:prstGeom prst="rect">
            <a:avLst/>
          </a:prstGeom>
        </p:spPr>
      </p:pic>
      <p:sp>
        <p:nvSpPr>
          <p:cNvPr id="10" name="Shape 3"/>
          <p:cNvSpPr/>
          <p:nvPr/>
        </p:nvSpPr>
        <p:spPr>
          <a:xfrm>
            <a:off x="8032733" y="1276350"/>
            <a:ext cx="3543300" cy="2349492"/>
          </a:xfrm>
          <a:prstGeom prst="rect">
            <a:avLst/>
          </a:prstGeom>
          <a:noFill/>
          <a:ln w="12700">
            <a:solidFill>
              <a:srgbClr val="BFBFBF"/>
            </a:solidFill>
            <a:prstDash val="solid"/>
          </a:ln>
        </p:spPr>
      </p:sp>
      <p:sp>
        <p:nvSpPr>
          <p:cNvPr id="11" name="Text 4"/>
          <p:cNvSpPr/>
          <p:nvPr/>
        </p:nvSpPr>
        <p:spPr>
          <a:xfrm>
            <a:off x="556235" y="3708375"/>
            <a:ext cx="3662680" cy="292092"/>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00000"/>
                </a:solidFill>
                <a:latin typeface="Carlito" pitchFamily="34" charset="0"/>
                <a:ea typeface="Carlito" pitchFamily="34" charset="-122"/>
                <a:cs typeface="Carlito" pitchFamily="34" charset="-120"/>
              </a:rPr>
              <a:t>1 · Typical patient</a:t>
            </a:r>
            <a:endParaRPr lang="en-US" sz="1500" dirty="0"/>
          </a:p>
        </p:txBody>
      </p:sp>
      <p:sp>
        <p:nvSpPr>
          <p:cNvPr id="12" name="Text 5"/>
          <p:cNvSpPr/>
          <p:nvPr/>
        </p:nvSpPr>
        <p:spPr>
          <a:xfrm>
            <a:off x="4264660" y="3708375"/>
            <a:ext cx="3662680" cy="292092"/>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00000"/>
                </a:solidFill>
                <a:latin typeface="Carlito" pitchFamily="34" charset="0"/>
                <a:ea typeface="Carlito" pitchFamily="34" charset="-122"/>
                <a:cs typeface="Carlito" pitchFamily="34" charset="-120"/>
              </a:rPr>
              <a:t>2 · eGFR 40, past pancreatitis</a:t>
            </a:r>
            <a:endParaRPr lang="en-US" sz="1500" dirty="0"/>
          </a:p>
        </p:txBody>
      </p:sp>
      <p:sp>
        <p:nvSpPr>
          <p:cNvPr id="13" name="Text 6"/>
          <p:cNvSpPr/>
          <p:nvPr/>
        </p:nvSpPr>
        <p:spPr>
          <a:xfrm>
            <a:off x="7973043" y="3708375"/>
            <a:ext cx="3662680" cy="292092"/>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00000"/>
                </a:solidFill>
                <a:latin typeface="Carlito" pitchFamily="34" charset="0"/>
                <a:ea typeface="Carlito" pitchFamily="34" charset="-122"/>
                <a:cs typeface="Carlito" pitchFamily="34" charset="-120"/>
              </a:rPr>
              <a:t>3 · Older, past hypoglycaemia</a:t>
            </a:r>
            <a:endParaRPr lang="en-US" sz="1500" dirty="0"/>
          </a:p>
        </p:txBody>
      </p:sp>
      <p:sp>
        <p:nvSpPr>
          <p:cNvPr id="14" name="Text 7"/>
          <p:cNvSpPr/>
          <p:nvPr/>
        </p:nvSpPr>
        <p:spPr>
          <a:xfrm>
            <a:off x="609575" y="4114763"/>
            <a:ext cx="6278880" cy="309868"/>
          </a:xfrm>
          <a:prstGeom prst="rect">
            <a:avLst/>
          </a:prstGeom>
          <a:noFill/>
          <a:ln/>
        </p:spPr>
        <p:txBody>
          <a:bodyPr wrap="square" lIns="0" tIns="0" rIns="0" bIns="0" rtlCol="0" anchor="t">
            <a:normAutofit/>
          </a:bodyPr>
          <a:lstStyle/>
          <a:p>
            <a:pPr algn="l" indent="0" marL="0">
              <a:lnSpc>
                <a:spcPts val="2240"/>
              </a:lnSpc>
              <a:buNone/>
            </a:pPr>
            <a:r>
              <a:rPr lang="en-US" sz="1600" b="1" u="sng" dirty="0">
                <a:solidFill>
                  <a:srgbClr val="002060"/>
                </a:solidFill>
                <a:latin typeface="Times New Roman" pitchFamily="34" charset="0"/>
                <a:ea typeface="Times New Roman" pitchFamily="34" charset="-122"/>
                <a:cs typeface="Times New Roman" pitchFamily="34" charset="-120"/>
              </a:rPr>
              <a:t>Colour key (never green for “recommended”)</a:t>
            </a:r>
            <a:endParaRPr lang="en-US" sz="1600" dirty="0"/>
          </a:p>
        </p:txBody>
      </p:sp>
      <p:sp>
        <p:nvSpPr>
          <p:cNvPr id="15" name="Shape 8"/>
          <p:cNvSpPr/>
          <p:nvPr/>
        </p:nvSpPr>
        <p:spPr>
          <a:xfrm>
            <a:off x="708025" y="4530713"/>
            <a:ext cx="387333" cy="209525"/>
          </a:xfrm>
          <a:prstGeom prst="roundRect">
            <a:avLst>
              <a:gd name="adj" fmla="val 13638"/>
            </a:avLst>
          </a:prstGeom>
          <a:solidFill>
            <a:srgbClr val="F8D7DA"/>
          </a:solidFill>
          <a:ln w="19050">
            <a:solidFill>
              <a:srgbClr val="9B1C1C"/>
            </a:solidFill>
            <a:prstDash val="solid"/>
          </a:ln>
        </p:spPr>
      </p:sp>
      <p:sp>
        <p:nvSpPr>
          <p:cNvPr id="16" name="Text 9"/>
          <p:cNvSpPr/>
          <p:nvPr/>
        </p:nvSpPr>
        <p:spPr>
          <a:xfrm>
            <a:off x="1244575" y="4483075"/>
            <a:ext cx="5624830" cy="30986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00000"/>
                </a:solidFill>
                <a:latin typeface="Carlito" pitchFamily="34" charset="0"/>
                <a:ea typeface="Carlito" pitchFamily="34" charset="-122"/>
                <a:cs typeface="Carlito" pitchFamily="34" charset="-120"/>
              </a:rPr>
              <a:t>Red</a:t>
            </a:r>
            <a:r>
              <a:rPr lang="en-US" sz="1600" dirty="0">
                <a:solidFill>
                  <a:srgbClr val="000000"/>
                </a:solidFill>
                <a:latin typeface="Carlito" pitchFamily="34" charset="0"/>
                <a:ea typeface="Carlito" pitchFamily="34" charset="-122"/>
                <a:cs typeface="Carlito" pitchFamily="34" charset="-120"/>
              </a:rPr>
              <a:t> = excluded by a cited rule</a:t>
            </a:r>
            <a:endParaRPr lang="en-US" sz="1600" dirty="0"/>
          </a:p>
        </p:txBody>
      </p:sp>
      <p:sp>
        <p:nvSpPr>
          <p:cNvPr id="17" name="Shape 10"/>
          <p:cNvSpPr/>
          <p:nvPr/>
        </p:nvSpPr>
        <p:spPr>
          <a:xfrm>
            <a:off x="708025" y="4873600"/>
            <a:ext cx="387333" cy="209525"/>
          </a:xfrm>
          <a:prstGeom prst="roundRect">
            <a:avLst>
              <a:gd name="adj" fmla="val 13638"/>
            </a:avLst>
          </a:prstGeom>
          <a:solidFill>
            <a:srgbClr val="FCEBC5"/>
          </a:solidFill>
          <a:ln w="19050">
            <a:solidFill>
              <a:srgbClr val="8A5A00"/>
            </a:solidFill>
            <a:prstDash val="solid"/>
          </a:ln>
        </p:spPr>
      </p:sp>
      <p:sp>
        <p:nvSpPr>
          <p:cNvPr id="18" name="Text 11"/>
          <p:cNvSpPr/>
          <p:nvPr/>
        </p:nvSpPr>
        <p:spPr>
          <a:xfrm>
            <a:off x="1244575" y="4826000"/>
            <a:ext cx="5624830" cy="30986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00000"/>
                </a:solidFill>
                <a:latin typeface="Carlito" pitchFamily="34" charset="0"/>
                <a:ea typeface="Carlito" pitchFamily="34" charset="-122"/>
                <a:cs typeface="Carlito" pitchFamily="34" charset="-120"/>
              </a:rPr>
              <a:t>Amber</a:t>
            </a:r>
            <a:r>
              <a:rPr lang="en-US" sz="1600" dirty="0">
                <a:solidFill>
                  <a:srgbClr val="000000"/>
                </a:solidFill>
                <a:latin typeface="Carlito" pitchFamily="34" charset="0"/>
                <a:ea typeface="Carlito" pitchFamily="34" charset="-122"/>
                <a:cs typeface="Carlito" pitchFamily="34" charset="-120"/>
              </a:rPr>
              <a:t> = caution</a:t>
            </a:r>
            <a:endParaRPr lang="en-US" sz="1600" dirty="0"/>
          </a:p>
        </p:txBody>
      </p:sp>
      <p:sp>
        <p:nvSpPr>
          <p:cNvPr id="19" name="Shape 12"/>
          <p:cNvSpPr/>
          <p:nvPr/>
        </p:nvSpPr>
        <p:spPr>
          <a:xfrm>
            <a:off x="708025" y="5216525"/>
            <a:ext cx="387333" cy="209525"/>
          </a:xfrm>
          <a:prstGeom prst="roundRect">
            <a:avLst>
              <a:gd name="adj" fmla="val 13638"/>
            </a:avLst>
          </a:prstGeom>
          <a:solidFill>
            <a:srgbClr val="ECEEEE"/>
          </a:solidFill>
          <a:ln w="19050">
            <a:solidFill>
              <a:srgbClr val="555555"/>
            </a:solidFill>
            <a:prstDash val="solid"/>
          </a:ln>
        </p:spPr>
      </p:sp>
      <p:sp>
        <p:nvSpPr>
          <p:cNvPr id="20" name="Text 13"/>
          <p:cNvSpPr/>
          <p:nvPr/>
        </p:nvSpPr>
        <p:spPr>
          <a:xfrm>
            <a:off x="1244575" y="5168875"/>
            <a:ext cx="5624830" cy="30986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00000"/>
                </a:solidFill>
                <a:latin typeface="Carlito" pitchFamily="34" charset="0"/>
                <a:ea typeface="Carlito" pitchFamily="34" charset="-122"/>
                <a:cs typeface="Carlito" pitchFamily="34" charset="-120"/>
              </a:rPr>
              <a:t>Grey</a:t>
            </a:r>
            <a:r>
              <a:rPr lang="en-US" sz="1600" dirty="0">
                <a:solidFill>
                  <a:srgbClr val="000000"/>
                </a:solidFill>
                <a:latin typeface="Carlito" pitchFamily="34" charset="0"/>
                <a:ea typeface="Carlito" pitchFamily="34" charset="-122"/>
                <a:cs typeface="Carlito" pitchFamily="34" charset="-120"/>
              </a:rPr>
              <a:t> = insufficient evidence</a:t>
            </a:r>
            <a:endParaRPr lang="en-US" sz="1600" dirty="0"/>
          </a:p>
        </p:txBody>
      </p:sp>
      <p:sp>
        <p:nvSpPr>
          <p:cNvPr id="21" name="Shape 14"/>
          <p:cNvSpPr/>
          <p:nvPr/>
        </p:nvSpPr>
        <p:spPr>
          <a:xfrm>
            <a:off x="708025" y="5559400"/>
            <a:ext cx="387333" cy="209525"/>
          </a:xfrm>
          <a:prstGeom prst="roundRect">
            <a:avLst>
              <a:gd name="adj" fmla="val 13638"/>
            </a:avLst>
          </a:prstGeom>
          <a:solidFill>
            <a:srgbClr val="E3EFEA"/>
          </a:solidFill>
          <a:ln w="19050">
            <a:solidFill>
              <a:srgbClr val="0E5A4A"/>
            </a:solidFill>
            <a:prstDash val="solid"/>
          </a:ln>
        </p:spPr>
      </p:sp>
      <p:sp>
        <p:nvSpPr>
          <p:cNvPr id="22" name="Text 15"/>
          <p:cNvSpPr/>
          <p:nvPr/>
        </p:nvSpPr>
        <p:spPr>
          <a:xfrm>
            <a:off x="1244575" y="5511763"/>
            <a:ext cx="5624830" cy="30986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00000"/>
                </a:solidFill>
                <a:latin typeface="Carlito" pitchFamily="34" charset="0"/>
                <a:ea typeface="Carlito" pitchFamily="34" charset="-122"/>
                <a:cs typeface="Carlito" pitchFamily="34" charset="-120"/>
              </a:rPr>
              <a:t>Teal</a:t>
            </a:r>
            <a:r>
              <a:rPr lang="en-US" sz="1600" dirty="0">
                <a:solidFill>
                  <a:srgbClr val="000000"/>
                </a:solidFill>
                <a:latin typeface="Carlito" pitchFamily="34" charset="0"/>
                <a:ea typeface="Carlito" pitchFamily="34" charset="-122"/>
                <a:cs typeface="Carlito" pitchFamily="34" charset="-120"/>
              </a:rPr>
              <a:t> = estimate with its 95% range</a:t>
            </a:r>
            <a:endParaRPr lang="en-US" sz="1600" dirty="0"/>
          </a:p>
        </p:txBody>
      </p:sp>
      <p:sp>
        <p:nvSpPr>
          <p:cNvPr id="23" name="Shape 16"/>
          <p:cNvSpPr/>
          <p:nvPr/>
        </p:nvSpPr>
        <p:spPr>
          <a:xfrm>
            <a:off x="6991350" y="4489425"/>
            <a:ext cx="4584683" cy="1565250"/>
          </a:xfrm>
          <a:prstGeom prst="rect">
            <a:avLst/>
          </a:prstGeom>
          <a:solidFill>
            <a:srgbClr val="E9EEF6"/>
          </a:solidFill>
          <a:ln w="12700">
            <a:solidFill>
              <a:srgbClr val="002060"/>
            </a:solidFill>
            <a:prstDash val="solid"/>
          </a:ln>
        </p:spPr>
      </p:sp>
      <p:sp>
        <p:nvSpPr>
          <p:cNvPr id="24" name="Text 17"/>
          <p:cNvSpPr/>
          <p:nvPr/>
        </p:nvSpPr>
        <p:spPr>
          <a:xfrm>
            <a:off x="7186083" y="4646042"/>
            <a:ext cx="4321073" cy="327604"/>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02060"/>
                </a:solidFill>
                <a:latin typeface="Carlito" pitchFamily="34" charset="0"/>
                <a:ea typeface="Carlito" pitchFamily="34" charset="-122"/>
                <a:cs typeface="Carlito" pitchFamily="34" charset="-120"/>
              </a:rPr>
              <a:t>Live demo</a:t>
            </a:r>
            <a:endParaRPr lang="en-US" sz="1700" dirty="0"/>
          </a:p>
        </p:txBody>
      </p:sp>
      <p:sp>
        <p:nvSpPr>
          <p:cNvPr id="25" name="Text 18"/>
          <p:cNvSpPr/>
          <p:nvPr/>
        </p:nvSpPr>
        <p:spPr>
          <a:xfrm>
            <a:off x="7186083" y="4986313"/>
            <a:ext cx="4321073" cy="29209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00000"/>
                </a:solidFill>
                <a:latin typeface="Carlito" pitchFamily="34" charset="0"/>
                <a:ea typeface="Carlito" pitchFamily="34" charset="-122"/>
                <a:cs typeface="Carlito" pitchFamily="34" charset="-120"/>
              </a:rPr>
              <a:t>Website (diacausal.netlify.app) or Streamlit, three preset patients</a:t>
            </a:r>
            <a:endParaRPr lang="en-US" sz="1500" dirty="0"/>
          </a:p>
        </p:txBody>
      </p:sp>
      <p:sp>
        <p:nvSpPr>
          <p:cNvPr id="26" name="Text 19"/>
          <p:cNvSpPr/>
          <p:nvPr/>
        </p:nvSpPr>
        <p:spPr>
          <a:xfrm>
            <a:off x="7186083" y="5291088"/>
            <a:ext cx="4321073" cy="327604"/>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02060"/>
                </a:solidFill>
                <a:latin typeface="Carlito" pitchFamily="34" charset="0"/>
                <a:ea typeface="Carlito" pitchFamily="34" charset="-122"/>
                <a:cs typeface="Carlito" pitchFamily="34" charset="-120"/>
              </a:rPr>
              <a:t>Backup</a:t>
            </a:r>
            <a:endParaRPr lang="en-US" sz="1700" dirty="0"/>
          </a:p>
        </p:txBody>
      </p:sp>
      <p:sp>
        <p:nvSpPr>
          <p:cNvPr id="27" name="Text 20"/>
          <p:cNvSpPr/>
          <p:nvPr/>
        </p:nvSpPr>
        <p:spPr>
          <a:xfrm>
            <a:off x="7186083" y="5631359"/>
            <a:ext cx="4321073" cy="29209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00000"/>
                </a:solidFill>
                <a:latin typeface="Carlito" pitchFamily="34" charset="0"/>
                <a:ea typeface="Carlito" pitchFamily="34" charset="-122"/>
                <a:cs typeface="Carlito" pitchFamily="34" charset="-120"/>
              </a:rPr>
              <a:t>recorded demo video (112 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Work Completed vs Planned</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0159" y="1312333"/>
          <a:ext cx="5323417" cy="3060857"/>
        </p:xfrm>
        <a:graphic>
          <a:graphicData uri="http://schemas.openxmlformats.org/drawingml/2006/table">
            <a:tbl>
              <a:tblPr/>
              <a:tblGrid>
                <a:gridCol w="5323417"/>
              </a:tblGrid>
              <a:tr h="437265">
                <a:tc>
                  <a:txBody>
                    <a:bodyPr/>
                    <a:lstStyle/>
                    <a:p>
                      <a:pPr indent="0" marL="0">
                        <a:lnSpc>
                          <a:spcPts val="2240"/>
                        </a:lnSpc>
                        <a:buNone/>
                      </a:pPr>
                      <a:r>
                        <a:rPr lang="en-US" sz="1600" b="1" dirty="0">
                          <a:solidFill>
                            <a:srgbClr val="FFFFFF"/>
                          </a:solidFill>
                          <a:latin typeface="Carlito" pitchFamily="34" charset="0"/>
                          <a:ea typeface="Carlito" pitchFamily="34" charset="-122"/>
                          <a:cs typeface="Carlito" pitchFamily="34" charset="-120"/>
                        </a:rPr>
                        <a:t>Completed (by 30 Sept)</a:t>
                      </a:r>
                      <a:endParaRPr lang="en-US" sz="1600" dirty="0">
                        <a:latin typeface="Carlito" charset="0"/>
                        <a:ea typeface="Carlito" charset="0"/>
                        <a:cs typeface="Carlito"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r>
              <a:tr h="437265">
                <a:tc>
                  <a:txBody>
                    <a:bodyPr/>
                    <a:lstStyle/>
                    <a:p>
                      <a:pPr indent="0" marL="0">
                        <a:lnSpc>
                          <a:spcPts val="2240"/>
                        </a:lnSpc>
                        <a:buNone/>
                      </a:pPr>
                      <a:r>
                        <a:rPr lang="en-US" sz="1600" dirty="0">
                          <a:solidFill>
                            <a:srgbClr val="000000"/>
                          </a:solidFill>
                          <a:latin typeface="Carlito" pitchFamily="34" charset="0"/>
                          <a:ea typeface="Carlito" pitchFamily="34" charset="-122"/>
                          <a:cs typeface="Carlito" pitchFamily="34" charset="-120"/>
                        </a:rPr>
                        <a:t>Problem, scope, literature and dataset research</a:t>
                      </a:r>
                      <a:endParaRPr lang="en-US" sz="1600" dirty="0">
                        <a:latin typeface="Carlito" charset="0"/>
                        <a:ea typeface="Carlito" charset="0"/>
                        <a:cs typeface="Carlito"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437265">
                <a:tc>
                  <a:txBody>
                    <a:bodyPr/>
                    <a:lstStyle/>
                    <a:p>
                      <a:pPr indent="0" marL="0">
                        <a:lnSpc>
                          <a:spcPts val="2240"/>
                        </a:lnSpc>
                        <a:buNone/>
                      </a:pPr>
                      <a:r>
                        <a:rPr lang="en-US" sz="1600" dirty="0">
                          <a:solidFill>
                            <a:srgbClr val="000000"/>
                          </a:solidFill>
                          <a:latin typeface="Carlito" pitchFamily="34" charset="0"/>
                          <a:ea typeface="Carlito" pitchFamily="34" charset="-122"/>
                          <a:cs typeface="Carlito" pitchFamily="34" charset="-120"/>
                        </a:rPr>
                        <a:t>Synthetic cohort, checked against real Indian data (NMB-2017)</a:t>
                      </a:r>
                      <a:endParaRPr lang="en-US" sz="1600" dirty="0">
                        <a:latin typeface="Carlito" charset="0"/>
                        <a:ea typeface="Carlito" charset="0"/>
                        <a:cs typeface="Carlito"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7265">
                <a:tc>
                  <a:txBody>
                    <a:bodyPr/>
                    <a:lstStyle/>
                    <a:p>
                      <a:pPr indent="0" marL="0">
                        <a:lnSpc>
                          <a:spcPts val="2240"/>
                        </a:lnSpc>
                        <a:buNone/>
                      </a:pPr>
                      <a:r>
                        <a:rPr lang="en-US" sz="1600" dirty="0">
                          <a:solidFill>
                            <a:srgbClr val="000000"/>
                          </a:solidFill>
                          <a:latin typeface="Carlito" pitchFamily="34" charset="0"/>
                          <a:ea typeface="Carlito" pitchFamily="34" charset="-122"/>
                          <a:cs typeface="Carlito" pitchFamily="34" charset="-120"/>
                        </a:rPr>
                        <a:t>Safety rules R01–R10; IPW, matching, AIPW, DR-learner</a:t>
                      </a:r>
                      <a:endParaRPr lang="en-US" sz="1600" dirty="0">
                        <a:latin typeface="Carlito" charset="0"/>
                        <a:ea typeface="Carlito" charset="0"/>
                        <a:cs typeface="Carlito"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437265">
                <a:tc>
                  <a:txBody>
                    <a:bodyPr/>
                    <a:lstStyle/>
                    <a:p>
                      <a:pPr indent="0" marL="0">
                        <a:lnSpc>
                          <a:spcPts val="2240"/>
                        </a:lnSpc>
                        <a:buNone/>
                      </a:pPr>
                      <a:r>
                        <a:rPr lang="en-US" sz="1600" dirty="0">
                          <a:solidFill>
                            <a:srgbClr val="000000"/>
                          </a:solidFill>
                          <a:latin typeface="Carlito" pitchFamily="34" charset="0"/>
                          <a:ea typeface="Carlito" pitchFamily="34" charset="-122"/>
                          <a:cs typeface="Carlito" pitchFamily="34" charset="-120"/>
                        </a:rPr>
                        <a:t>Weight and low-sugar risk; benchmark, 9 of 9 refutation checks</a:t>
                      </a:r>
                      <a:endParaRPr lang="en-US" sz="1600" dirty="0">
                        <a:latin typeface="Carlito" charset="0"/>
                        <a:ea typeface="Carlito" charset="0"/>
                        <a:cs typeface="Carlito"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7265">
                <a:tc>
                  <a:txBody>
                    <a:bodyPr/>
                    <a:lstStyle/>
                    <a:p>
                      <a:pPr indent="0" marL="0">
                        <a:lnSpc>
                          <a:spcPts val="2240"/>
                        </a:lnSpc>
                        <a:buNone/>
                      </a:pPr>
                      <a:r>
                        <a:rPr lang="en-US" sz="1600" dirty="0">
                          <a:solidFill>
                            <a:srgbClr val="000000"/>
                          </a:solidFill>
                          <a:latin typeface="Carlito" pitchFamily="34" charset="0"/>
                          <a:ea typeface="Carlito" pitchFamily="34" charset="-122"/>
                          <a:cs typeface="Carlito" pitchFamily="34" charset="-120"/>
                        </a:rPr>
                        <a:t>RAG: WHO + FDA sources, cited answers, 60-question test</a:t>
                      </a:r>
                      <a:endParaRPr lang="en-US" sz="1600" dirty="0">
                        <a:latin typeface="Carlito" charset="0"/>
                        <a:ea typeface="Carlito" charset="0"/>
                        <a:cs typeface="Carlito"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437265">
                <a:tc>
                  <a:txBody>
                    <a:bodyPr/>
                    <a:lstStyle/>
                    <a:p>
                      <a:pPr indent="0" marL="0">
                        <a:lnSpc>
                          <a:spcPts val="2240"/>
                        </a:lnSpc>
                        <a:buNone/>
                      </a:pPr>
                      <a:r>
                        <a:rPr lang="en-US" sz="1600" dirty="0">
                          <a:solidFill>
                            <a:srgbClr val="000000"/>
                          </a:solidFill>
                          <a:latin typeface="Carlito" pitchFamily="34" charset="0"/>
                          <a:ea typeface="Carlito" pitchFamily="34" charset="-122"/>
                          <a:cs typeface="Carlito" pitchFamily="34" charset="-120"/>
                        </a:rPr>
                        <a:t>Website with accounts; chat app with guards, sign-in, voice</a:t>
                      </a:r>
                      <a:endParaRPr lang="en-US" sz="1600" dirty="0">
                        <a:latin typeface="Carlito" charset="0"/>
                        <a:ea typeface="Carlito" charset="0"/>
                        <a:cs typeface="Carlito"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58925" y="1312333"/>
          <a:ext cx="5323417" cy="3060857"/>
        </p:xfrm>
        <a:graphic>
          <a:graphicData uri="http://schemas.openxmlformats.org/drawingml/2006/table">
            <a:tbl>
              <a:tblPr/>
              <a:tblGrid>
                <a:gridCol w="5323417"/>
              </a:tblGrid>
              <a:tr h="437265">
                <a:tc>
                  <a:txBody>
                    <a:bodyPr/>
                    <a:lstStyle/>
                    <a:p>
                      <a:pPr indent="0" marL="0">
                        <a:lnSpc>
                          <a:spcPts val="2240"/>
                        </a:lnSpc>
                        <a:buNone/>
                      </a:pPr>
                      <a:r>
                        <a:rPr lang="en-US" sz="1600" b="1" dirty="0">
                          <a:solidFill>
                            <a:srgbClr val="FFFFFF"/>
                          </a:solidFill>
                          <a:latin typeface="Carlito" pitchFamily="34" charset="0"/>
                          <a:ea typeface="Carlito" pitchFamily="34" charset="-122"/>
                          <a:cs typeface="Carlito" pitchFamily="34" charset="-120"/>
                        </a:rPr>
                        <a:t>Planned (October)</a:t>
                      </a:r>
                      <a:endParaRPr lang="en-US" sz="1600" dirty="0">
                        <a:latin typeface="Carlito" charset="0"/>
                        <a:ea typeface="Carlito" charset="0"/>
                        <a:cs typeface="Carlito"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67676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676767"/>
                      </a:solidFill>
                      <a:prstDash val="solid"/>
                      <a:round/>
                      <a:headEnd type="none" w="med" len="med"/>
                      <a:tailEnd type="none" w="med" len="med"/>
                    </a:lnB>
                    <a:solidFill>
                      <a:srgbClr val="7F7F7F"/>
                    </a:solidFill>
                  </a:tcPr>
                </a:tc>
              </a:tr>
              <a:tr h="437265">
                <a:tc>
                  <a:txBody>
                    <a:bodyPr/>
                    <a:lstStyle/>
                    <a:p>
                      <a:pPr indent="0" marL="0">
                        <a:lnSpc>
                          <a:spcPts val="2240"/>
                        </a:lnSpc>
                        <a:buNone/>
                      </a:pPr>
                      <a:r>
                        <a:rPr lang="en-US" sz="1600" dirty="0">
                          <a:solidFill>
                            <a:srgbClr val="000000"/>
                          </a:solidFill>
                          <a:latin typeface="Carlito" pitchFamily="34" charset="0"/>
                          <a:ea typeface="Carlito" pitchFamily="34" charset="-122"/>
                          <a:cs typeface="Carlito" pitchFamily="34" charset="-120"/>
                        </a:rPr>
                        <a:t>1–9 Oct: medical embeddings and reranker; engine fixes</a:t>
                      </a:r>
                      <a:endParaRPr lang="en-US" sz="1600" dirty="0">
                        <a:latin typeface="Carlito" charset="0"/>
                        <a:ea typeface="Carlito" charset="0"/>
                        <a:cs typeface="Carlito"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676767"/>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437265">
                <a:tc>
                  <a:txBody>
                    <a:bodyPr/>
                    <a:lstStyle/>
                    <a:p>
                      <a:pPr indent="0" marL="0">
                        <a:lnSpc>
                          <a:spcPts val="2240"/>
                        </a:lnSpc>
                        <a:buNone/>
                      </a:pPr>
                      <a:r>
                        <a:rPr lang="en-US" sz="1600" dirty="0">
                          <a:solidFill>
                            <a:srgbClr val="000000"/>
                          </a:solidFill>
                          <a:latin typeface="Carlito" pitchFamily="34" charset="0"/>
                          <a:ea typeface="Carlito" pitchFamily="34" charset="-122"/>
                          <a:cs typeface="Carlito" pitchFamily="34" charset="-120"/>
                        </a:rPr>
                        <a:t>10–16 Oct: results frozen; doctor review</a:t>
                      </a:r>
                      <a:endParaRPr lang="en-US" sz="1600" dirty="0">
                        <a:latin typeface="Carlito" charset="0"/>
                        <a:ea typeface="Carlito" charset="0"/>
                        <a:cs typeface="Carlito"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7265">
                <a:tc>
                  <a:txBody>
                    <a:bodyPr/>
                    <a:lstStyle/>
                    <a:p>
                      <a:pPr indent="0" marL="0">
                        <a:lnSpc>
                          <a:spcPts val="2240"/>
                        </a:lnSpc>
                        <a:buNone/>
                      </a:pPr>
                      <a:r>
                        <a:rPr lang="en-US" sz="1600" dirty="0">
                          <a:solidFill>
                            <a:srgbClr val="000000"/>
                          </a:solidFill>
                          <a:latin typeface="Carlito" pitchFamily="34" charset="0"/>
                          <a:ea typeface="Carlito" pitchFamily="34" charset="-122"/>
                          <a:cs typeface="Carlito" pitchFamily="34" charset="-120"/>
                        </a:rPr>
                        <a:t>17–23 Oct: engine and RAG in the chat app; paper draft</a:t>
                      </a:r>
                      <a:endParaRPr lang="en-US" sz="1600" dirty="0">
                        <a:latin typeface="Carlito" charset="0"/>
                        <a:ea typeface="Carlito" charset="0"/>
                        <a:cs typeface="Carlito"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437265">
                <a:tc>
                  <a:txBody>
                    <a:bodyPr/>
                    <a:lstStyle/>
                    <a:p>
                      <a:pPr indent="0" marL="0">
                        <a:lnSpc>
                          <a:spcPts val="2240"/>
                        </a:lnSpc>
                        <a:buNone/>
                      </a:pPr>
                      <a:r>
                        <a:rPr lang="en-US" sz="1600" dirty="0">
                          <a:solidFill>
                            <a:srgbClr val="000000"/>
                          </a:solidFill>
                          <a:latin typeface="Carlito" pitchFamily="34" charset="0"/>
                          <a:ea typeface="Carlito" pitchFamily="34" charset="-122"/>
                          <a:cs typeface="Carlito" pitchFamily="34" charset="-120"/>
                        </a:rPr>
                        <a:t>24–30 Oct: final report, IEEE paper and viva</a:t>
                      </a:r>
                      <a:endParaRPr lang="en-US" sz="1600" dirty="0">
                        <a:latin typeface="Carlito" charset="0"/>
                        <a:ea typeface="Carlito" charset="0"/>
                        <a:cs typeface="Carlito"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7265">
                <a:tc>
                  <a:txBody>
                    <a:bodyPr/>
                    <a:lstStyle/>
                    <a:p>
                      <a:pPr indent="0" marL="0">
                        <a:lnSpc>
                          <a:spcPts val="2240"/>
                        </a:lnSpc>
                        <a:buNone/>
                      </a:pPr>
                      <a:r>
                        <a:rPr lang="en-US" sz="1600" dirty="0">
                          <a:solidFill>
                            <a:srgbClr val="000000"/>
                          </a:solidFill>
                          <a:latin typeface="Carlito" pitchFamily="34" charset="0"/>
                          <a:ea typeface="Carlito" pitchFamily="34" charset="-122"/>
                          <a:cs typeface="Carlito" pitchFamily="34" charset="-120"/>
                        </a:rPr>
                        <a:t>Usability study (SUS) with clinicians</a:t>
                      </a:r>
                      <a:endParaRPr lang="en-US" sz="1600" dirty="0">
                        <a:latin typeface="Carlito" charset="0"/>
                        <a:ea typeface="Carlito" charset="0"/>
                        <a:cs typeface="Carlito"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437265">
                <a:tc>
                  <a:txBody>
                    <a:bodyPr/>
                    <a:lstStyle/>
                    <a:p>
                      <a:pPr indent="0" marL="0">
                        <a:lnSpc>
                          <a:spcPts val="2240"/>
                        </a:lnSpc>
                        <a:buNone/>
                      </a:pPr>
                      <a:r>
                        <a:rPr lang="en-US" sz="1600" dirty="0">
                          <a:solidFill>
                            <a:srgbClr val="000000"/>
                          </a:solidFill>
                          <a:latin typeface="Carlito" pitchFamily="34" charset="0"/>
                          <a:ea typeface="Carlito" pitchFamily="34" charset="-122"/>
                          <a:cs typeface="Carlito" pitchFamily="34" charset="-120"/>
                        </a:rPr>
                        <a:t>Real-data step: hospital records, with ethics approval</a:t>
                      </a:r>
                      <a:endParaRPr lang="en-US" sz="1600" dirty="0">
                        <a:latin typeface="Carlito" charset="0"/>
                        <a:ea typeface="Carlito" charset="0"/>
                        <a:cs typeface="Carlito"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Conclusion</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sp>
        <p:nvSpPr>
          <p:cNvPr id="5" name="Shape 1"/>
          <p:cNvSpPr/>
          <p:nvPr/>
        </p:nvSpPr>
        <p:spPr>
          <a:xfrm>
            <a:off x="952459" y="1492250"/>
            <a:ext cx="508000" cy="508000"/>
          </a:xfrm>
          <a:prstGeom prst="roundRect">
            <a:avLst>
              <a:gd name="adj" fmla="val 50000"/>
            </a:avLst>
          </a:prstGeom>
          <a:solidFill>
            <a:srgbClr val="002060"/>
          </a:solidFill>
          <a:ln/>
        </p:spPr>
        <p:txBody>
          <a:bodyPr/>
          <a:p/>
        </p:txBody>
      </p:sp>
      <p:sp>
        <p:nvSpPr>
          <p:cNvPr id="6" name="Text 2"/>
          <p:cNvSpPr/>
          <p:nvPr/>
        </p:nvSpPr>
        <p:spPr>
          <a:xfrm>
            <a:off x="927059" y="1492250"/>
            <a:ext cx="558800" cy="533400"/>
          </a:xfrm>
          <a:prstGeom prst="rect">
            <a:avLst/>
          </a:prstGeom>
          <a:noFill/>
          <a:ln/>
        </p:spPr>
        <p:txBody>
          <a:bodyPr wrap="square" lIns="0" tIns="0" rIns="0" bIns="0" rtlCol="0" anchor="t">
            <a:normAutofit/>
          </a:bodyPr>
          <a:lstStyle/>
          <a:p>
            <a:pPr algn="ctr" indent="0" marL="0">
              <a:lnSpc>
                <a:spcPts val="4000"/>
              </a:lnSpc>
              <a:buNone/>
            </a:pPr>
            <a:r>
              <a:rPr lang="en-US" sz="2000" b="1" dirty="0">
                <a:solidFill>
                  <a:srgbClr val="FFFFFF"/>
                </a:solidFill>
                <a:latin typeface="Carlito" pitchFamily="34" charset="0"/>
                <a:ea typeface="Carlito" pitchFamily="34" charset="-122"/>
                <a:cs typeface="Carlito" pitchFamily="34" charset="-120"/>
              </a:rPr>
              <a:t>1</a:t>
            </a:r>
            <a:endParaRPr lang="en-US" sz="2000" dirty="0"/>
          </a:p>
        </p:txBody>
      </p:sp>
      <p:sp>
        <p:nvSpPr>
          <p:cNvPr id="7" name="Text 3"/>
          <p:cNvSpPr/>
          <p:nvPr/>
        </p:nvSpPr>
        <p:spPr>
          <a:xfrm>
            <a:off x="1689034" y="1532880"/>
            <a:ext cx="9800000" cy="452123"/>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000000"/>
                </a:solidFill>
                <a:latin typeface="Carlito" pitchFamily="34" charset="0"/>
                <a:ea typeface="Carlito" pitchFamily="34" charset="-122"/>
                <a:cs typeface="Carlito" pitchFamily="34" charset="-120"/>
              </a:rPr>
              <a:t>Causal engine and cited evidence search working</a:t>
            </a:r>
            <a:endParaRPr lang="en-US" sz="2400" dirty="0"/>
          </a:p>
        </p:txBody>
      </p:sp>
      <p:sp>
        <p:nvSpPr>
          <p:cNvPr id="8" name="Shape 4"/>
          <p:cNvSpPr/>
          <p:nvPr/>
        </p:nvSpPr>
        <p:spPr>
          <a:xfrm>
            <a:off x="952459" y="2279625"/>
            <a:ext cx="508000" cy="508000"/>
          </a:xfrm>
          <a:prstGeom prst="roundRect">
            <a:avLst>
              <a:gd name="adj" fmla="val 50000"/>
            </a:avLst>
          </a:prstGeom>
          <a:solidFill>
            <a:srgbClr val="002060"/>
          </a:solidFill>
          <a:ln/>
        </p:spPr>
        <p:txBody>
          <a:bodyPr/>
          <a:p/>
        </p:txBody>
      </p:sp>
      <p:sp>
        <p:nvSpPr>
          <p:cNvPr id="9" name="Text 5"/>
          <p:cNvSpPr/>
          <p:nvPr/>
        </p:nvSpPr>
        <p:spPr>
          <a:xfrm>
            <a:off x="927059" y="2279625"/>
            <a:ext cx="558800" cy="533400"/>
          </a:xfrm>
          <a:prstGeom prst="rect">
            <a:avLst/>
          </a:prstGeom>
          <a:noFill/>
          <a:ln/>
        </p:spPr>
        <p:txBody>
          <a:bodyPr wrap="square" lIns="0" tIns="0" rIns="0" bIns="0" rtlCol="0" anchor="t">
            <a:normAutofit/>
          </a:bodyPr>
          <a:lstStyle/>
          <a:p>
            <a:pPr algn="ctr" indent="0" marL="0">
              <a:lnSpc>
                <a:spcPts val="4000"/>
              </a:lnSpc>
              <a:buNone/>
            </a:pPr>
            <a:r>
              <a:rPr lang="en-US" sz="2000" b="1" dirty="0">
                <a:solidFill>
                  <a:srgbClr val="FFFFFF"/>
                </a:solidFill>
                <a:latin typeface="Carlito" pitchFamily="34" charset="0"/>
                <a:ea typeface="Carlito" pitchFamily="34" charset="-122"/>
                <a:cs typeface="Carlito" pitchFamily="34" charset="-120"/>
              </a:rPr>
              <a:t>2</a:t>
            </a:r>
            <a:endParaRPr lang="en-US" sz="2000" dirty="0"/>
          </a:p>
        </p:txBody>
      </p:sp>
      <p:sp>
        <p:nvSpPr>
          <p:cNvPr id="10" name="Text 6"/>
          <p:cNvSpPr/>
          <p:nvPr/>
        </p:nvSpPr>
        <p:spPr>
          <a:xfrm>
            <a:off x="1689034" y="2320268"/>
            <a:ext cx="4664747" cy="452123"/>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000000"/>
                </a:solidFill>
                <a:latin typeface="Carlito" pitchFamily="34" charset="0"/>
                <a:ea typeface="Carlito" pitchFamily="34" charset="-122"/>
                <a:cs typeface="Carlito" pitchFamily="34" charset="-120"/>
              </a:rPr>
              <a:t>Safety rules run before</a:t>
            </a:r>
            <a:r>
              <a:rPr lang="en-US" sz="2400" dirty="0">
                <a:solidFill>
                  <a:srgbClr val="000000"/>
                </a:solidFill>
                <a:latin typeface="Carlito" pitchFamily="34" charset="0"/>
                <a:ea typeface="Carlito" pitchFamily="34" charset="-122"/>
                <a:cs typeface="Carlito" pitchFamily="34" charset="-120"/>
              </a:rPr>
              <a:t> any estimate</a:t>
            </a:r>
            <a:endParaRPr lang="en-US" sz="2400" dirty="0"/>
          </a:p>
        </p:txBody>
      </p:sp>
      <p:sp>
        <p:nvSpPr>
          <p:cNvPr id="11" name="Shape 7"/>
          <p:cNvSpPr/>
          <p:nvPr/>
        </p:nvSpPr>
        <p:spPr>
          <a:xfrm>
            <a:off x="952459" y="3067013"/>
            <a:ext cx="508000" cy="508000"/>
          </a:xfrm>
          <a:prstGeom prst="roundRect">
            <a:avLst>
              <a:gd name="adj" fmla="val 50000"/>
            </a:avLst>
          </a:prstGeom>
          <a:solidFill>
            <a:srgbClr val="002060"/>
          </a:solidFill>
          <a:ln/>
        </p:spPr>
        <p:txBody>
          <a:bodyPr/>
          <a:p/>
        </p:txBody>
      </p:sp>
      <p:sp>
        <p:nvSpPr>
          <p:cNvPr id="12" name="Text 8"/>
          <p:cNvSpPr/>
          <p:nvPr/>
        </p:nvSpPr>
        <p:spPr>
          <a:xfrm>
            <a:off x="927059" y="3067013"/>
            <a:ext cx="558800" cy="533400"/>
          </a:xfrm>
          <a:prstGeom prst="rect">
            <a:avLst/>
          </a:prstGeom>
          <a:noFill/>
          <a:ln/>
        </p:spPr>
        <p:txBody>
          <a:bodyPr wrap="square" lIns="0" tIns="0" rIns="0" bIns="0" rtlCol="0" anchor="t">
            <a:normAutofit/>
          </a:bodyPr>
          <a:lstStyle/>
          <a:p>
            <a:pPr algn="ctr" indent="0" marL="0">
              <a:lnSpc>
                <a:spcPts val="4000"/>
              </a:lnSpc>
              <a:buNone/>
            </a:pPr>
            <a:r>
              <a:rPr lang="en-US" sz="2000" b="1" dirty="0">
                <a:solidFill>
                  <a:srgbClr val="FFFFFF"/>
                </a:solidFill>
                <a:latin typeface="Carlito" pitchFamily="34" charset="0"/>
                <a:ea typeface="Carlito" pitchFamily="34" charset="-122"/>
                <a:cs typeface="Carlito" pitchFamily="34" charset="-120"/>
              </a:rPr>
              <a:t>3</a:t>
            </a:r>
            <a:endParaRPr lang="en-US" sz="2000" dirty="0"/>
          </a:p>
        </p:txBody>
      </p:sp>
      <p:sp>
        <p:nvSpPr>
          <p:cNvPr id="13" name="Text 9"/>
          <p:cNvSpPr/>
          <p:nvPr/>
        </p:nvSpPr>
        <p:spPr>
          <a:xfrm>
            <a:off x="1689034" y="3107655"/>
            <a:ext cx="6718532" cy="452123"/>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000000"/>
                </a:solidFill>
                <a:latin typeface="Carlito" pitchFamily="34" charset="0"/>
                <a:ea typeface="Carlito" pitchFamily="34" charset="-122"/>
                <a:cs typeface="Carlito" pitchFamily="34" charset="-120"/>
              </a:rPr>
              <a:t>Honest uncertainty:</a:t>
            </a:r>
            <a:r>
              <a:rPr lang="en-US" sz="2400" dirty="0">
                <a:solidFill>
                  <a:srgbClr val="000000"/>
                </a:solidFill>
                <a:latin typeface="Carlito" pitchFamily="34" charset="0"/>
                <a:ea typeface="Carlito" pitchFamily="34" charset="-122"/>
                <a:cs typeface="Carlito" pitchFamily="34" charset="-120"/>
              </a:rPr>
              <a:t> 95% ranges and refusal to guess</a:t>
            </a:r>
            <a:endParaRPr lang="en-US" sz="2400" dirty="0"/>
          </a:p>
        </p:txBody>
      </p:sp>
      <p:sp>
        <p:nvSpPr>
          <p:cNvPr id="14" name="Shape 10"/>
          <p:cNvSpPr/>
          <p:nvPr/>
        </p:nvSpPr>
        <p:spPr>
          <a:xfrm>
            <a:off x="952459" y="3854400"/>
            <a:ext cx="508000" cy="508000"/>
          </a:xfrm>
          <a:prstGeom prst="roundRect">
            <a:avLst>
              <a:gd name="adj" fmla="val 50000"/>
            </a:avLst>
          </a:prstGeom>
          <a:solidFill>
            <a:srgbClr val="002060"/>
          </a:solidFill>
          <a:ln/>
        </p:spPr>
        <p:txBody>
          <a:bodyPr/>
          <a:p/>
        </p:txBody>
      </p:sp>
      <p:sp>
        <p:nvSpPr>
          <p:cNvPr id="15" name="Text 11"/>
          <p:cNvSpPr/>
          <p:nvPr/>
        </p:nvSpPr>
        <p:spPr>
          <a:xfrm>
            <a:off x="927059" y="3854400"/>
            <a:ext cx="558800" cy="533400"/>
          </a:xfrm>
          <a:prstGeom prst="rect">
            <a:avLst/>
          </a:prstGeom>
          <a:noFill/>
          <a:ln/>
        </p:spPr>
        <p:txBody>
          <a:bodyPr wrap="square" lIns="0" tIns="0" rIns="0" bIns="0" rtlCol="0" anchor="t">
            <a:normAutofit/>
          </a:bodyPr>
          <a:lstStyle/>
          <a:p>
            <a:pPr algn="ctr" indent="0" marL="0">
              <a:lnSpc>
                <a:spcPts val="4000"/>
              </a:lnSpc>
              <a:buNone/>
            </a:pPr>
            <a:r>
              <a:rPr lang="en-US" sz="2000" b="1" dirty="0">
                <a:solidFill>
                  <a:srgbClr val="FFFFFF"/>
                </a:solidFill>
                <a:latin typeface="Carlito" pitchFamily="34" charset="0"/>
                <a:ea typeface="Carlito" pitchFamily="34" charset="-122"/>
                <a:cs typeface="Carlito" pitchFamily="34" charset="-120"/>
              </a:rPr>
              <a:t>4</a:t>
            </a:r>
            <a:endParaRPr lang="en-US" sz="2000" dirty="0"/>
          </a:p>
        </p:txBody>
      </p:sp>
      <p:sp>
        <p:nvSpPr>
          <p:cNvPr id="16" name="Text 12"/>
          <p:cNvSpPr/>
          <p:nvPr/>
        </p:nvSpPr>
        <p:spPr>
          <a:xfrm>
            <a:off x="1689034" y="3895030"/>
            <a:ext cx="9800000" cy="452123"/>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000000"/>
                </a:solidFill>
                <a:latin typeface="Carlito" pitchFamily="34" charset="0"/>
                <a:ea typeface="Carlito" pitchFamily="34" charset="-122"/>
                <a:cs typeface="Carlito" pitchFamily="34" charset="-120"/>
              </a:rPr>
              <a:t>Next:</a:t>
            </a:r>
            <a:r>
              <a:rPr lang="en-US" sz="2400" dirty="0">
                <a:solidFill>
                  <a:srgbClr val="000000"/>
                </a:solidFill>
                <a:latin typeface="Carlito" pitchFamily="34" charset="0"/>
                <a:ea typeface="Carlito" pitchFamily="34" charset="-122"/>
                <a:cs typeface="Carlito" pitchFamily="34" charset="-120"/>
              </a:rPr>
              <a:t> one chat app, doctor review, IEEE paper</a:t>
            </a:r>
            <a:endParaRPr lang="en-US" sz="2400" dirty="0"/>
          </a:p>
        </p:txBody>
      </p:sp>
      <p:sp>
        <p:nvSpPr>
          <p:cNvPr id="17" name="Shape 13"/>
          <p:cNvSpPr/>
          <p:nvPr/>
        </p:nvSpPr>
        <p:spPr>
          <a:xfrm>
            <a:off x="619100" y="4816425"/>
            <a:ext cx="10953800" cy="642822"/>
          </a:xfrm>
          <a:prstGeom prst="rect">
            <a:avLst/>
          </a:prstGeom>
          <a:solidFill>
            <a:srgbClr val="E9EEF6"/>
          </a:solidFill>
          <a:ln w="19050">
            <a:solidFill>
              <a:srgbClr val="002060"/>
            </a:solidFill>
            <a:prstDash val="solid"/>
          </a:ln>
        </p:spPr>
        <p:txBody>
          <a:bodyPr/>
          <a:p/>
        </p:txBody>
      </p:sp>
      <p:sp>
        <p:nvSpPr>
          <p:cNvPr id="18" name="Text 14"/>
          <p:cNvSpPr/>
          <p:nvPr/>
        </p:nvSpPr>
        <p:spPr>
          <a:xfrm>
            <a:off x="699491" y="4977805"/>
            <a:ext cx="10793017" cy="345463"/>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000000"/>
                </a:solidFill>
                <a:latin typeface="Carlito" pitchFamily="34" charset="0"/>
                <a:ea typeface="Carlito" pitchFamily="34" charset="-122"/>
                <a:cs typeface="Carlito" pitchFamily="34" charset="-120"/>
              </a:rPr>
              <a:t>The doctor always decides.</a:t>
            </a:r>
            <a:r>
              <a:rPr lang="en-US" sz="1800" dirty="0">
                <a:solidFill>
                  <a:srgbClr val="000000"/>
                </a:solidFill>
                <a:latin typeface="Carlito" pitchFamily="34" charset="0"/>
                <a:ea typeface="Carlito" pitchFamily="34" charset="-122"/>
                <a:cs typeface="Carlito" pitchFamily="34" charset="-120"/>
              </a:rPr>
              <a:t> The system supports, and never replaces, clinical judgement.</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References</a:t>
            </a:r>
            <a:endParaRPr lang="en-US" sz="3200" dirty="0"/>
          </a:p>
        </p:txBody>
      </p:sp>
      <p:pic>
        <p:nvPicPr>
          <p:cNvPr id="3" name="Image 0" descr="line">    </p:cNvPr>
          <p:cNvPicPr>
            <a:picLocks noChangeAspect="1"/>
          </p:cNvPicPr>
          <p:nvPr/>
        </p:nvPicPr>
        <p:blipFill>
          <a:blip r:embed="rId1"/>
          <a:srcRect l="0" r="0" t="0" b="0"/>
          <a:stretch/>
        </p:blipFill>
        <p:spPr>
          <a:xfrm>
            <a:off x="609575" y="1054075"/>
            <a:ext cx="10972767" cy="63500"/>
          </a:xfrm>
          <a:prstGeom prst="rect">
            <a:avLst/>
          </a:prstGeom>
        </p:spPr>
      </p:pic>
      <p:pic>
        <p:nvPicPr>
          <p:cNvPr id="4" name="Image 1" descr="College logo">    </p:cNvPr>
          <p:cNvPicPr>
            <a:picLocks noChangeAspect="1"/>
          </p:cNvPicPr>
          <p:nvPr/>
        </p:nvPicPr>
        <p:blipFill>
          <a:blip r:embed="rId2"/>
          <a:srcRect l="0" r="0" t="-124" b="-124"/>
          <a:stretch/>
        </p:blipFill>
        <p:spPr>
          <a:xfrm>
            <a:off x="10795000" y="101575"/>
            <a:ext cx="889000" cy="857250"/>
          </a:xfrm>
          <a:prstGeom prst="rect">
            <a:avLst/>
          </a:prstGeom>
        </p:spPr>
      </p:pic>
      <p:sp>
        <p:nvSpPr>
          <p:cNvPr id="5" name="Text 1"/>
          <p:cNvSpPr/>
          <p:nvPr/>
        </p:nvSpPr>
        <p:spPr>
          <a:xfrm>
            <a:off x="609575" y="1333500"/>
            <a:ext cx="495300" cy="4876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60"/>
                </a:solidFill>
                <a:latin typeface="Carlito" pitchFamily="34" charset="0"/>
                <a:ea typeface="Carlito" pitchFamily="34" charset="-122"/>
                <a:cs typeface="Carlito" pitchFamily="34" charset="-120"/>
              </a:rPr>
              <a:t>[1]</a:t>
            </a:r>
            <a:endParaRPr lang="en-US" sz="1400" dirty="0"/>
          </a:p>
        </p:txBody>
      </p:sp>
      <p:sp>
        <p:nvSpPr>
          <p:cNvPr id="6" name="Text 2"/>
          <p:cNvSpPr/>
          <p:nvPr/>
        </p:nvSpPr>
        <p:spPr>
          <a:xfrm>
            <a:off x="1181075" y="1333500"/>
            <a:ext cx="10713390" cy="487677"/>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00000"/>
                </a:solidFill>
                <a:latin typeface="Carlito" pitchFamily="34" charset="0"/>
                <a:ea typeface="Carlito" pitchFamily="34" charset="-122"/>
                <a:cs typeface="Carlito" pitchFamily="34" charset="-120"/>
              </a:rPr>
              <a:t>B. M. Shields et al., “Patient stratification for determining optimal second-line and third-line therapy for type 2 diabetes: the TriMaster study,” </a:t>
            </a:r>
            <a:r>
              <a:rPr lang="en-US" sz="1400" i="1" dirty="0">
                <a:solidFill>
                  <a:srgbClr val="000000"/>
                </a:solidFill>
                <a:latin typeface="Carlito" pitchFamily="34" charset="0"/>
                <a:ea typeface="Carlito" pitchFamily="34" charset="-122"/>
                <a:cs typeface="Carlito" pitchFamily="34" charset="-120"/>
              </a:rPr>
              <a:t>Nat. Med.</a:t>
            </a:r>
            <a:r>
              <a:rPr lang="en-US" sz="1400" dirty="0">
                <a:solidFill>
                  <a:srgbClr val="000000"/>
                </a:solidFill>
                <a:latin typeface="Carlito" pitchFamily="34" charset="0"/>
                <a:ea typeface="Carlito" pitchFamily="34" charset="-122"/>
                <a:cs typeface="Carlito" pitchFamily="34" charset="-120"/>
              </a:rPr>
              <a:t>, vol. 29, pp. 376–383, 2023.</a:t>
            </a:r>
            <a:endParaRPr lang="en-US" sz="1400" dirty="0"/>
          </a:p>
        </p:txBody>
      </p:sp>
      <p:sp>
        <p:nvSpPr>
          <p:cNvPr id="7" name="Text 3"/>
          <p:cNvSpPr/>
          <p:nvPr/>
        </p:nvSpPr>
        <p:spPr>
          <a:xfrm>
            <a:off x="609575" y="1910035"/>
            <a:ext cx="495300" cy="4876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60"/>
                </a:solidFill>
                <a:latin typeface="Carlito" pitchFamily="34" charset="0"/>
                <a:ea typeface="Carlito" pitchFamily="34" charset="-122"/>
                <a:cs typeface="Carlito" pitchFamily="34" charset="-120"/>
              </a:rPr>
              <a:t>[2]</a:t>
            </a:r>
            <a:endParaRPr lang="en-US" sz="1400" dirty="0"/>
          </a:p>
        </p:txBody>
      </p:sp>
      <p:sp>
        <p:nvSpPr>
          <p:cNvPr id="8" name="Text 4"/>
          <p:cNvSpPr/>
          <p:nvPr/>
        </p:nvSpPr>
        <p:spPr>
          <a:xfrm>
            <a:off x="1181075" y="1910035"/>
            <a:ext cx="10713390" cy="487677"/>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00000"/>
                </a:solidFill>
                <a:latin typeface="Carlito" pitchFamily="34" charset="0"/>
                <a:ea typeface="Carlito" pitchFamily="34" charset="-122"/>
                <a:cs typeface="Carlito" pitchFamily="34" charset="-120"/>
              </a:rPr>
              <a:t>J. M. Dennis et al., “Development of a treatment selection algorithm for SGLT2 and DPP-4 inhibitor therapies in people with type 2 diabetes,” </a:t>
            </a:r>
            <a:r>
              <a:rPr lang="en-US" sz="1400" i="1" dirty="0">
                <a:solidFill>
                  <a:srgbClr val="000000"/>
                </a:solidFill>
                <a:latin typeface="Carlito" pitchFamily="34" charset="0"/>
                <a:ea typeface="Carlito" pitchFamily="34" charset="-122"/>
                <a:cs typeface="Carlito" pitchFamily="34" charset="-120"/>
              </a:rPr>
              <a:t>Lancet Digit. Health</a:t>
            </a:r>
            <a:r>
              <a:rPr lang="en-US" sz="1400" dirty="0">
                <a:solidFill>
                  <a:srgbClr val="000000"/>
                </a:solidFill>
                <a:latin typeface="Carlito" pitchFamily="34" charset="0"/>
                <a:ea typeface="Carlito" pitchFamily="34" charset="-122"/>
                <a:cs typeface="Carlito" pitchFamily="34" charset="-120"/>
              </a:rPr>
              <a:t>, vol. 4, no. 12, pp. e873–e883, 2022.</a:t>
            </a:r>
            <a:endParaRPr lang="en-US" sz="1400" dirty="0"/>
          </a:p>
        </p:txBody>
      </p:sp>
      <p:sp>
        <p:nvSpPr>
          <p:cNvPr id="9" name="Text 5"/>
          <p:cNvSpPr/>
          <p:nvPr/>
        </p:nvSpPr>
        <p:spPr>
          <a:xfrm>
            <a:off x="609575" y="2486583"/>
            <a:ext cx="495300" cy="4876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60"/>
                </a:solidFill>
                <a:latin typeface="Carlito" pitchFamily="34" charset="0"/>
                <a:ea typeface="Carlito" pitchFamily="34" charset="-122"/>
                <a:cs typeface="Carlito" pitchFamily="34" charset="-120"/>
              </a:rPr>
              <a:t>[3]</a:t>
            </a:r>
            <a:endParaRPr lang="en-US" sz="1400" dirty="0"/>
          </a:p>
        </p:txBody>
      </p:sp>
      <p:sp>
        <p:nvSpPr>
          <p:cNvPr id="10" name="Text 6"/>
          <p:cNvSpPr/>
          <p:nvPr/>
        </p:nvSpPr>
        <p:spPr>
          <a:xfrm>
            <a:off x="1181075" y="2486583"/>
            <a:ext cx="10713390" cy="487677"/>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00000"/>
                </a:solidFill>
                <a:latin typeface="Carlito" pitchFamily="34" charset="0"/>
                <a:ea typeface="Carlito" pitchFamily="34" charset="-122"/>
                <a:cs typeface="Carlito" pitchFamily="34" charset="-120"/>
              </a:rPr>
              <a:t>L. M. Gudemann et al., “Validation of an algorithm for selection of SGLT2 and DPP4 inhibitor therapies in people with type 2 diabetes across major UK ethnicity groups,” </a:t>
            </a:r>
            <a:r>
              <a:rPr lang="en-US" sz="1400" i="1" dirty="0">
                <a:solidFill>
                  <a:srgbClr val="000000"/>
                </a:solidFill>
                <a:latin typeface="Carlito" pitchFamily="34" charset="0"/>
                <a:ea typeface="Carlito" pitchFamily="34" charset="-122"/>
                <a:cs typeface="Carlito" pitchFamily="34" charset="-120"/>
              </a:rPr>
              <a:t>Lancet Reg. Health Eur.</a:t>
            </a:r>
            <a:r>
              <a:rPr lang="en-US" sz="1400" dirty="0">
                <a:solidFill>
                  <a:srgbClr val="000000"/>
                </a:solidFill>
                <a:latin typeface="Carlito" pitchFamily="34" charset="0"/>
                <a:ea typeface="Carlito" pitchFamily="34" charset="-122"/>
                <a:cs typeface="Carlito" pitchFamily="34" charset="-120"/>
              </a:rPr>
              <a:t>, vol. 61, 101547, 2026.</a:t>
            </a:r>
            <a:endParaRPr lang="en-US" sz="1400" dirty="0"/>
          </a:p>
        </p:txBody>
      </p:sp>
      <p:sp>
        <p:nvSpPr>
          <p:cNvPr id="11" name="Text 7"/>
          <p:cNvSpPr/>
          <p:nvPr/>
        </p:nvSpPr>
        <p:spPr>
          <a:xfrm>
            <a:off x="609575" y="3063131"/>
            <a:ext cx="495300" cy="4876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60"/>
                </a:solidFill>
                <a:latin typeface="Carlito" pitchFamily="34" charset="0"/>
                <a:ea typeface="Carlito" pitchFamily="34" charset="-122"/>
                <a:cs typeface="Carlito" pitchFamily="34" charset="-120"/>
              </a:rPr>
              <a:t>[4]</a:t>
            </a:r>
            <a:endParaRPr lang="en-US" sz="1400" dirty="0"/>
          </a:p>
        </p:txBody>
      </p:sp>
      <p:sp>
        <p:nvSpPr>
          <p:cNvPr id="12" name="Text 8"/>
          <p:cNvSpPr/>
          <p:nvPr/>
        </p:nvSpPr>
        <p:spPr>
          <a:xfrm>
            <a:off x="1181075" y="3063131"/>
            <a:ext cx="10713390" cy="487677"/>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00000"/>
                </a:solidFill>
                <a:latin typeface="Carlito" pitchFamily="34" charset="0"/>
                <a:ea typeface="Carlito" pitchFamily="34" charset="-122"/>
                <a:cs typeface="Carlito" pitchFamily="34" charset="-120"/>
              </a:rPr>
              <a:t>R. M. Anjana et al., “Metabolic non-communicable disease health report of India: the ICMR-INDIAB national cross-sectional study (ICMR-INDIAB-17),” </a:t>
            </a:r>
            <a:r>
              <a:rPr lang="en-US" sz="1400" i="1" dirty="0">
                <a:solidFill>
                  <a:srgbClr val="000000"/>
                </a:solidFill>
                <a:latin typeface="Carlito" pitchFamily="34" charset="0"/>
                <a:ea typeface="Carlito" pitchFamily="34" charset="-122"/>
                <a:cs typeface="Carlito" pitchFamily="34" charset="-120"/>
              </a:rPr>
              <a:t>Lancet Diabetes Endocrinol.</a:t>
            </a:r>
            <a:r>
              <a:rPr lang="en-US" sz="1400" dirty="0">
                <a:solidFill>
                  <a:srgbClr val="000000"/>
                </a:solidFill>
                <a:latin typeface="Carlito" pitchFamily="34" charset="0"/>
                <a:ea typeface="Carlito" pitchFamily="34" charset="-122"/>
                <a:cs typeface="Carlito" pitchFamily="34" charset="-120"/>
              </a:rPr>
              <a:t>, vol. 11, no. 7, pp. 474–489, 2023.</a:t>
            </a:r>
            <a:endParaRPr lang="en-US" sz="1400" dirty="0"/>
          </a:p>
        </p:txBody>
      </p:sp>
      <p:sp>
        <p:nvSpPr>
          <p:cNvPr id="13" name="Text 9"/>
          <p:cNvSpPr/>
          <p:nvPr/>
        </p:nvSpPr>
        <p:spPr>
          <a:xfrm>
            <a:off x="609575" y="3639666"/>
            <a:ext cx="495300" cy="4876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60"/>
                </a:solidFill>
                <a:latin typeface="Carlito" pitchFamily="34" charset="0"/>
                <a:ea typeface="Carlito" pitchFamily="34" charset="-122"/>
                <a:cs typeface="Carlito" pitchFamily="34" charset="-120"/>
              </a:rPr>
              <a:t>[5]</a:t>
            </a:r>
            <a:endParaRPr lang="en-US" sz="1400" dirty="0"/>
          </a:p>
        </p:txBody>
      </p:sp>
      <p:sp>
        <p:nvSpPr>
          <p:cNvPr id="14" name="Text 10"/>
          <p:cNvSpPr/>
          <p:nvPr/>
        </p:nvSpPr>
        <p:spPr>
          <a:xfrm>
            <a:off x="1181075" y="3639666"/>
            <a:ext cx="10713390" cy="487677"/>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00000"/>
                </a:solidFill>
                <a:latin typeface="Carlito" pitchFamily="34" charset="0"/>
                <a:ea typeface="Carlito" pitchFamily="34" charset="-122"/>
                <a:cs typeface="Carlito" pitchFamily="34" charset="-120"/>
              </a:rPr>
              <a:t>E. H. Kennedy, “Towards optimal doubly robust estimation of heterogeneous causal effects,” </a:t>
            </a:r>
            <a:r>
              <a:rPr lang="en-US" sz="1400" i="1" dirty="0">
                <a:solidFill>
                  <a:srgbClr val="000000"/>
                </a:solidFill>
                <a:latin typeface="Carlito" pitchFamily="34" charset="0"/>
                <a:ea typeface="Carlito" pitchFamily="34" charset="-122"/>
                <a:cs typeface="Carlito" pitchFamily="34" charset="-120"/>
              </a:rPr>
              <a:t>Electron. J. Stat.</a:t>
            </a:r>
            <a:r>
              <a:rPr lang="en-US" sz="1400" dirty="0">
                <a:solidFill>
                  <a:srgbClr val="000000"/>
                </a:solidFill>
                <a:latin typeface="Carlito" pitchFamily="34" charset="0"/>
                <a:ea typeface="Carlito" pitchFamily="34" charset="-122"/>
                <a:cs typeface="Carlito" pitchFamily="34" charset="-120"/>
              </a:rPr>
              <a:t>, vol. 17, no. 2, pp. 3008–3049, 2023.</a:t>
            </a:r>
            <a:endParaRPr lang="en-US" sz="1400" dirty="0"/>
          </a:p>
        </p:txBody>
      </p:sp>
      <p:sp>
        <p:nvSpPr>
          <p:cNvPr id="15" name="Text 11"/>
          <p:cNvSpPr/>
          <p:nvPr/>
        </p:nvSpPr>
        <p:spPr>
          <a:xfrm>
            <a:off x="609575" y="4216214"/>
            <a:ext cx="495300" cy="27431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60"/>
                </a:solidFill>
                <a:latin typeface="Carlito" pitchFamily="34" charset="0"/>
                <a:ea typeface="Carlito" pitchFamily="34" charset="-122"/>
                <a:cs typeface="Carlito" pitchFamily="34" charset="-120"/>
              </a:rPr>
              <a:t>[6]</a:t>
            </a:r>
            <a:endParaRPr lang="en-US" sz="1400" dirty="0"/>
          </a:p>
        </p:txBody>
      </p:sp>
      <p:sp>
        <p:nvSpPr>
          <p:cNvPr id="16" name="Text 12"/>
          <p:cNvSpPr/>
          <p:nvPr/>
        </p:nvSpPr>
        <p:spPr>
          <a:xfrm>
            <a:off x="1181075" y="4216214"/>
            <a:ext cx="10713390" cy="27431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00000"/>
                </a:solidFill>
                <a:latin typeface="Carlito" pitchFamily="34" charset="0"/>
                <a:ea typeface="Carlito" pitchFamily="34" charset="-122"/>
                <a:cs typeface="Carlito" pitchFamily="34" charset="-120"/>
              </a:rPr>
              <a:t>P. Lewis et al., “Retrieval-augmented generation for knowledge-intensive NLP tasks,” in </a:t>
            </a:r>
            <a:r>
              <a:rPr lang="en-US" sz="1400" i="1" dirty="0">
                <a:solidFill>
                  <a:srgbClr val="000000"/>
                </a:solidFill>
                <a:latin typeface="Carlito" pitchFamily="34" charset="0"/>
                <a:ea typeface="Carlito" pitchFamily="34" charset="-122"/>
                <a:cs typeface="Carlito" pitchFamily="34" charset="-120"/>
              </a:rPr>
              <a:t>Proc. NeurIPS</a:t>
            </a:r>
            <a:r>
              <a:rPr lang="en-US" sz="1400" dirty="0">
                <a:solidFill>
                  <a:srgbClr val="000000"/>
                </a:solidFill>
                <a:latin typeface="Carlito" pitchFamily="34" charset="0"/>
                <a:ea typeface="Carlito" pitchFamily="34" charset="-122"/>
                <a:cs typeface="Carlito" pitchFamily="34" charset="-120"/>
              </a:rPr>
              <a:t>, 2020.</a:t>
            </a:r>
            <a:endParaRPr lang="en-US" sz="1400" dirty="0"/>
          </a:p>
        </p:txBody>
      </p:sp>
      <p:sp>
        <p:nvSpPr>
          <p:cNvPr id="17" name="Text 13"/>
          <p:cNvSpPr/>
          <p:nvPr/>
        </p:nvSpPr>
        <p:spPr>
          <a:xfrm>
            <a:off x="609575" y="4579392"/>
            <a:ext cx="495300" cy="4876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60"/>
                </a:solidFill>
                <a:latin typeface="Carlito" pitchFamily="34" charset="0"/>
                <a:ea typeface="Carlito" pitchFamily="34" charset="-122"/>
                <a:cs typeface="Carlito" pitchFamily="34" charset="-120"/>
              </a:rPr>
              <a:t>[7]</a:t>
            </a:r>
            <a:endParaRPr lang="en-US" sz="1400" dirty="0"/>
          </a:p>
        </p:txBody>
      </p:sp>
      <p:sp>
        <p:nvSpPr>
          <p:cNvPr id="18" name="Text 14"/>
          <p:cNvSpPr/>
          <p:nvPr/>
        </p:nvSpPr>
        <p:spPr>
          <a:xfrm>
            <a:off x="1181075" y="4579392"/>
            <a:ext cx="10713390" cy="487677"/>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00000"/>
                </a:solidFill>
                <a:latin typeface="Carlito" pitchFamily="34" charset="0"/>
                <a:ea typeface="Carlito" pitchFamily="34" charset="-122"/>
                <a:cs typeface="Carlito" pitchFamily="34" charset="-120"/>
              </a:rPr>
              <a:t>A. G. Cashin et al., “Transparent reporting of observational studies emulating a target trial – the TARGET statement,” </a:t>
            </a:r>
            <a:r>
              <a:rPr lang="en-US" sz="1400" i="1" dirty="0">
                <a:solidFill>
                  <a:srgbClr val="000000"/>
                </a:solidFill>
                <a:latin typeface="Carlito" pitchFamily="34" charset="0"/>
                <a:ea typeface="Carlito" pitchFamily="34" charset="-122"/>
                <a:cs typeface="Carlito" pitchFamily="34" charset="-120"/>
              </a:rPr>
              <a:t>JAMA</a:t>
            </a:r>
            <a:r>
              <a:rPr lang="en-US" sz="1400" dirty="0">
                <a:solidFill>
                  <a:srgbClr val="000000"/>
                </a:solidFill>
                <a:latin typeface="Carlito" pitchFamily="34" charset="0"/>
                <a:ea typeface="Carlito" pitchFamily="34" charset="-122"/>
                <a:cs typeface="Carlito" pitchFamily="34" charset="-120"/>
              </a:rPr>
              <a:t>, vol. 334, no. 12, pp. 1084–1093, 2025.</a:t>
            </a:r>
            <a:endParaRPr lang="en-US" sz="1400" dirty="0"/>
          </a:p>
        </p:txBody>
      </p:sp>
      <p:sp>
        <p:nvSpPr>
          <p:cNvPr id="17" name="Text 13"/>
          <p:cNvSpPr/>
          <p:nvPr/>
        </p:nvSpPr>
        <p:spPr>
          <a:xfrm>
            <a:off x="609575" y="5155000"/>
            <a:ext cx="495300" cy="4876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60"/>
                </a:solidFill>
                <a:latin typeface="Carlito" pitchFamily="34" charset="0"/>
                <a:ea typeface="Carlito" pitchFamily="34" charset="-122"/>
                <a:cs typeface="Carlito" pitchFamily="34" charset="-120"/>
              </a:rPr>
              <a:t>[8]</a:t>
            </a:r>
            <a:endParaRPr lang="en-US" sz="1400" dirty="0"/>
          </a:p>
        </p:txBody>
      </p:sp>
      <p:sp>
        <p:nvSpPr>
          <p:cNvPr id="18" name="Text 14"/>
          <p:cNvSpPr/>
          <p:nvPr/>
        </p:nvSpPr>
        <p:spPr>
          <a:xfrm>
            <a:off x="1181075" y="5155000"/>
            <a:ext cx="10713390" cy="487677"/>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00000"/>
                </a:solidFill>
                <a:latin typeface="Carlito" pitchFamily="34" charset="0"/>
                <a:ea typeface="Carlito" pitchFamily="34" charset="-122"/>
                <a:cs typeface="Carlito" pitchFamily="34" charset="-120"/>
              </a:rPr>
              <a:t>R. Nagarathna et al., “A composite of BMI and waist circumference may be a better obesity metric in Indians with high risk for type 2 diabetes (NMB-2017),” Diabetes Res. Clin. Pract., 2020.</a:t>
            </a:r>
            <a:endParaRPr lang="en-US" sz="1400" dirty="0"/>
          </a:p>
        </p:txBody>
      </p:sp>
      <p:sp>
        <p:nvSpPr>
          <p:cNvPr id="17" name="Text 13"/>
          <p:cNvSpPr/>
          <p:nvPr/>
        </p:nvSpPr>
        <p:spPr>
          <a:xfrm>
            <a:off x="609575" y="5731000"/>
            <a:ext cx="495300" cy="48767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2060"/>
                </a:solidFill>
                <a:latin typeface="Carlito" pitchFamily="34" charset="0"/>
                <a:ea typeface="Carlito" pitchFamily="34" charset="-122"/>
                <a:cs typeface="Carlito" pitchFamily="34" charset="-120"/>
              </a:rPr>
              <a:t>[9]</a:t>
            </a:r>
            <a:endParaRPr lang="en-US" sz="1400" dirty="0"/>
          </a:p>
        </p:txBody>
      </p:sp>
      <p:sp>
        <p:nvSpPr>
          <p:cNvPr id="18" name="Text 14"/>
          <p:cNvSpPr/>
          <p:nvPr/>
        </p:nvSpPr>
        <p:spPr>
          <a:xfrm>
            <a:off x="1181075" y="5731000"/>
            <a:ext cx="10713390" cy="487677"/>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00000"/>
                </a:solidFill>
                <a:latin typeface="Carlito" pitchFamily="34" charset="0"/>
                <a:ea typeface="Carlito" pitchFamily="34" charset="-122"/>
                <a:cs typeface="Carlito" pitchFamily="34" charset="-120"/>
              </a:rPr>
              <a:t>World Health Organization, “Guidelines on second- and third-line medicines and type of insulin for the control of blood glucose levels in non-pregnant adults with diabetes mellitus,” WHO, Geneva, 2018.</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00" y="2095500"/>
            <a:ext cx="10287000" cy="76192"/>
          </a:xfrm>
          <a:prstGeom prst="rect">
            <a:avLst/>
          </a:prstGeom>
          <a:solidFill>
            <a:srgbClr val="002060"/>
          </a:solidFill>
          <a:ln/>
        </p:spPr>
      </p:sp>
      <p:sp>
        <p:nvSpPr>
          <p:cNvPr id="3" name="Shape 1"/>
          <p:cNvSpPr/>
          <p:nvPr/>
        </p:nvSpPr>
        <p:spPr>
          <a:xfrm>
            <a:off x="952500" y="4699000"/>
            <a:ext cx="10287000" cy="76192"/>
          </a:xfrm>
          <a:prstGeom prst="rect">
            <a:avLst/>
          </a:prstGeom>
          <a:solidFill>
            <a:srgbClr val="002060"/>
          </a:solidFill>
          <a:ln/>
        </p:spPr>
      </p:sp>
      <p:sp>
        <p:nvSpPr>
          <p:cNvPr id="4" name="Shape 2"/>
          <p:cNvSpPr/>
          <p:nvPr/>
        </p:nvSpPr>
        <p:spPr>
          <a:xfrm>
            <a:off x="3302000" y="698500"/>
            <a:ext cx="76192" cy="5461000"/>
          </a:xfrm>
          <a:prstGeom prst="rect">
            <a:avLst/>
          </a:prstGeom>
          <a:solidFill>
            <a:srgbClr val="002060"/>
          </a:solidFill>
          <a:ln/>
        </p:spPr>
      </p:sp>
      <p:sp>
        <p:nvSpPr>
          <p:cNvPr id="5" name="Shape 3"/>
          <p:cNvSpPr/>
          <p:nvPr/>
        </p:nvSpPr>
        <p:spPr>
          <a:xfrm>
            <a:off x="8826500" y="698500"/>
            <a:ext cx="76192" cy="5461000"/>
          </a:xfrm>
          <a:prstGeom prst="rect">
            <a:avLst/>
          </a:prstGeom>
          <a:solidFill>
            <a:srgbClr val="002060"/>
          </a:solidFill>
          <a:ln/>
        </p:spPr>
      </p:sp>
      <p:sp>
        <p:nvSpPr>
          <p:cNvPr id="6" name="Text 4"/>
          <p:cNvSpPr/>
          <p:nvPr/>
        </p:nvSpPr>
        <p:spPr>
          <a:xfrm>
            <a:off x="4121014" y="2901938"/>
            <a:ext cx="3962623" cy="1092167"/>
          </a:xfrm>
          <a:prstGeom prst="rect">
            <a:avLst/>
          </a:prstGeom>
          <a:noFill/>
          <a:ln/>
        </p:spPr>
        <p:txBody>
          <a:bodyPr wrap="square" lIns="0" tIns="0" rIns="0" bIns="0" rtlCol="0" anchor="t">
            <a:normAutofit/>
          </a:bodyPr>
          <a:lstStyle/>
          <a:p>
            <a:pPr algn="ctr" indent="0" marL="0">
              <a:lnSpc>
                <a:spcPts val="8400"/>
              </a:lnSpc>
              <a:buNone/>
            </a:pPr>
            <a:r>
              <a:rPr lang="en-US" sz="6000" b="1" dirty="0">
                <a:solidFill>
                  <a:srgbClr val="000000"/>
                </a:solidFill>
                <a:latin typeface="Times New Roman" pitchFamily="34" charset="0"/>
                <a:ea typeface="Times New Roman" pitchFamily="34" charset="-122"/>
                <a:cs typeface="Times New Roman" pitchFamily="34" charset="-120"/>
              </a:rPr>
              <a:t>Thank You!</a:t>
            </a:r>
            <a:endParaRPr lang="en-US" sz="6000" dirty="0"/>
          </a:p>
        </p:txBody>
      </p:sp>
      <p:pic>
        <p:nvPicPr>
          <p:cNvPr id="7" name="Image 0" descr="College logo">    </p:cNvPr>
          <p:cNvPicPr>
            <a:picLocks noChangeAspect="1"/>
          </p:cNvPicPr>
          <p:nvPr/>
        </p:nvPicPr>
        <p:blipFill>
          <a:blip r:embed="rId1"/>
          <a:srcRect l="0" r="0" t="-160" b="-160"/>
          <a:stretch/>
        </p:blipFill>
        <p:spPr>
          <a:xfrm>
            <a:off x="10414000" y="254000"/>
            <a:ext cx="1270000" cy="122551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Datasets – What We Use</a:t>
            </a:r>
            <a:endParaRPr lang="en-US" sz="3200" dirty="0"/>
          </a:p>
        </p:txBody>
      </p:sp>
      <p:pic>
        <p:nvPicPr>
          <p:cNvPr id="3" name="Picture 2" descr="image.png"/>
          <p:cNvPicPr>
            <a:picLocks noChangeAspect="1"/>
          </p:cNvPicPr>
          <p:nvPr/>
        </p:nvPicPr>
        <p:blipFill>
          <a:blip r:embed="rId2"/>
          <a:stretch>
            <a:fillRect/>
          </a:stretch>
        </p:blipFill>
        <p:spPr>
          <a:xfrm>
            <a:off x="609575" y="1054075"/>
            <a:ext cx="10972767" cy="63500"/>
          </a:xfrm>
          <a:prstGeom prst="rect">
            <a:avLst/>
          </a:prstGeom>
        </p:spPr>
      </p:pic>
      <p:pic>
        <p:nvPicPr>
          <p:cNvPr id="4" name="Picture 3" descr="image.png"/>
          <p:cNvPicPr>
            <a:picLocks noChangeAspect="1"/>
          </p:cNvPicPr>
          <p:nvPr/>
        </p:nvPicPr>
        <p:blipFill>
          <a:blip r:embed="rId3"/>
          <a:stretch>
            <a:fillRect/>
          </a:stretch>
        </p:blipFill>
        <p:spPr>
          <a:xfrm>
            <a:off x="10795000" y="101575"/>
            <a:ext cx="889000" cy="85725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0159" y="1300000"/>
          <a:ext cx="10962266" cy="3920000"/>
        </p:xfrm>
        <a:graphic>
          <a:graphicData uri="http://schemas.openxmlformats.org/drawingml/2006/table">
            <a:tbl>
              <a:tblPr/>
              <a:tblGrid>
                <a:gridCol w="2900000"/>
                <a:gridCol w="2650000"/>
                <a:gridCol w="2400000"/>
                <a:gridCol w="3012266"/>
              </a:tblGrid>
              <a:tr h="560000">
                <a:tc>
                  <a:txBody>
                    <a:bodyPr/>
                    <a:lstStyle/>
                    <a:p>
                      <a:pPr indent="0" marL="0">
                        <a:lnSpc>
                          <a:spcPts val="1960"/>
                        </a:lnSpc>
                        <a:buNone/>
                      </a:pPr>
                      <a:r>
                        <a:rPr lang="en-US" sz="1300" b="1" dirty="0">
                          <a:solidFill>
                            <a:srgbClr val="FFFFFF"/>
                          </a:solidFill>
                          <a:latin typeface="Carlito" pitchFamily="34" charset="0"/>
                          <a:ea typeface="Carlito" pitchFamily="34" charset="-122"/>
                          <a:cs typeface="Carlito" pitchFamily="34" charset="-120"/>
                        </a:rPr>
                        <a:t>Dataset</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960"/>
                        </a:lnSpc>
                        <a:buNone/>
                      </a:pPr>
                      <a:r>
                        <a:rPr lang="en-US" sz="1300" b="1" dirty="0">
                          <a:solidFill>
                            <a:srgbClr val="FFFFFF"/>
                          </a:solidFill>
                          <a:latin typeface="Carlito" pitchFamily="34" charset="0"/>
                          <a:ea typeface="Carlito" pitchFamily="34" charset="-122"/>
                          <a:cs typeface="Carlito" pitchFamily="34" charset="-120"/>
                        </a:rPr>
                        <a:t>Real or synthetic</a:t>
                      </a:r>
                      <a:endParaRPr lang="en-US" sz="1300" dirty="0">
                        <a:latin typeface="Carlito" charset="0"/>
                        <a:ea typeface="Carlito" charset="0"/>
                        <a:cs typeface="Carlito" charset="0"/>
                      </a:endParaRPr>
                    </a:p>
                  </a:txBody>
                  <a:tcPr marL="62230" marR="62230" marT="62230" marB="62230"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960"/>
                        </a:lnSpc>
                        <a:buNone/>
                      </a:pPr>
                      <a:r>
                        <a:rPr lang="en-US" sz="1300" b="1" dirty="0">
                          <a:solidFill>
                            <a:srgbClr val="FFFFFF"/>
                          </a:solidFill>
                          <a:latin typeface="Carlito" pitchFamily="34" charset="0"/>
                          <a:ea typeface="Carlito" pitchFamily="34" charset="-122"/>
                          <a:cs typeface="Carlito" pitchFamily="34" charset="-120"/>
                        </a:rPr>
                        <a:t>Size</a:t>
                      </a:r>
                      <a:endParaRPr lang="en-US" sz="1300" dirty="0">
                        <a:latin typeface="Carlito" charset="0"/>
                        <a:ea typeface="Carlito" charset="0"/>
                        <a:cs typeface="Carlito" charset="0"/>
                      </a:endParaRPr>
                    </a:p>
                  </a:txBody>
                  <a:tcPr marL="62230" marR="62230" marT="62230" marB="62230"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960"/>
                        </a:lnSpc>
                        <a:buNone/>
                      </a:pPr>
                      <a:r>
                        <a:rPr lang="en-US" sz="1300" b="1" dirty="0">
                          <a:solidFill>
                            <a:srgbClr val="FFFFFF"/>
                          </a:solidFill>
                          <a:latin typeface="Carlito" pitchFamily="34" charset="0"/>
                          <a:ea typeface="Carlito" pitchFamily="34" charset="-122"/>
                          <a:cs typeface="Carlito" pitchFamily="34" charset="-120"/>
                        </a:rPr>
                        <a:t>Used for</a:t>
                      </a:r>
                      <a:endParaRPr lang="en-US" sz="1300" dirty="0">
                        <a:latin typeface="Carlito" charset="0"/>
                        <a:ea typeface="Carlito" charset="0"/>
                        <a:cs typeface="Carlito" charset="0"/>
                      </a:endParaRPr>
                    </a:p>
                  </a:txBody>
                  <a:tcPr marL="62230" marR="62230" marT="62230" marB="62230"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r>
              <a:tr h="56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Synthetic patient cohort</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Synthetic, India-calibrated</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5,000 patients × 20 cohorts</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Train and grade the causal engine (true answer known)</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6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Safety rules (rules.csv)</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Real: drug labels, KDIGO</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10 rules</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Remove unsafe options before any estimate</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56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Generator parameters (params.yaml)</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Each number: source + status</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117 numbers</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How the synthetic patients are made</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6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Evidence sources (RAG)</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Real: WHO 2018, 7 US FDA notices</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26 listed, 8 in the search</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Cited evidence and quoted answers</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56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Evidence test questions</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Written by the team</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60 questions</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Measure the evidence search</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6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NMB-2017 survey (new)</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Real Indian data, CC0</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7,496 adults (1,986 diabetic)</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Check that synthetic patients look real</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bl>
          </a:graphicData>
        </a:graphic>
      </p:graphicFrame>
      <p:sp>
        <p:nvSpPr>
          <p:cNvPr id="6" name="Text 1"/>
          <p:cNvSpPr/>
          <p:nvPr/>
        </p:nvSpPr>
        <p:spPr>
          <a:xfrm>
            <a:off x="444982" y="5500000"/>
            <a:ext cx="11302035" cy="560000"/>
          </a:xfrm>
          <a:prstGeom prst="rect">
            <a:avLst/>
          </a:prstGeom>
          <a:noFill/>
          <a:ln/>
        </p:spPr>
        <p:txBody>
          <a:bodyPr wrap="square" lIns="0" tIns="0" rIns="0" bIns="0" rtlCol="0" anchor="t"/>
          <a:lstStyle/>
          <a:p>
            <a:pPr algn="ctr" indent="0" marL="0">
              <a:lnSpc>
                <a:spcPts val="1820"/>
              </a:lnSpc>
              <a:buNone/>
            </a:pPr>
            <a:r>
              <a:rPr lang="en-US" sz="1400" i="1" dirty="0">
                <a:solidFill>
                  <a:srgbClr val="595959"/>
                </a:solidFill>
                <a:latin typeface="Carlito" pitchFamily="34" charset="0"/>
                <a:ea typeface="Carlito" pitchFamily="34" charset="-122"/>
                <a:cs typeface="Carlito" pitchFamily="34" charset="-120"/>
              </a:rPr>
              <a:t>No public Indian dataset records which add-on drug each patient got and their HbA1c 6 months later, so the engine is trained and graded on synthetic data, where the true effect is known.</a:t>
            </a:r>
            <a:endParaRPr lang="en-US" sz="13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Dataset – Synthetic Cohort (How It Is Made)</a:t>
            </a:r>
            <a:endParaRPr lang="en-US" sz="3200" dirty="0"/>
          </a:p>
        </p:txBody>
      </p:sp>
      <p:pic>
        <p:nvPicPr>
          <p:cNvPr id="3" name="Picture 2" descr="image.png"/>
          <p:cNvPicPr>
            <a:picLocks noChangeAspect="1"/>
          </p:cNvPicPr>
          <p:nvPr/>
        </p:nvPicPr>
        <p:blipFill>
          <a:blip r:embed="rId2"/>
          <a:stretch>
            <a:fillRect/>
          </a:stretch>
        </p:blipFill>
        <p:spPr>
          <a:xfrm>
            <a:off x="609575" y="1054075"/>
            <a:ext cx="10972767" cy="63500"/>
          </a:xfrm>
          <a:prstGeom prst="rect">
            <a:avLst/>
          </a:prstGeom>
        </p:spPr>
      </p:pic>
      <p:pic>
        <p:nvPicPr>
          <p:cNvPr id="4" name="Picture 3" descr="image.png"/>
          <p:cNvPicPr>
            <a:picLocks noChangeAspect="1"/>
          </p:cNvPicPr>
          <p:nvPr/>
        </p:nvPicPr>
        <p:blipFill>
          <a:blip r:embed="rId3"/>
          <a:stretch>
            <a:fillRect/>
          </a:stretch>
        </p:blipFill>
        <p:spPr>
          <a:xfrm>
            <a:off x="10795000" y="101575"/>
            <a:ext cx="889000" cy="857250"/>
          </a:xfrm>
          <a:prstGeom prst="rect">
            <a:avLst/>
          </a:prstGeom>
        </p:spPr>
      </p:pic>
      <p:sp>
        <p:nvSpPr>
          <p:cNvPr id="6" name="Text 1"/>
          <p:cNvSpPr/>
          <p:nvPr/>
        </p:nvSpPr>
        <p:spPr>
          <a:xfrm>
            <a:off x="620159" y="1230000"/>
            <a:ext cx="10962266" cy="320000"/>
          </a:xfrm>
          <a:prstGeom prst="rect">
            <a:avLst/>
          </a:prstGeom>
          <a:noFill/>
          <a:ln/>
        </p:spPr>
        <p:txBody>
          <a:bodyPr wrap="square" lIns="0" tIns="0" rIns="0" bIns="0" rtlCol="0" anchor="t"/>
          <a:lstStyle/>
          <a:p>
            <a:pPr algn="l" indent="0" marL="0">
              <a:lnSpc>
                <a:spcPts val="1820"/>
              </a:lnSpc>
              <a:buNone/>
            </a:pPr>
            <a:r>
              <a:rPr lang="en-US" sz="1400" i="0" dirty="0">
                <a:solidFill>
                  <a:srgbClr val="595959"/>
                </a:solidFill>
                <a:latin typeface="Carlito" pitchFamily="34" charset="0"/>
                <a:ea typeface="Carlito" pitchFamily="34" charset="-122"/>
                <a:cs typeface="Carlito" pitchFamily="34" charset="-120"/>
              </a:rPr>
              <a:t>1  Draw 5,000 adults on metformin with HbA1c ≥ 7%: age, sex, years with diabetes, HbA1c, eGFR, BMI, history</a:t>
            </a:r>
            <a:endParaRPr lang="en-US" sz="1300" dirty="0"/>
          </a:p>
        </p:txBody>
      </p:sp>
      <p:sp>
        <p:nvSpPr>
          <p:cNvPr id="6" name="Text 1"/>
          <p:cNvSpPr/>
          <p:nvPr/>
        </p:nvSpPr>
        <p:spPr>
          <a:xfrm>
            <a:off x="620159" y="1570000"/>
            <a:ext cx="10962266" cy="320000"/>
          </a:xfrm>
          <a:prstGeom prst="rect">
            <a:avLst/>
          </a:prstGeom>
          <a:noFill/>
          <a:ln/>
        </p:spPr>
        <p:txBody>
          <a:bodyPr wrap="square" lIns="0" tIns="0" rIns="0" bIns="0" rtlCol="0" anchor="t"/>
          <a:lstStyle/>
          <a:p>
            <a:pPr algn="l" indent="0" marL="0">
              <a:lnSpc>
                <a:spcPts val="1820"/>
              </a:lnSpc>
              <a:buNone/>
            </a:pPr>
            <a:r>
              <a:rPr lang="en-US" sz="1400" i="0" dirty="0">
                <a:solidFill>
                  <a:srgbClr val="595959"/>
                </a:solidFill>
                <a:latin typeface="Carlito" pitchFamily="34" charset="0"/>
                <a:ea typeface="Carlito" pitchFamily="34" charset="-122"/>
                <a:cs typeface="Carlito" pitchFamily="34" charset="-120"/>
              </a:rPr>
              <a:t>2  Give each a drug the way doctors tend to (sicker or heavier patients get different drugs = confounding)</a:t>
            </a:r>
            <a:endParaRPr lang="en-US" sz="1300" dirty="0"/>
          </a:p>
        </p:txBody>
      </p:sp>
      <p:sp>
        <p:nvSpPr>
          <p:cNvPr id="6" name="Text 1"/>
          <p:cNvSpPr/>
          <p:nvPr/>
        </p:nvSpPr>
        <p:spPr>
          <a:xfrm>
            <a:off x="620159" y="1910000"/>
            <a:ext cx="10962266" cy="320000"/>
          </a:xfrm>
          <a:prstGeom prst="rect">
            <a:avLst/>
          </a:prstGeom>
          <a:noFill/>
          <a:ln/>
        </p:spPr>
        <p:txBody>
          <a:bodyPr wrap="square" lIns="0" tIns="0" rIns="0" bIns="0" rtlCol="0" anchor="t"/>
          <a:lstStyle/>
          <a:p>
            <a:pPr algn="l" indent="0" marL="0">
              <a:lnSpc>
                <a:spcPts val="1820"/>
              </a:lnSpc>
              <a:buNone/>
            </a:pPr>
            <a:r>
              <a:rPr lang="en-US" sz="1400" i="0" dirty="0">
                <a:solidFill>
                  <a:srgbClr val="595959"/>
                </a:solidFill>
                <a:latin typeface="Carlito" pitchFamily="34" charset="0"/>
                <a:ea typeface="Carlito" pitchFamily="34" charset="-122"/>
                <a:cs typeface="Carlito" pitchFamily="34" charset="-120"/>
              </a:rPr>
              <a:t>3  Work out each patient’s 6-month HbA1c change under all 3 drugs (directions from published studies)</a:t>
            </a:r>
            <a:endParaRPr lang="en-US" sz="1300" dirty="0"/>
          </a:p>
        </p:txBody>
      </p:sp>
      <p:sp>
        <p:nvSpPr>
          <p:cNvPr id="6" name="Text 1"/>
          <p:cNvSpPr/>
          <p:nvPr/>
        </p:nvSpPr>
        <p:spPr>
          <a:xfrm>
            <a:off x="620159" y="2250000"/>
            <a:ext cx="10962266" cy="320000"/>
          </a:xfrm>
          <a:prstGeom prst="rect">
            <a:avLst/>
          </a:prstGeom>
          <a:noFill/>
          <a:ln/>
        </p:spPr>
        <p:txBody>
          <a:bodyPr wrap="square" lIns="0" tIns="0" rIns="0" bIns="0" rtlCol="0" anchor="t"/>
          <a:lstStyle/>
          <a:p>
            <a:pPr algn="l" indent="0" marL="0">
              <a:lnSpc>
                <a:spcPts val="1820"/>
              </a:lnSpc>
              <a:buNone/>
            </a:pPr>
            <a:r>
              <a:rPr lang="en-US" sz="1400" i="0" dirty="0">
                <a:solidFill>
                  <a:srgbClr val="595959"/>
                </a:solidFill>
                <a:latin typeface="Carlito" pitchFamily="34" charset="0"/>
                <a:ea typeface="Carlito" pitchFamily="34" charset="-122"/>
                <a:cs typeface="Carlito" pitchFamily="34" charset="-120"/>
              </a:rPr>
              <a:t>4  Keep only the drug they got; the other two stay hidden, and that hidden truth lets us grade every method</a:t>
            </a:r>
            <a:endParaRPr lang="en-US" sz="1300" dirty="0"/>
          </a:p>
        </p:txBody>
      </p:sp>
      <p:sp>
        <p:nvSpPr>
          <p:cNvPr id="6" name="Text 1"/>
          <p:cNvSpPr/>
          <p:nvPr/>
        </p:nvSpPr>
        <p:spPr>
          <a:xfrm>
            <a:off x="620159" y="2590000"/>
            <a:ext cx="10962266" cy="320000"/>
          </a:xfrm>
          <a:prstGeom prst="rect">
            <a:avLst/>
          </a:prstGeom>
          <a:noFill/>
          <a:ln/>
        </p:spPr>
        <p:txBody>
          <a:bodyPr wrap="square" lIns="0" tIns="0" rIns="0" bIns="0" rtlCol="0" anchor="t"/>
          <a:lstStyle/>
          <a:p>
            <a:pPr algn="l" indent="0" marL="0">
              <a:lnSpc>
                <a:spcPts val="1820"/>
              </a:lnSpc>
              <a:buNone/>
            </a:pPr>
            <a:r>
              <a:rPr lang="en-US" sz="1400" i="0" dirty="0">
                <a:solidFill>
                  <a:srgbClr val="595959"/>
                </a:solidFill>
                <a:latin typeface="Carlito" pitchFamily="34" charset="0"/>
                <a:ea typeface="Carlito" pitchFamily="34" charset="-122"/>
                <a:cs typeface="Carlito" pitchFamily="34" charset="-120"/>
              </a:rPr>
              <a:t>5  Weight change and low-sugar risk made the same way, from a separate random stream</a:t>
            </a:r>
            <a:endParaRPr lang="en-US" sz="1300" dirty="0"/>
          </a:p>
        </p:txBody>
      </p:sp>
      <p:pic>
        <p:nvPicPr>
          <p:cNvPr id="7" name="Picture 6" descr="01_synthetic_cohort.png"/>
          <p:cNvPicPr>
            <a:picLocks noChangeAspect="1"/>
          </p:cNvPicPr>
          <p:nvPr/>
        </p:nvPicPr>
        <p:blipFill>
          <a:blip r:embed="rId4"/>
          <a:stretch>
            <a:fillRect/>
          </a:stretch>
        </p:blipFill>
        <p:spPr>
          <a:xfrm>
            <a:off x="614867" y="2980000"/>
            <a:ext cx="10962265" cy="331332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Dataset – Real Indian Data (NMB-2017) vs Synthetic</a:t>
            </a:r>
            <a:endParaRPr lang="en-US" sz="3200" dirty="0"/>
          </a:p>
        </p:txBody>
      </p:sp>
      <p:pic>
        <p:nvPicPr>
          <p:cNvPr id="3" name="Picture 2" descr="image.png"/>
          <p:cNvPicPr>
            <a:picLocks noChangeAspect="1"/>
          </p:cNvPicPr>
          <p:nvPr/>
        </p:nvPicPr>
        <p:blipFill>
          <a:blip r:embed="rId2"/>
          <a:stretch>
            <a:fillRect/>
          </a:stretch>
        </p:blipFill>
        <p:spPr>
          <a:xfrm>
            <a:off x="609575" y="1054075"/>
            <a:ext cx="10972767" cy="63500"/>
          </a:xfrm>
          <a:prstGeom prst="rect">
            <a:avLst/>
          </a:prstGeom>
        </p:spPr>
      </p:pic>
      <p:pic>
        <p:nvPicPr>
          <p:cNvPr id="4" name="Picture 3" descr="image.png"/>
          <p:cNvPicPr>
            <a:picLocks noChangeAspect="1"/>
          </p:cNvPicPr>
          <p:nvPr/>
        </p:nvPicPr>
        <p:blipFill>
          <a:blip r:embed="rId3"/>
          <a:stretch>
            <a:fillRect/>
          </a:stretch>
        </p:blipFill>
        <p:spPr>
          <a:xfrm>
            <a:off x="10795000" y="101575"/>
            <a:ext cx="889000" cy="857250"/>
          </a:xfrm>
          <a:prstGeom prst="rect">
            <a:avLst/>
          </a:prstGeom>
        </p:spPr>
      </p:pic>
      <p:pic>
        <p:nvPicPr>
          <p:cNvPr id="5" name="Picture 4" descr="07_real_indian_nmb2017.png"/>
          <p:cNvPicPr>
            <a:picLocks noChangeAspect="1"/>
          </p:cNvPicPr>
          <p:nvPr/>
        </p:nvPicPr>
        <p:blipFill>
          <a:blip r:embed="rId4"/>
          <a:stretch>
            <a:fillRect/>
          </a:stretch>
        </p:blipFill>
        <p:spPr>
          <a:xfrm>
            <a:off x="1571606" y="1230000"/>
            <a:ext cx="9048786" cy="2560000"/>
          </a:xfrm>
          <a:prstGeom prst="rect">
            <a:avLst/>
          </a:prstGeom>
        </p:spPr>
      </p:pic>
      <p:pic>
        <p:nvPicPr>
          <p:cNvPr id="6" name="Picture 5" descr="real_vs_synthetic.png"/>
          <p:cNvPicPr>
            <a:picLocks noChangeAspect="1"/>
          </p:cNvPicPr>
          <p:nvPr/>
        </p:nvPicPr>
        <p:blipFill>
          <a:blip r:embed="rId5"/>
          <a:stretch>
            <a:fillRect/>
          </a:stretch>
        </p:blipFill>
        <p:spPr>
          <a:xfrm>
            <a:off x="620159" y="3900000"/>
            <a:ext cx="6700000" cy="2151763"/>
          </a:xfrm>
          <a:prstGeom prst="rect">
            <a:avLst/>
          </a:prstGeom>
        </p:spPr>
      </p:pic>
      <p:sp>
        <p:nvSpPr>
          <p:cNvPr id="6" name="Text 1"/>
          <p:cNvSpPr/>
          <p:nvPr/>
        </p:nvSpPr>
        <p:spPr>
          <a:xfrm>
            <a:off x="7500000" y="3950000"/>
            <a:ext cx="4150000" cy="340000"/>
          </a:xfrm>
          <a:prstGeom prst="rect">
            <a:avLst/>
          </a:prstGeom>
          <a:noFill/>
          <a:ln/>
        </p:spPr>
        <p:txBody>
          <a:bodyPr wrap="square" lIns="0" tIns="0" rIns="0" bIns="0" rtlCol="0" anchor="t"/>
          <a:lstStyle/>
          <a:p>
            <a:pPr algn="l" indent="0" marL="0">
              <a:lnSpc>
                <a:spcPts val="1820"/>
              </a:lnSpc>
              <a:buNone/>
            </a:pPr>
            <a:r>
              <a:rPr lang="en-US" sz="1300" i="0" dirty="0" b="1">
                <a:solidFill>
                  <a:srgbClr val="595959"/>
                </a:solidFill>
                <a:latin typeface="Carlito" pitchFamily="34" charset="0"/>
                <a:ea typeface="Carlito" pitchFamily="34" charset="-122"/>
                <a:cs typeface="Carlito" pitchFamily="34" charset="-120"/>
              </a:rPr>
              <a:t>Matches real Indian adults:</a:t>
            </a:r>
            <a:endParaRPr lang="en-US" sz="1300" dirty="0"/>
          </a:p>
        </p:txBody>
      </p:sp>
      <p:sp>
        <p:nvSpPr>
          <p:cNvPr id="6" name="Text 1"/>
          <p:cNvSpPr/>
          <p:nvPr/>
        </p:nvSpPr>
        <p:spPr>
          <a:xfrm>
            <a:off x="7500000" y="4320000"/>
            <a:ext cx="4150000" cy="340000"/>
          </a:xfrm>
          <a:prstGeom prst="rect">
            <a:avLst/>
          </a:prstGeom>
          <a:noFill/>
          <a:ln/>
        </p:spPr>
        <p:txBody>
          <a:bodyPr wrap="square" lIns="0" tIns="0" rIns="0" bIns="0" rtlCol="0" anchor="t"/>
          <a:lstStyle/>
          <a:p>
            <a:pPr algn="l" indent="0" marL="0">
              <a:lnSpc>
                <a:spcPts val="1820"/>
              </a:lnSpc>
              <a:buNone/>
            </a:pPr>
            <a:r>
              <a:rPr lang="en-US" sz="1300" i="1" dirty="0">
                <a:solidFill>
                  <a:srgbClr val="595959"/>
                </a:solidFill>
                <a:latin typeface="Carlito" pitchFamily="34" charset="0"/>
                <a:ea typeface="Carlito" pitchFamily="34" charset="-122"/>
                <a:cs typeface="Carlito" pitchFamily="34" charset="-120"/>
              </a:rPr>
              <a:t>age 55 vs 54, BMI 26.4 vs 26.6, women 45% vs 41%</a:t>
            </a:r>
            <a:endParaRPr lang="en-US" sz="1300" dirty="0"/>
          </a:p>
        </p:txBody>
      </p:sp>
      <p:sp>
        <p:nvSpPr>
          <p:cNvPr id="6" name="Text 1"/>
          <p:cNvSpPr/>
          <p:nvPr/>
        </p:nvSpPr>
        <p:spPr>
          <a:xfrm>
            <a:off x="7500000" y="4750000"/>
            <a:ext cx="4150000" cy="340000"/>
          </a:xfrm>
          <a:prstGeom prst="rect">
            <a:avLst/>
          </a:prstGeom>
          <a:noFill/>
          <a:ln/>
        </p:spPr>
        <p:txBody>
          <a:bodyPr wrap="square" lIns="0" tIns="0" rIns="0" bIns="0" rtlCol="0" anchor="t"/>
          <a:lstStyle/>
          <a:p>
            <a:pPr algn="l" indent="0" marL="0">
              <a:lnSpc>
                <a:spcPts val="1820"/>
              </a:lnSpc>
              <a:buNone/>
            </a:pPr>
            <a:r>
              <a:rPr lang="en-US" sz="1300" i="0" dirty="0" b="1">
                <a:solidFill>
                  <a:srgbClr val="595959"/>
                </a:solidFill>
                <a:latin typeface="Carlito" pitchFamily="34" charset="0"/>
                <a:ea typeface="Carlito" pitchFamily="34" charset="-122"/>
                <a:cs typeface="Carlito" pitchFamily="34" charset="-120"/>
              </a:rPr>
              <a:t>Differs: HbA1c 8.6 vs 9.2</a:t>
            </a:r>
            <a:endParaRPr lang="en-US" sz="1300" dirty="0"/>
          </a:p>
        </p:txBody>
      </p:sp>
      <p:sp>
        <p:nvSpPr>
          <p:cNvPr id="6" name="Text 1"/>
          <p:cNvSpPr/>
          <p:nvPr/>
        </p:nvSpPr>
        <p:spPr>
          <a:xfrm>
            <a:off x="7500000" y="5120000"/>
            <a:ext cx="4150000" cy="340000"/>
          </a:xfrm>
          <a:prstGeom prst="rect">
            <a:avLst/>
          </a:prstGeom>
          <a:noFill/>
          <a:ln/>
        </p:spPr>
        <p:txBody>
          <a:bodyPr wrap="square" lIns="0" tIns="0" rIns="0" bIns="0" rtlCol="0" anchor="t"/>
          <a:lstStyle/>
          <a:p>
            <a:pPr algn="l" indent="0" marL="0">
              <a:lnSpc>
                <a:spcPts val="1820"/>
              </a:lnSpc>
              <a:buNone/>
            </a:pPr>
            <a:r>
              <a:rPr lang="en-US" sz="1300" i="1" dirty="0">
                <a:solidFill>
                  <a:srgbClr val="595959"/>
                </a:solidFill>
                <a:latin typeface="Carlito" pitchFamily="34" charset="0"/>
                <a:ea typeface="Carlito" pitchFamily="34" charset="-122"/>
                <a:cs typeface="Carlito" pitchFamily="34" charset="-120"/>
              </a:rPr>
              <a:t>ours is narrower → widen it next</a:t>
            </a:r>
            <a:endParaRPr lang="en-US" sz="1300" dirty="0"/>
          </a:p>
        </p:txBody>
      </p:sp>
      <p:sp>
        <p:nvSpPr>
          <p:cNvPr id="6" name="Text 1"/>
          <p:cNvSpPr/>
          <p:nvPr/>
        </p:nvSpPr>
        <p:spPr>
          <a:xfrm>
            <a:off x="7500000" y="5550000"/>
            <a:ext cx="4150000" cy="340000"/>
          </a:xfrm>
          <a:prstGeom prst="rect">
            <a:avLst/>
          </a:prstGeom>
          <a:noFill/>
          <a:ln/>
        </p:spPr>
        <p:txBody>
          <a:bodyPr wrap="square" lIns="0" tIns="0" rIns="0" bIns="0" rtlCol="0" anchor="t"/>
          <a:lstStyle/>
          <a:p>
            <a:pPr algn="l" indent="0" marL="0">
              <a:lnSpc>
                <a:spcPts val="1820"/>
              </a:lnSpc>
              <a:buNone/>
            </a:pPr>
            <a:r>
              <a:rPr lang="en-US" sz="1300" i="0" dirty="0" b="1">
                <a:solidFill>
                  <a:srgbClr val="595959"/>
                </a:solidFill>
                <a:latin typeface="Carlito" pitchFamily="34" charset="0"/>
                <a:ea typeface="Carlito" pitchFamily="34" charset="-122"/>
                <a:cs typeface="Carlito" pitchFamily="34" charset="-120"/>
              </a:rPr>
              <a:t>No drug or follow-up HbA1c:</a:t>
            </a:r>
            <a:endParaRPr lang="en-US" sz="1300" dirty="0"/>
          </a:p>
        </p:txBody>
      </p:sp>
      <p:sp>
        <p:nvSpPr>
          <p:cNvPr id="6" name="Text 1"/>
          <p:cNvSpPr/>
          <p:nvPr/>
        </p:nvSpPr>
        <p:spPr>
          <a:xfrm>
            <a:off x="7500000" y="5920000"/>
            <a:ext cx="4150000" cy="340000"/>
          </a:xfrm>
          <a:prstGeom prst="rect">
            <a:avLst/>
          </a:prstGeom>
          <a:noFill/>
          <a:ln/>
        </p:spPr>
        <p:txBody>
          <a:bodyPr wrap="square" lIns="0" tIns="0" rIns="0" bIns="0" rtlCol="0" anchor="t"/>
          <a:lstStyle/>
          <a:p>
            <a:pPr algn="l" indent="0" marL="0">
              <a:lnSpc>
                <a:spcPts val="1820"/>
              </a:lnSpc>
              <a:buNone/>
            </a:pPr>
            <a:r>
              <a:rPr lang="en-US" sz="1300" i="1" dirty="0">
                <a:solidFill>
                  <a:srgbClr val="595959"/>
                </a:solidFill>
                <a:latin typeface="Carlito" pitchFamily="34" charset="0"/>
                <a:ea typeface="Carlito" pitchFamily="34" charset="-122"/>
                <a:cs typeface="Carlito" pitchFamily="34" charset="-120"/>
              </a:rPr>
              <a:t>realism check only, never used to train</a:t>
            </a:r>
            <a:endParaRPr lang="en-US" sz="1300" dirty="0"/>
          </a:p>
        </p:txBody>
      </p:sp>
      <p:sp>
        <p:nvSpPr>
          <p:cNvPr id="6" name="Text 1"/>
          <p:cNvSpPr/>
          <p:nvPr/>
        </p:nvSpPr>
        <p:spPr>
          <a:xfrm>
            <a:off x="444982" y="6400000"/>
            <a:ext cx="11302035" cy="256538"/>
          </a:xfrm>
          <a:prstGeom prst="rect">
            <a:avLst/>
          </a:prstGeom>
          <a:noFill/>
          <a:ln/>
        </p:spPr>
        <p:txBody>
          <a:bodyPr wrap="square" lIns="0" tIns="0" rIns="0" bIns="0" rtlCol="0" anchor="t"/>
          <a:lstStyle/>
          <a:p>
            <a:pPr algn="ctr" indent="0" marL="0">
              <a:lnSpc>
                <a:spcPts val="1820"/>
              </a:lnSpc>
              <a:buNone/>
            </a:pPr>
            <a:r>
              <a:rPr lang="en-US" sz="1000" i="1" dirty="0">
                <a:solidFill>
                  <a:srgbClr val="595959"/>
                </a:solidFill>
                <a:latin typeface="Carlito" pitchFamily="34" charset="0"/>
                <a:ea typeface="Carlito" pitchFamily="34" charset="-122"/>
                <a:cs typeface="Carlito" pitchFamily="34" charset="-120"/>
              </a:rPr>
              <a:t>Nagarathna et al. 2020, Diabetes Res Clin Pract; Mendeley Data doi:10.17632/twp8xw6p25.1 (CC0) · comparison: diabetes + HbA1c ≥ 7%, n = 1,010</a:t>
            </a:r>
            <a:endParaRPr lang="en-US" sz="13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Implementation – Website Screens</a:t>
            </a:r>
            <a:endParaRPr lang="en-US" sz="3200" dirty="0"/>
          </a:p>
        </p:txBody>
      </p:sp>
      <p:pic>
        <p:nvPicPr>
          <p:cNvPr id="3" name="Picture 2" descr="image.png"/>
          <p:cNvPicPr>
            <a:picLocks noChangeAspect="1"/>
          </p:cNvPicPr>
          <p:nvPr/>
        </p:nvPicPr>
        <p:blipFill>
          <a:blip r:embed="rId2"/>
          <a:stretch>
            <a:fillRect/>
          </a:stretch>
        </p:blipFill>
        <p:spPr>
          <a:xfrm>
            <a:off x="609575" y="1054075"/>
            <a:ext cx="10972767" cy="63500"/>
          </a:xfrm>
          <a:prstGeom prst="rect">
            <a:avLst/>
          </a:prstGeom>
        </p:spPr>
      </p:pic>
      <p:pic>
        <p:nvPicPr>
          <p:cNvPr id="4" name="Picture 3" descr="image.png"/>
          <p:cNvPicPr>
            <a:picLocks noChangeAspect="1"/>
          </p:cNvPicPr>
          <p:nvPr/>
        </p:nvPicPr>
        <p:blipFill>
          <a:blip r:embed="rId3"/>
          <a:stretch>
            <a:fillRect/>
          </a:stretch>
        </p:blipFill>
        <p:spPr>
          <a:xfrm>
            <a:off x="10795000" y="101575"/>
            <a:ext cx="889000" cy="857250"/>
          </a:xfrm>
          <a:prstGeom prst="rect">
            <a:avLst/>
          </a:prstGeom>
        </p:spPr>
      </p:pic>
      <p:pic>
        <p:nvPicPr>
          <p:cNvPr id="5" name="Picture 4" descr="03_try_typical_patient_desktop.png"/>
          <p:cNvPicPr>
            <a:picLocks noChangeAspect="1"/>
          </p:cNvPicPr>
          <p:nvPr/>
        </p:nvPicPr>
        <p:blipFill>
          <a:blip r:embed="rId4"/>
          <a:stretch>
            <a:fillRect/>
          </a:stretch>
        </p:blipFill>
        <p:spPr>
          <a:xfrm>
            <a:off x="1452000" y="1230000"/>
            <a:ext cx="3808000" cy="2380000"/>
          </a:xfrm>
          <a:prstGeom prst="rect">
            <a:avLst/>
          </a:prstGeom>
          <a:ln w="9525">
            <a:solidFill>
              <a:srgbClr val="C3C4C7"/>
            </a:solidFill>
          </a:ln>
        </p:spPr>
      </p:pic>
      <p:sp>
        <p:nvSpPr>
          <p:cNvPr id="6" name="Text 1"/>
          <p:cNvSpPr/>
          <p:nvPr/>
        </p:nvSpPr>
        <p:spPr>
          <a:xfrm>
            <a:off x="706000" y="3640000"/>
            <a:ext cx="5300000" cy="256538"/>
          </a:xfrm>
          <a:prstGeom prst="rect">
            <a:avLst/>
          </a:prstGeom>
          <a:noFill/>
          <a:ln/>
        </p:spPr>
        <p:txBody>
          <a:bodyPr wrap="square" lIns="0" tIns="0" rIns="0" bIns="0" rtlCol="0" anchor="t"/>
          <a:lstStyle/>
          <a:p>
            <a:pPr algn="ctr" indent="0" marL="0">
              <a:lnSpc>
                <a:spcPts val="1820"/>
              </a:lnSpc>
              <a:buNone/>
            </a:pPr>
            <a:r>
              <a:rPr lang="en-US" sz="1200" i="0" dirty="0">
                <a:solidFill>
                  <a:srgbClr val="595959"/>
                </a:solidFill>
                <a:latin typeface="Carlito" pitchFamily="34" charset="0"/>
                <a:ea typeface="Carlito" pitchFamily="34" charset="-122"/>
                <a:cs typeface="Carlito" pitchFamily="34" charset="-120"/>
              </a:rPr>
              <a:t>Try it: 3 options with 95% ranges, weight, low-sugar risk</a:t>
            </a:r>
            <a:endParaRPr lang="en-US" sz="1300" dirty="0"/>
          </a:p>
        </p:txBody>
      </p:sp>
      <p:pic>
        <p:nvPicPr>
          <p:cNvPr id="7" name="Picture 6" descr="04_try_egfr40_pancreatitis_desktop.png"/>
          <p:cNvPicPr>
            <a:picLocks noChangeAspect="1"/>
          </p:cNvPicPr>
          <p:nvPr/>
        </p:nvPicPr>
        <p:blipFill>
          <a:blip r:embed="rId5"/>
          <a:stretch>
            <a:fillRect/>
          </a:stretch>
        </p:blipFill>
        <p:spPr>
          <a:xfrm>
            <a:off x="6932000" y="1230000"/>
            <a:ext cx="3808000" cy="2380000"/>
          </a:xfrm>
          <a:prstGeom prst="rect">
            <a:avLst/>
          </a:prstGeom>
          <a:ln w="9525">
            <a:solidFill>
              <a:srgbClr val="C3C4C7"/>
            </a:solidFill>
          </a:ln>
        </p:spPr>
      </p:pic>
      <p:sp>
        <p:nvSpPr>
          <p:cNvPr id="6" name="Text 1"/>
          <p:cNvSpPr/>
          <p:nvPr/>
        </p:nvSpPr>
        <p:spPr>
          <a:xfrm>
            <a:off x="6186000" y="3640000"/>
            <a:ext cx="5300000" cy="256538"/>
          </a:xfrm>
          <a:prstGeom prst="rect">
            <a:avLst/>
          </a:prstGeom>
          <a:noFill/>
          <a:ln/>
        </p:spPr>
        <p:txBody>
          <a:bodyPr wrap="square" lIns="0" tIns="0" rIns="0" bIns="0" rtlCol="0" anchor="t"/>
          <a:lstStyle/>
          <a:p>
            <a:pPr algn="ctr" indent="0" marL="0">
              <a:lnSpc>
                <a:spcPts val="1820"/>
              </a:lnSpc>
              <a:buNone/>
            </a:pPr>
            <a:r>
              <a:rPr lang="en-US" sz="1200" i="0" dirty="0">
                <a:solidFill>
                  <a:srgbClr val="595959"/>
                </a:solidFill>
                <a:latin typeface="Carlito" pitchFamily="34" charset="0"/>
                <a:ea typeface="Carlito" pitchFamily="34" charset="-122"/>
                <a:cs typeface="Carlito" pitchFamily="34" charset="-120"/>
              </a:rPr>
              <a:t>Safety rules: excluded (red) and caution (amber), with sources</a:t>
            </a:r>
            <a:endParaRPr lang="en-US" sz="1300" dirty="0"/>
          </a:p>
        </p:txBody>
      </p:sp>
      <p:pic>
        <p:nvPicPr>
          <p:cNvPr id="8" name="Picture 7" descr="08_evidence_explanation_desktop.png"/>
          <p:cNvPicPr>
            <a:picLocks noChangeAspect="1"/>
          </p:cNvPicPr>
          <p:nvPr/>
        </p:nvPicPr>
        <p:blipFill>
          <a:blip r:embed="rId6"/>
          <a:stretch>
            <a:fillRect/>
          </a:stretch>
        </p:blipFill>
        <p:spPr>
          <a:xfrm>
            <a:off x="1452000" y="3910000"/>
            <a:ext cx="3808000" cy="2380000"/>
          </a:xfrm>
          <a:prstGeom prst="rect">
            <a:avLst/>
          </a:prstGeom>
          <a:ln w="9525">
            <a:solidFill>
              <a:srgbClr val="C3C4C7"/>
            </a:solidFill>
          </a:ln>
        </p:spPr>
      </p:pic>
      <p:sp>
        <p:nvSpPr>
          <p:cNvPr id="6" name="Text 1"/>
          <p:cNvSpPr/>
          <p:nvPr/>
        </p:nvSpPr>
        <p:spPr>
          <a:xfrm>
            <a:off x="706000" y="6320000"/>
            <a:ext cx="5300000" cy="256538"/>
          </a:xfrm>
          <a:prstGeom prst="rect">
            <a:avLst/>
          </a:prstGeom>
          <a:noFill/>
          <a:ln/>
        </p:spPr>
        <p:txBody>
          <a:bodyPr wrap="square" lIns="0" tIns="0" rIns="0" bIns="0" rtlCol="0" anchor="t"/>
          <a:lstStyle/>
          <a:p>
            <a:pPr algn="ctr" indent="0" marL="0">
              <a:lnSpc>
                <a:spcPts val="1820"/>
              </a:lnSpc>
              <a:buNone/>
            </a:pPr>
            <a:r>
              <a:rPr lang="en-US" sz="1200" i="0" dirty="0">
                <a:solidFill>
                  <a:srgbClr val="595959"/>
                </a:solidFill>
                <a:latin typeface="Carlito" pitchFamily="34" charset="0"/>
                <a:ea typeface="Carlito" pitchFamily="34" charset="-122"/>
                <a:cs typeface="Carlito" pitchFamily="34" charset="-120"/>
              </a:rPr>
              <a:t>Evidence: quoted sentences with citations [1][2]</a:t>
            </a:r>
            <a:endParaRPr lang="en-US" sz="1300" dirty="0"/>
          </a:p>
        </p:txBody>
      </p:sp>
      <p:pic>
        <p:nvPicPr>
          <p:cNvPr id="9" name="Picture 8" descr="11_results_desktop.png"/>
          <p:cNvPicPr>
            <a:picLocks noChangeAspect="1"/>
          </p:cNvPicPr>
          <p:nvPr/>
        </p:nvPicPr>
        <p:blipFill>
          <a:blip r:embed="rId7"/>
          <a:stretch>
            <a:fillRect/>
          </a:stretch>
        </p:blipFill>
        <p:spPr>
          <a:xfrm>
            <a:off x="6932000" y="3910000"/>
            <a:ext cx="3808000" cy="2380000"/>
          </a:xfrm>
          <a:prstGeom prst="rect">
            <a:avLst/>
          </a:prstGeom>
          <a:ln w="9525">
            <a:solidFill>
              <a:srgbClr val="C3C4C7"/>
            </a:solidFill>
          </a:ln>
        </p:spPr>
      </p:pic>
      <p:sp>
        <p:nvSpPr>
          <p:cNvPr id="6" name="Text 1"/>
          <p:cNvSpPr/>
          <p:nvPr/>
        </p:nvSpPr>
        <p:spPr>
          <a:xfrm>
            <a:off x="6186000" y="6320000"/>
            <a:ext cx="5300000" cy="256538"/>
          </a:xfrm>
          <a:prstGeom prst="rect">
            <a:avLst/>
          </a:prstGeom>
          <a:noFill/>
          <a:ln/>
        </p:spPr>
        <p:txBody>
          <a:bodyPr wrap="square" lIns="0" tIns="0" rIns="0" bIns="0" rtlCol="0" anchor="t"/>
          <a:lstStyle/>
          <a:p>
            <a:pPr algn="ctr" indent="0" marL="0">
              <a:lnSpc>
                <a:spcPts val="1820"/>
              </a:lnSpc>
              <a:buNone/>
            </a:pPr>
            <a:r>
              <a:rPr lang="en-US" sz="1200" i="0" dirty="0">
                <a:solidFill>
                  <a:srgbClr val="595959"/>
                </a:solidFill>
                <a:latin typeface="Carlito" pitchFamily="34" charset="0"/>
                <a:ea typeface="Carlito" pitchFamily="34" charset="-122"/>
                <a:cs typeface="Carlito" pitchFamily="34" charset="-120"/>
              </a:rPr>
              <a:t>Results: the benchmark, on synthetic data</a:t>
            </a:r>
            <a:endParaRPr lang="en-US" sz="13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Implementation – Chat App Screens</a:t>
            </a:r>
            <a:endParaRPr lang="en-US" sz="3200" dirty="0"/>
          </a:p>
        </p:txBody>
      </p:sp>
      <p:pic>
        <p:nvPicPr>
          <p:cNvPr id="3" name="Picture 2" descr="image.png"/>
          <p:cNvPicPr>
            <a:picLocks noChangeAspect="1"/>
          </p:cNvPicPr>
          <p:nvPr/>
        </p:nvPicPr>
        <p:blipFill>
          <a:blip r:embed="rId2"/>
          <a:stretch>
            <a:fillRect/>
          </a:stretch>
        </p:blipFill>
        <p:spPr>
          <a:xfrm>
            <a:off x="609575" y="1054075"/>
            <a:ext cx="10972767" cy="63500"/>
          </a:xfrm>
          <a:prstGeom prst="rect">
            <a:avLst/>
          </a:prstGeom>
        </p:spPr>
      </p:pic>
      <p:pic>
        <p:nvPicPr>
          <p:cNvPr id="4" name="Picture 3" descr="image.png"/>
          <p:cNvPicPr>
            <a:picLocks noChangeAspect="1"/>
          </p:cNvPicPr>
          <p:nvPr/>
        </p:nvPicPr>
        <p:blipFill>
          <a:blip r:embed="rId3"/>
          <a:stretch>
            <a:fillRect/>
          </a:stretch>
        </p:blipFill>
        <p:spPr>
          <a:xfrm>
            <a:off x="10795000" y="101575"/>
            <a:ext cx="889000" cy="857250"/>
          </a:xfrm>
          <a:prstGeom prst="rect">
            <a:avLst/>
          </a:prstGeom>
        </p:spPr>
      </p:pic>
      <p:pic>
        <p:nvPicPr>
          <p:cNvPr id="5" name="Picture 4" descr="01_signin_desktop.png"/>
          <p:cNvPicPr>
            <a:picLocks noChangeAspect="1"/>
          </p:cNvPicPr>
          <p:nvPr/>
        </p:nvPicPr>
        <p:blipFill>
          <a:blip r:embed="rId4"/>
          <a:stretch>
            <a:fillRect/>
          </a:stretch>
        </p:blipFill>
        <p:spPr>
          <a:xfrm>
            <a:off x="1452000" y="1230000"/>
            <a:ext cx="3808000" cy="2380000"/>
          </a:xfrm>
          <a:prstGeom prst="rect">
            <a:avLst/>
          </a:prstGeom>
          <a:ln w="9525">
            <a:solidFill>
              <a:srgbClr val="C3C4C7"/>
            </a:solidFill>
          </a:ln>
        </p:spPr>
      </p:pic>
      <p:sp>
        <p:nvSpPr>
          <p:cNvPr id="6" name="Text 1"/>
          <p:cNvSpPr/>
          <p:nvPr/>
        </p:nvSpPr>
        <p:spPr>
          <a:xfrm>
            <a:off x="706000" y="3640000"/>
            <a:ext cx="5300000" cy="256538"/>
          </a:xfrm>
          <a:prstGeom prst="rect">
            <a:avLst/>
          </a:prstGeom>
          <a:noFill/>
          <a:ln/>
        </p:spPr>
        <p:txBody>
          <a:bodyPr wrap="square" lIns="0" tIns="0" rIns="0" bIns="0" rtlCol="0" anchor="t"/>
          <a:lstStyle/>
          <a:p>
            <a:pPr algn="ctr" indent="0" marL="0">
              <a:lnSpc>
                <a:spcPts val="1820"/>
              </a:lnSpc>
              <a:buNone/>
            </a:pPr>
            <a:r>
              <a:rPr lang="en-US" sz="1200" i="0" dirty="0">
                <a:solidFill>
                  <a:srgbClr val="595959"/>
                </a:solidFill>
                <a:latin typeface="Carlito" pitchFamily="34" charset="0"/>
                <a:ea typeface="Carlito" pitchFamily="34" charset="-122"/>
                <a:cs typeface="Carlito" pitchFamily="34" charset="-120"/>
              </a:rPr>
              <a:t>Sign in: password + CAPTCHA (image or audio)</a:t>
            </a:r>
            <a:endParaRPr lang="en-US" sz="1300" dirty="0"/>
          </a:p>
        </p:txBody>
      </p:sp>
      <p:pic>
        <p:nvPicPr>
          <p:cNvPr id="7" name="Picture 6" descr="02_authenticator_setup_desktop.png"/>
          <p:cNvPicPr>
            <a:picLocks noChangeAspect="1"/>
          </p:cNvPicPr>
          <p:nvPr/>
        </p:nvPicPr>
        <p:blipFill>
          <a:blip r:embed="rId5"/>
          <a:stretch>
            <a:fillRect/>
          </a:stretch>
        </p:blipFill>
        <p:spPr>
          <a:xfrm>
            <a:off x="6932000" y="1230000"/>
            <a:ext cx="3808000" cy="2380000"/>
          </a:xfrm>
          <a:prstGeom prst="rect">
            <a:avLst/>
          </a:prstGeom>
          <a:ln w="9525">
            <a:solidFill>
              <a:srgbClr val="C3C4C7"/>
            </a:solidFill>
          </a:ln>
        </p:spPr>
      </p:pic>
      <p:sp>
        <p:nvSpPr>
          <p:cNvPr id="6" name="Text 1"/>
          <p:cNvSpPr/>
          <p:nvPr/>
        </p:nvSpPr>
        <p:spPr>
          <a:xfrm>
            <a:off x="6186000" y="3640000"/>
            <a:ext cx="5300000" cy="256538"/>
          </a:xfrm>
          <a:prstGeom prst="rect">
            <a:avLst/>
          </a:prstGeom>
          <a:noFill/>
          <a:ln/>
        </p:spPr>
        <p:txBody>
          <a:bodyPr wrap="square" lIns="0" tIns="0" rIns="0" bIns="0" rtlCol="0" anchor="t"/>
          <a:lstStyle/>
          <a:p>
            <a:pPr algn="ctr" indent="0" marL="0">
              <a:lnSpc>
                <a:spcPts val="1820"/>
              </a:lnSpc>
              <a:buNone/>
            </a:pPr>
            <a:r>
              <a:rPr lang="en-US" sz="1200" i="0" dirty="0">
                <a:solidFill>
                  <a:srgbClr val="595959"/>
                </a:solidFill>
                <a:latin typeface="Carlito" pitchFamily="34" charset="0"/>
                <a:ea typeface="Carlito" pitchFamily="34" charset="-122"/>
                <a:cs typeface="Carlito" pitchFamily="34" charset="-120"/>
              </a:rPr>
              <a:t>Authenticator app (TOTP) set-up; key hidden here</a:t>
            </a:r>
            <a:endParaRPr lang="en-US" sz="1300" dirty="0"/>
          </a:p>
        </p:txBody>
      </p:sp>
      <p:pic>
        <p:nvPicPr>
          <p:cNvPr id="8" name="Picture 7" descr="05_chat_reply_desktop.png"/>
          <p:cNvPicPr>
            <a:picLocks noChangeAspect="1"/>
          </p:cNvPicPr>
          <p:nvPr/>
        </p:nvPicPr>
        <p:blipFill>
          <a:blip r:embed="rId6"/>
          <a:stretch>
            <a:fillRect/>
          </a:stretch>
        </p:blipFill>
        <p:spPr>
          <a:xfrm>
            <a:off x="1452000" y="3910000"/>
            <a:ext cx="3808000" cy="2380000"/>
          </a:xfrm>
          <a:prstGeom prst="rect">
            <a:avLst/>
          </a:prstGeom>
          <a:ln w="9525">
            <a:solidFill>
              <a:srgbClr val="C3C4C7"/>
            </a:solidFill>
          </a:ln>
        </p:spPr>
      </p:pic>
      <p:sp>
        <p:nvSpPr>
          <p:cNvPr id="6" name="Text 1"/>
          <p:cNvSpPr/>
          <p:nvPr/>
        </p:nvSpPr>
        <p:spPr>
          <a:xfrm>
            <a:off x="706000" y="6320000"/>
            <a:ext cx="5300000" cy="256538"/>
          </a:xfrm>
          <a:prstGeom prst="rect">
            <a:avLst/>
          </a:prstGeom>
          <a:noFill/>
          <a:ln/>
        </p:spPr>
        <p:txBody>
          <a:bodyPr wrap="square" lIns="0" tIns="0" rIns="0" bIns="0" rtlCol="0" anchor="t"/>
          <a:lstStyle/>
          <a:p>
            <a:pPr algn="ctr" indent="0" marL="0">
              <a:lnSpc>
                <a:spcPts val="1820"/>
              </a:lnSpc>
              <a:buNone/>
            </a:pPr>
            <a:r>
              <a:rPr lang="en-US" sz="1200" i="0" dirty="0">
                <a:solidFill>
                  <a:srgbClr val="595959"/>
                </a:solidFill>
                <a:latin typeface="Carlito" pitchFamily="34" charset="0"/>
                <a:ea typeface="Carlito" pitchFamily="34" charset="-122"/>
                <a:cs typeface="Carlito" pitchFamily="34" charset="-120"/>
              </a:rPr>
              <a:t>Patient panel + reply: 6 pipeline stages, trace ID</a:t>
            </a:r>
            <a:endParaRPr lang="en-US" sz="1300" dirty="0"/>
          </a:p>
        </p:txBody>
      </p:sp>
      <p:pic>
        <p:nvPicPr>
          <p:cNvPr id="9" name="Picture 8" descr="06_blocked_identifier_desktop.png"/>
          <p:cNvPicPr>
            <a:picLocks noChangeAspect="1"/>
          </p:cNvPicPr>
          <p:nvPr/>
        </p:nvPicPr>
        <p:blipFill>
          <a:blip r:embed="rId7"/>
          <a:stretch>
            <a:fillRect/>
          </a:stretch>
        </p:blipFill>
        <p:spPr>
          <a:xfrm>
            <a:off x="6932000" y="3910000"/>
            <a:ext cx="3808000" cy="2380000"/>
          </a:xfrm>
          <a:prstGeom prst="rect">
            <a:avLst/>
          </a:prstGeom>
          <a:ln w="9525">
            <a:solidFill>
              <a:srgbClr val="C3C4C7"/>
            </a:solidFill>
          </a:ln>
        </p:spPr>
      </p:pic>
      <p:sp>
        <p:nvSpPr>
          <p:cNvPr id="6" name="Text 1"/>
          <p:cNvSpPr/>
          <p:nvPr/>
        </p:nvSpPr>
        <p:spPr>
          <a:xfrm>
            <a:off x="6186000" y="6320000"/>
            <a:ext cx="5300000" cy="256538"/>
          </a:xfrm>
          <a:prstGeom prst="rect">
            <a:avLst/>
          </a:prstGeom>
          <a:noFill/>
          <a:ln/>
        </p:spPr>
        <p:txBody>
          <a:bodyPr wrap="square" lIns="0" tIns="0" rIns="0" bIns="0" rtlCol="0" anchor="t"/>
          <a:lstStyle/>
          <a:p>
            <a:pPr algn="ctr" indent="0" marL="0">
              <a:lnSpc>
                <a:spcPts val="1820"/>
              </a:lnSpc>
              <a:buNone/>
            </a:pPr>
            <a:r>
              <a:rPr lang="en-US" sz="1200" i="0" dirty="0">
                <a:solidFill>
                  <a:srgbClr val="595959"/>
                </a:solidFill>
                <a:latin typeface="Carlito" pitchFamily="34" charset="0"/>
                <a:ea typeface="Carlito" pitchFamily="34" charset="-122"/>
                <a:cs typeface="Carlito" pitchFamily="34" charset="-120"/>
              </a:rPr>
              <a:t>Guards: phone number removed, never sent</a:t>
            </a:r>
            <a:endParaRPr lang="en-US" sz="13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Initial Results – Evidence Search (RAG)</a:t>
            </a:r>
            <a:endParaRPr lang="en-US" sz="3200" dirty="0"/>
          </a:p>
        </p:txBody>
      </p:sp>
      <p:pic>
        <p:nvPicPr>
          <p:cNvPr id="3" name="Picture 2" descr="image.png"/>
          <p:cNvPicPr>
            <a:picLocks noChangeAspect="1"/>
          </p:cNvPicPr>
          <p:nvPr/>
        </p:nvPicPr>
        <p:blipFill>
          <a:blip r:embed="rId2"/>
          <a:stretch>
            <a:fillRect/>
          </a:stretch>
        </p:blipFill>
        <p:spPr>
          <a:xfrm>
            <a:off x="609575" y="1054075"/>
            <a:ext cx="10972767" cy="63500"/>
          </a:xfrm>
          <a:prstGeom prst="rect">
            <a:avLst/>
          </a:prstGeom>
        </p:spPr>
      </p:pic>
      <p:pic>
        <p:nvPicPr>
          <p:cNvPr id="4" name="Picture 3" descr="image.png"/>
          <p:cNvPicPr>
            <a:picLocks noChangeAspect="1"/>
          </p:cNvPicPr>
          <p:nvPr/>
        </p:nvPicPr>
        <p:blipFill>
          <a:blip r:embed="rId3"/>
          <a:stretch>
            <a:fillRect/>
          </a:stretch>
        </p:blipFill>
        <p:spPr>
          <a:xfrm>
            <a:off x="10795000" y="101575"/>
            <a:ext cx="889000" cy="857250"/>
          </a:xfrm>
          <a:prstGeom prst="rect">
            <a:avLst/>
          </a:prstGeom>
        </p:spPr>
      </p:pic>
      <p:pic>
        <p:nvPicPr>
          <p:cNvPr id="5" name="Picture 4" descr="08_evidence_explanation_desktop.png"/>
          <p:cNvPicPr>
            <a:picLocks noChangeAspect="1"/>
          </p:cNvPicPr>
          <p:nvPr/>
        </p:nvPicPr>
        <p:blipFill>
          <a:blip r:embed="rId4"/>
          <a:stretch>
            <a:fillRect/>
          </a:stretch>
        </p:blipFill>
        <p:spPr>
          <a:xfrm>
            <a:off x="620159" y="1300000"/>
            <a:ext cx="5900000" cy="3687499"/>
          </a:xfrm>
          <a:prstGeom prst="rect">
            <a:avLst/>
          </a:prstGeom>
        </p:spPr>
      </p:pic>
      <p:sp>
        <p:nvSpPr>
          <p:cNvPr id="30" name="Shape 20"/>
          <p:cNvSpPr/>
          <p:nvPr/>
        </p:nvSpPr>
        <p:spPr>
          <a:xfrm>
            <a:off x="6880000" y="1300000"/>
            <a:ext cx="4700000" cy="1030000"/>
          </a:xfrm>
          <a:prstGeom prst="rect">
            <a:avLst/>
          </a:prstGeom>
          <a:solidFill>
            <a:srgbClr val="E9EEF6"/>
          </a:solidFill>
          <a:ln/>
        </p:spPr>
      </p:sp>
      <p:sp>
        <p:nvSpPr>
          <p:cNvPr id="31" name="Text 21"/>
          <p:cNvSpPr/>
          <p:nvPr/>
        </p:nvSpPr>
        <p:spPr>
          <a:xfrm>
            <a:off x="7057767" y="1425760"/>
            <a:ext cx="4344466" cy="388582"/>
          </a:xfrm>
          <a:prstGeom prst="rect">
            <a:avLst/>
          </a:prstGeom>
          <a:noFill/>
          <a:ln/>
        </p:spPr>
        <p:txBody>
          <a:bodyPr wrap="square" lIns="0" tIns="0" rIns="0" bIns="0" rtlCol="0" anchor="t"/>
          <a:lstStyle/>
          <a:p>
            <a:pPr algn="l" indent="0" marL="0">
              <a:lnSpc>
                <a:spcPts val="2860"/>
              </a:lnSpc>
              <a:buNone/>
            </a:pPr>
            <a:r>
              <a:rPr lang="en-US" sz="2600" b="1" dirty="0">
                <a:solidFill>
                  <a:srgbClr val="002060"/>
                </a:solidFill>
                <a:latin typeface="Carlito" pitchFamily="34" charset="0"/>
                <a:ea typeface="Carlito" pitchFamily="34" charset="-122"/>
                <a:cs typeface="Carlito" pitchFamily="34" charset="-120"/>
              </a:rPr>
              <a:t>0.933</a:t>
            </a:r>
            <a:endParaRPr lang="en-US" sz="2600" dirty="0"/>
          </a:p>
        </p:txBody>
      </p:sp>
      <p:sp>
        <p:nvSpPr>
          <p:cNvPr id="32" name="Text 22"/>
          <p:cNvSpPr/>
          <p:nvPr/>
        </p:nvSpPr>
        <p:spPr>
          <a:xfrm>
            <a:off x="7057767" y="1814325"/>
            <a:ext cx="4344466" cy="274315"/>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Carlito" pitchFamily="34" charset="0"/>
                <a:ea typeface="Carlito" pitchFamily="34" charset="-122"/>
                <a:cs typeface="Carlito" pitchFamily="34" charset="-120"/>
              </a:rPr>
              <a:t>Recall@5: right source in the top 5</a:t>
            </a:r>
            <a:endParaRPr lang="en-US" sz="1400" dirty="0"/>
          </a:p>
        </p:txBody>
      </p:sp>
      <p:sp>
        <p:nvSpPr>
          <p:cNvPr id="30" name="Shape 20"/>
          <p:cNvSpPr/>
          <p:nvPr/>
        </p:nvSpPr>
        <p:spPr>
          <a:xfrm>
            <a:off x="6880000" y="2440000"/>
            <a:ext cx="4700000" cy="1030000"/>
          </a:xfrm>
          <a:prstGeom prst="rect">
            <a:avLst/>
          </a:prstGeom>
          <a:solidFill>
            <a:srgbClr val="E9EEF6"/>
          </a:solidFill>
          <a:ln/>
        </p:spPr>
      </p:sp>
      <p:sp>
        <p:nvSpPr>
          <p:cNvPr id="31" name="Text 21"/>
          <p:cNvSpPr/>
          <p:nvPr/>
        </p:nvSpPr>
        <p:spPr>
          <a:xfrm>
            <a:off x="7057767" y="2565760"/>
            <a:ext cx="4344466" cy="388582"/>
          </a:xfrm>
          <a:prstGeom prst="rect">
            <a:avLst/>
          </a:prstGeom>
          <a:noFill/>
          <a:ln/>
        </p:spPr>
        <p:txBody>
          <a:bodyPr wrap="square" lIns="0" tIns="0" rIns="0" bIns="0" rtlCol="0" anchor="t"/>
          <a:lstStyle/>
          <a:p>
            <a:pPr algn="l" indent="0" marL="0">
              <a:lnSpc>
                <a:spcPts val="2860"/>
              </a:lnSpc>
              <a:buNone/>
            </a:pPr>
            <a:r>
              <a:rPr lang="en-US" sz="2600" b="1" dirty="0">
                <a:solidFill>
                  <a:srgbClr val="002060"/>
                </a:solidFill>
                <a:latin typeface="Carlito" pitchFamily="34" charset="0"/>
                <a:ea typeface="Carlito" pitchFamily="34" charset="-122"/>
                <a:cs typeface="Carlito" pitchFamily="34" charset="-120"/>
              </a:rPr>
              <a:t>1.000 · 0 leaks</a:t>
            </a:r>
            <a:endParaRPr lang="en-US" sz="2600" dirty="0"/>
          </a:p>
        </p:txBody>
      </p:sp>
      <p:sp>
        <p:nvSpPr>
          <p:cNvPr id="32" name="Text 22"/>
          <p:cNvSpPr/>
          <p:nvPr/>
        </p:nvSpPr>
        <p:spPr>
          <a:xfrm>
            <a:off x="7057767" y="2954325"/>
            <a:ext cx="4344466" cy="274315"/>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Carlito" pitchFamily="34" charset="0"/>
                <a:ea typeface="Carlito" pitchFamily="34" charset="-122"/>
                <a:cs typeface="Carlito" pitchFamily="34" charset="-120"/>
              </a:rPr>
              <a:t>Citation precision · dose leaks</a:t>
            </a:r>
            <a:endParaRPr lang="en-US" sz="1400" dirty="0"/>
          </a:p>
        </p:txBody>
      </p:sp>
      <p:sp>
        <p:nvSpPr>
          <p:cNvPr id="30" name="Shape 20"/>
          <p:cNvSpPr/>
          <p:nvPr/>
        </p:nvSpPr>
        <p:spPr>
          <a:xfrm>
            <a:off x="6880000" y="3580000"/>
            <a:ext cx="4700000" cy="1030000"/>
          </a:xfrm>
          <a:prstGeom prst="rect">
            <a:avLst/>
          </a:prstGeom>
          <a:solidFill>
            <a:srgbClr val="E9EEF6"/>
          </a:solidFill>
          <a:ln/>
        </p:spPr>
      </p:sp>
      <p:sp>
        <p:nvSpPr>
          <p:cNvPr id="31" name="Text 21"/>
          <p:cNvSpPr/>
          <p:nvPr/>
        </p:nvSpPr>
        <p:spPr>
          <a:xfrm>
            <a:off x="7057767" y="3705760"/>
            <a:ext cx="4344466" cy="388582"/>
          </a:xfrm>
          <a:prstGeom prst="rect">
            <a:avLst/>
          </a:prstGeom>
          <a:noFill/>
          <a:ln/>
        </p:spPr>
        <p:txBody>
          <a:bodyPr wrap="square" lIns="0" tIns="0" rIns="0" bIns="0" rtlCol="0" anchor="t"/>
          <a:lstStyle/>
          <a:p>
            <a:pPr algn="l" indent="0" marL="0">
              <a:lnSpc>
                <a:spcPts val="2860"/>
              </a:lnSpc>
              <a:buNone/>
            </a:pPr>
            <a:r>
              <a:rPr lang="en-US" sz="2600" b="1" dirty="0">
                <a:solidFill>
                  <a:srgbClr val="002060"/>
                </a:solidFill>
                <a:latin typeface="Carlito" pitchFamily="34" charset="0"/>
                <a:ea typeface="Carlito" pitchFamily="34" charset="-122"/>
                <a:cs typeface="Carlito" pitchFamily="34" charset="-120"/>
              </a:rPr>
              <a:t>0.800</a:t>
            </a:r>
            <a:endParaRPr lang="en-US" sz="2600" dirty="0"/>
          </a:p>
        </p:txBody>
      </p:sp>
      <p:sp>
        <p:nvSpPr>
          <p:cNvPr id="32" name="Text 22"/>
          <p:cNvSpPr/>
          <p:nvPr/>
        </p:nvSpPr>
        <p:spPr>
          <a:xfrm>
            <a:off x="7057767" y="4094325"/>
            <a:ext cx="4344466" cy="274315"/>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Carlito" pitchFamily="34" charset="0"/>
                <a:ea typeface="Carlito" pitchFamily="34" charset="-122"/>
                <a:cs typeface="Carlito" pitchFamily="34" charset="-120"/>
              </a:rPr>
              <a:t>Abstention when not covered (target 0.9)</a:t>
            </a:r>
            <a:endParaRPr lang="en-US" sz="1400" dirty="0"/>
          </a:p>
        </p:txBody>
      </p:sp>
      <p:sp>
        <p:nvSpPr>
          <p:cNvPr id="30" name="Shape 20"/>
          <p:cNvSpPr/>
          <p:nvPr/>
        </p:nvSpPr>
        <p:spPr>
          <a:xfrm>
            <a:off x="6880000" y="4720000"/>
            <a:ext cx="4700000" cy="1030000"/>
          </a:xfrm>
          <a:prstGeom prst="rect">
            <a:avLst/>
          </a:prstGeom>
          <a:solidFill>
            <a:srgbClr val="E9EEF6"/>
          </a:solidFill>
          <a:ln/>
        </p:spPr>
      </p:sp>
      <p:sp>
        <p:nvSpPr>
          <p:cNvPr id="31" name="Text 21"/>
          <p:cNvSpPr/>
          <p:nvPr/>
        </p:nvSpPr>
        <p:spPr>
          <a:xfrm>
            <a:off x="7057767" y="4845760"/>
            <a:ext cx="4344466" cy="388582"/>
          </a:xfrm>
          <a:prstGeom prst="rect">
            <a:avLst/>
          </a:prstGeom>
          <a:noFill/>
          <a:ln/>
        </p:spPr>
        <p:txBody>
          <a:bodyPr wrap="square" lIns="0" tIns="0" rIns="0" bIns="0" rtlCol="0" anchor="t"/>
          <a:lstStyle/>
          <a:p>
            <a:pPr algn="l" indent="0" marL="0">
              <a:lnSpc>
                <a:spcPts val="2860"/>
              </a:lnSpc>
              <a:buNone/>
            </a:pPr>
            <a:r>
              <a:rPr lang="en-US" sz="2600" b="1" dirty="0">
                <a:solidFill>
                  <a:srgbClr val="002060"/>
                </a:solidFill>
                <a:latin typeface="Carlito" pitchFamily="34" charset="0"/>
                <a:ea typeface="Carlito" pitchFamily="34" charset="-122"/>
                <a:cs typeface="Carlito" pitchFamily="34" charset="-120"/>
              </a:rPr>
              <a:t>0.978</a:t>
            </a:r>
            <a:endParaRPr lang="en-US" sz="2600" dirty="0"/>
          </a:p>
        </p:txBody>
      </p:sp>
      <p:sp>
        <p:nvSpPr>
          <p:cNvPr id="32" name="Text 22"/>
          <p:cNvSpPr/>
          <p:nvPr/>
        </p:nvSpPr>
        <p:spPr>
          <a:xfrm>
            <a:off x="7057767" y="5234325"/>
            <a:ext cx="4344466" cy="274315"/>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Carlito" pitchFamily="34" charset="0"/>
                <a:ea typeface="Carlito" pitchFamily="34" charset="-122"/>
                <a:cs typeface="Carlito" pitchFamily="34" charset="-120"/>
              </a:rPr>
              <a:t>Answerable questions answered</a:t>
            </a:r>
            <a:endParaRPr lang="en-US" sz="1400" dirty="0"/>
          </a:p>
        </p:txBody>
      </p:sp>
      <p:sp>
        <p:nvSpPr>
          <p:cNvPr id="6" name="Text 1"/>
          <p:cNvSpPr/>
          <p:nvPr/>
        </p:nvSpPr>
        <p:spPr>
          <a:xfrm>
            <a:off x="444982" y="5950000"/>
            <a:ext cx="11302035" cy="300000"/>
          </a:xfrm>
          <a:prstGeom prst="rect">
            <a:avLst/>
          </a:prstGeom>
          <a:noFill/>
          <a:ln/>
        </p:spPr>
        <p:txBody>
          <a:bodyPr wrap="square" lIns="0" tIns="0" rIns="0" bIns="0" rtlCol="0" anchor="t"/>
          <a:lstStyle/>
          <a:p>
            <a:pPr algn="ctr" indent="0" marL="0">
              <a:lnSpc>
                <a:spcPts val="1820"/>
              </a:lnSpc>
              <a:buNone/>
            </a:pPr>
            <a:r>
              <a:rPr lang="en-US" sz="1200" i="1" dirty="0">
                <a:solidFill>
                  <a:srgbClr val="595959"/>
                </a:solidFill>
                <a:latin typeface="Carlito" pitchFamily="34" charset="0"/>
                <a:ea typeface="Carlito" pitchFamily="34" charset="-122"/>
                <a:cs typeface="Carlito" pitchFamily="34" charset="-120"/>
              </a:rPr>
              <a:t>60 test questions (45 answerable, 10 out of scope, 5 dose) · results/rag_eval_summary.csv · 20 questions await a doctor’s review</a:t>
            </a:r>
            <a:endParaRPr lang="en-US" sz="13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Progress – About 64% of the Whole Project</a:t>
            </a:r>
            <a:endParaRPr lang="en-US" sz="3200" dirty="0"/>
          </a:p>
        </p:txBody>
      </p:sp>
      <p:pic>
        <p:nvPicPr>
          <p:cNvPr id="3" name="Picture 2" descr="image.png"/>
          <p:cNvPicPr>
            <a:picLocks noChangeAspect="1"/>
          </p:cNvPicPr>
          <p:nvPr/>
        </p:nvPicPr>
        <p:blipFill>
          <a:blip r:embed="rId2"/>
          <a:stretch>
            <a:fillRect/>
          </a:stretch>
        </p:blipFill>
        <p:spPr>
          <a:xfrm>
            <a:off x="609575" y="1054075"/>
            <a:ext cx="10972767" cy="63500"/>
          </a:xfrm>
          <a:prstGeom prst="rect">
            <a:avLst/>
          </a:prstGeom>
        </p:spPr>
      </p:pic>
      <p:pic>
        <p:nvPicPr>
          <p:cNvPr id="4" name="Picture 3" descr="image.png"/>
          <p:cNvPicPr>
            <a:picLocks noChangeAspect="1"/>
          </p:cNvPicPr>
          <p:nvPr/>
        </p:nvPicPr>
        <p:blipFill>
          <a:blip r:embed="rId3"/>
          <a:stretch>
            <a:fillRect/>
          </a:stretch>
        </p:blipFill>
        <p:spPr>
          <a:xfrm>
            <a:off x="10795000" y="101575"/>
            <a:ext cx="889000" cy="85725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0159" y="1300000"/>
          <a:ext cx="10962266" cy="4160000"/>
        </p:xfrm>
        <a:graphic>
          <a:graphicData uri="http://schemas.openxmlformats.org/drawingml/2006/table">
            <a:tbl>
              <a:tblPr/>
              <a:tblGrid>
                <a:gridCol w="4700000"/>
                <a:gridCol w="1000000"/>
                <a:gridCol w="1000000"/>
                <a:gridCol w="4262266"/>
              </a:tblGrid>
              <a:tr h="520000">
                <a:tc>
                  <a:txBody>
                    <a:bodyPr/>
                    <a:lstStyle/>
                    <a:p>
                      <a:pPr indent="0" marL="0">
                        <a:lnSpc>
                          <a:spcPts val="1960"/>
                        </a:lnSpc>
                        <a:buNone/>
                      </a:pPr>
                      <a:r>
                        <a:rPr lang="en-US" sz="1300" b="1" dirty="0">
                          <a:solidFill>
                            <a:srgbClr val="FFFFFF"/>
                          </a:solidFill>
                          <a:latin typeface="Carlito" pitchFamily="34" charset="0"/>
                          <a:ea typeface="Carlito" pitchFamily="34" charset="-122"/>
                          <a:cs typeface="Carlito" pitchFamily="34" charset="-120"/>
                        </a:rPr>
                        <a:t>Part</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960"/>
                        </a:lnSpc>
                        <a:buNone/>
                      </a:pPr>
                      <a:r>
                        <a:rPr lang="en-US" sz="1300" b="1" dirty="0">
                          <a:solidFill>
                            <a:srgbClr val="FFFFFF"/>
                          </a:solidFill>
                          <a:latin typeface="Carlito" pitchFamily="34" charset="0"/>
                          <a:ea typeface="Carlito" pitchFamily="34" charset="-122"/>
                          <a:cs typeface="Carlito" pitchFamily="34" charset="-120"/>
                        </a:rPr>
                        <a:t>Share</a:t>
                      </a:r>
                      <a:endParaRPr lang="en-US" sz="1300" dirty="0">
                        <a:latin typeface="Carlito" charset="0"/>
                        <a:ea typeface="Carlito" charset="0"/>
                        <a:cs typeface="Carlito" charset="0"/>
                      </a:endParaRPr>
                    </a:p>
                  </a:txBody>
                  <a:tcPr marL="62230" marR="62230" marT="62230" marB="62230"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960"/>
                        </a:lnSpc>
                        <a:buNone/>
                      </a:pPr>
                      <a:r>
                        <a:rPr lang="en-US" sz="1300" b="1" dirty="0">
                          <a:solidFill>
                            <a:srgbClr val="FFFFFF"/>
                          </a:solidFill>
                          <a:latin typeface="Carlito" pitchFamily="34" charset="0"/>
                          <a:ea typeface="Carlito" pitchFamily="34" charset="-122"/>
                          <a:cs typeface="Carlito" pitchFamily="34" charset="-120"/>
                        </a:rPr>
                        <a:t>Done</a:t>
                      </a:r>
                      <a:endParaRPr lang="en-US" sz="1300" dirty="0">
                        <a:latin typeface="Carlito" charset="0"/>
                        <a:ea typeface="Carlito" charset="0"/>
                        <a:cs typeface="Carlito" charset="0"/>
                      </a:endParaRPr>
                    </a:p>
                  </a:txBody>
                  <a:tcPr marL="62230" marR="62230" marT="62230" marB="62230"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960"/>
                        </a:lnSpc>
                        <a:buNone/>
                      </a:pPr>
                      <a:r>
                        <a:rPr lang="en-US" sz="1300" b="1" dirty="0">
                          <a:solidFill>
                            <a:srgbClr val="FFFFFF"/>
                          </a:solidFill>
                          <a:latin typeface="Carlito" pitchFamily="34" charset="0"/>
                          <a:ea typeface="Carlito" pitchFamily="34" charset="-122"/>
                          <a:cs typeface="Carlito" pitchFamily="34" charset="-120"/>
                        </a:rPr>
                        <a:t>Evidence</a:t>
                      </a:r>
                      <a:endParaRPr lang="en-US" sz="1300" dirty="0">
                        <a:latin typeface="Carlito" charset="0"/>
                        <a:ea typeface="Carlito" charset="0"/>
                        <a:cs typeface="Carlito" charset="0"/>
                      </a:endParaRPr>
                    </a:p>
                  </a:txBody>
                  <a:tcPr marL="62230" marR="62230" marT="62230" marB="62230"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r>
              <a:tr h="52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Chat app: UI, guards, sign-in, patient panel, guardrails, voice</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300" dirty="0">
                          <a:solidFill>
                            <a:srgbClr val="002060"/>
                          </a:solidFill>
                          <a:latin typeface="Carlito" pitchFamily="34" charset="0"/>
                          <a:ea typeface="Carlito" pitchFamily="34" charset="-122"/>
                          <a:cs typeface="Carlito" pitchFamily="34" charset="-120"/>
                        </a:rPr>
                        <a:t>20%</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~95%</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392 backend + 238 frontend tests</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2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Causal engine and benchmark</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algn="ctr" indent="0" marL="0">
                        <a:lnSpc>
                          <a:spcPts val="1960"/>
                        </a:lnSpc>
                        <a:buNone/>
                      </a:pPr>
                      <a:r>
                        <a:rPr lang="en-US" sz="1300" dirty="0">
                          <a:solidFill>
                            <a:srgbClr val="002060"/>
                          </a:solidFill>
                          <a:latin typeface="Carlito" pitchFamily="34" charset="0"/>
                          <a:ea typeface="Carlito" pitchFamily="34" charset="-122"/>
                          <a:cs typeface="Carlito" pitchFamily="34" charset="-120"/>
                        </a:rPr>
                        <a:t>25%</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~90%</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150 tests; 9 of 9 checks. Missing: real data</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52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RAG evidence search and explanations</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300" dirty="0">
                          <a:solidFill>
                            <a:srgbClr val="002060"/>
                          </a:solidFill>
                          <a:latin typeface="Carlito" pitchFamily="34" charset="0"/>
                          <a:ea typeface="Carlito" pitchFamily="34" charset="-122"/>
                          <a:cs typeface="Carlito" pitchFamily="34" charset="-120"/>
                        </a:rPr>
                        <a:t>20%</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~75%</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33 tests. Missing: embeddings, reranker</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2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Joining engine + RAG + LLM in the chat app</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algn="ctr" indent="0" marL="0">
                        <a:lnSpc>
                          <a:spcPts val="1960"/>
                        </a:lnSpc>
                        <a:buNone/>
                      </a:pPr>
                      <a:r>
                        <a:rPr lang="en-US" sz="1300" dirty="0">
                          <a:solidFill>
                            <a:srgbClr val="002060"/>
                          </a:solidFill>
                          <a:latin typeface="Carlito" pitchFamily="34" charset="0"/>
                          <a:ea typeface="Carlito" pitchFamily="34" charset="-122"/>
                          <a:cs typeface="Carlito" pitchFamily="34" charset="-120"/>
                        </a:rPr>
                        <a:t>15%</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~10%</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3 of 6 stages still skipped</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52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Clinician evaluation (25 cases, SUS)</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300" dirty="0">
                          <a:solidFill>
                            <a:srgbClr val="002060"/>
                          </a:solidFill>
                          <a:latin typeface="Carlito" pitchFamily="34" charset="0"/>
                          <a:ea typeface="Carlito" pitchFamily="34" charset="-122"/>
                          <a:cs typeface="Carlito" pitchFamily="34" charset="-120"/>
                        </a:rPr>
                        <a:t>10%</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~20%</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Pack ready; not yet run</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2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Report and IEEE paper</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algn="ctr" indent="0" marL="0">
                        <a:lnSpc>
                          <a:spcPts val="1960"/>
                        </a:lnSpc>
                        <a:buNone/>
                      </a:pPr>
                      <a:r>
                        <a:rPr lang="en-US" sz="1300" dirty="0">
                          <a:solidFill>
                            <a:srgbClr val="002060"/>
                          </a:solidFill>
                          <a:latin typeface="Carlito" pitchFamily="34" charset="0"/>
                          <a:ea typeface="Carlito" pitchFamily="34" charset="-122"/>
                          <a:cs typeface="Carlito" pitchFamily="34" charset="-120"/>
                        </a:rPr>
                        <a:t>10%</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~40%</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Mid-sem report done</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52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Total</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300" dirty="0">
                          <a:solidFill>
                            <a:srgbClr val="002060"/>
                          </a:solidFill>
                          <a:latin typeface="Carlito" pitchFamily="34" charset="0"/>
                          <a:ea typeface="Carlito" pitchFamily="34" charset="-122"/>
                          <a:cs typeface="Carlito" pitchFamily="34" charset="-120"/>
                        </a:rPr>
                        <a:t>100%</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 64%</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0.2×95 + 0.25×90 + 0.2×75 + 0.15×10 + 0.1×20 + 0.1×40</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1"/>
          <p:cNvSpPr/>
          <p:nvPr/>
        </p:nvSpPr>
        <p:spPr>
          <a:xfrm>
            <a:off x="444982" y="6050000"/>
            <a:ext cx="11302035" cy="256538"/>
          </a:xfrm>
          <a:prstGeom prst="rect">
            <a:avLst/>
          </a:prstGeom>
          <a:noFill/>
          <a:ln/>
        </p:spPr>
        <p:txBody>
          <a:bodyPr wrap="square" lIns="0" tIns="0" rIns="0" bIns="0" rtlCol="0" anchor="t"/>
          <a:lstStyle/>
          <a:p>
            <a:pPr algn="ctr" indent="0" marL="0">
              <a:lnSpc>
                <a:spcPts val="1820"/>
              </a:lnSpc>
              <a:buNone/>
            </a:pPr>
            <a:r>
              <a:rPr lang="en-US" sz="1200" i="1" dirty="0">
                <a:solidFill>
                  <a:srgbClr val="595959"/>
                </a:solidFill>
                <a:latin typeface="Carlito" pitchFamily="34" charset="0"/>
                <a:ea typeface="Carlito" pitchFamily="34" charset="-122"/>
                <a:cs typeface="Carlito" pitchFamily="34" charset="-120"/>
              </a:rPr>
              <a:t>Shares are the team’s estimate of each part of the whole year; each “done” points to tests or files in the repository.</a:t>
            </a:r>
            <a:endParaRPr lang="en-US" sz="13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Backup – Why Synthetic Data Is Valid</a:t>
            </a:r>
            <a:endParaRPr lang="en-US" sz="3200" dirty="0"/>
          </a:p>
        </p:txBody>
      </p:sp>
      <p:pic>
        <p:nvPicPr>
          <p:cNvPr id="3" name="Picture 2" descr="image.png"/>
          <p:cNvPicPr>
            <a:picLocks noChangeAspect="1"/>
          </p:cNvPicPr>
          <p:nvPr/>
        </p:nvPicPr>
        <p:blipFill>
          <a:blip r:embed="rId2"/>
          <a:stretch>
            <a:fillRect/>
          </a:stretch>
        </p:blipFill>
        <p:spPr>
          <a:xfrm>
            <a:off x="609575" y="1054075"/>
            <a:ext cx="10972767" cy="63500"/>
          </a:xfrm>
          <a:prstGeom prst="rect">
            <a:avLst/>
          </a:prstGeom>
        </p:spPr>
      </p:pic>
      <p:pic>
        <p:nvPicPr>
          <p:cNvPr id="4" name="Picture 3" descr="image.png"/>
          <p:cNvPicPr>
            <a:picLocks noChangeAspect="1"/>
          </p:cNvPicPr>
          <p:nvPr/>
        </p:nvPicPr>
        <p:blipFill>
          <a:blip r:embed="rId3"/>
          <a:stretch>
            <a:fillRect/>
          </a:stretch>
        </p:blipFill>
        <p:spPr>
          <a:xfrm>
            <a:off x="10795000" y="101575"/>
            <a:ext cx="889000" cy="857250"/>
          </a:xfrm>
          <a:prstGeom prst="rect">
            <a:avLst/>
          </a:prstGeom>
        </p:spPr>
      </p:pic>
      <p:pic>
        <p:nvPicPr>
          <p:cNvPr id="5" name="Picture 4" descr="02_synthetic_hidden_truth.png"/>
          <p:cNvPicPr>
            <a:picLocks noChangeAspect="1"/>
          </p:cNvPicPr>
          <p:nvPr/>
        </p:nvPicPr>
        <p:blipFill>
          <a:blip r:embed="rId4"/>
          <a:stretch>
            <a:fillRect/>
          </a:stretch>
        </p:blipFill>
        <p:spPr>
          <a:xfrm>
            <a:off x="1136462" y="1230000"/>
            <a:ext cx="9919075" cy="3000000"/>
          </a:xfrm>
          <a:prstGeom prst="rect">
            <a:avLst/>
          </a:prstGeom>
        </p:spPr>
      </p:pic>
      <p:sp>
        <p:nvSpPr>
          <p:cNvPr id="6" name="Text 1"/>
          <p:cNvSpPr/>
          <p:nvPr/>
        </p:nvSpPr>
        <p:spPr>
          <a:xfrm>
            <a:off x="620159" y="4400000"/>
            <a:ext cx="10962266" cy="360000"/>
          </a:xfrm>
          <a:prstGeom prst="rect">
            <a:avLst/>
          </a:prstGeom>
          <a:noFill/>
          <a:ln/>
        </p:spPr>
        <p:txBody>
          <a:bodyPr wrap="square" lIns="0" tIns="0" rIns="0" bIns="0" rtlCol="0" anchor="t"/>
          <a:lstStyle/>
          <a:p>
            <a:pPr algn="l" indent="0" marL="0">
              <a:lnSpc>
                <a:spcPts val="1820"/>
              </a:lnSpc>
              <a:buNone/>
            </a:pPr>
            <a:r>
              <a:rPr lang="en-US" sz="1400" i="0" dirty="0">
                <a:solidFill>
                  <a:srgbClr val="595959"/>
                </a:solidFill>
                <a:latin typeface="Carlito" pitchFamily="34" charset="0"/>
                <a:ea typeface="Carlito" pitchFamily="34" charset="-122"/>
                <a:cs typeface="Carlito" pitchFamily="34" charset="-120"/>
              </a:rPr>
              <a:t>•  Real records never show what would have happened on the other drug, so no real dataset can grade a causal method.</a:t>
            </a:r>
            <a:endParaRPr lang="en-US" sz="1300" dirty="0"/>
          </a:p>
        </p:txBody>
      </p:sp>
      <p:sp>
        <p:nvSpPr>
          <p:cNvPr id="6" name="Text 1"/>
          <p:cNvSpPr/>
          <p:nvPr/>
        </p:nvSpPr>
        <p:spPr>
          <a:xfrm>
            <a:off x="620159" y="4800000"/>
            <a:ext cx="10962266" cy="360000"/>
          </a:xfrm>
          <a:prstGeom prst="rect">
            <a:avLst/>
          </a:prstGeom>
          <a:noFill/>
          <a:ln/>
        </p:spPr>
        <p:txBody>
          <a:bodyPr wrap="square" lIns="0" tIns="0" rIns="0" bIns="0" rtlCol="0" anchor="t"/>
          <a:lstStyle/>
          <a:p>
            <a:pPr algn="l" indent="0" marL="0">
              <a:lnSpc>
                <a:spcPts val="1820"/>
              </a:lnSpc>
              <a:buNone/>
            </a:pPr>
            <a:r>
              <a:rPr lang="en-US" sz="1400" i="0" dirty="0">
                <a:solidFill>
                  <a:srgbClr val="595959"/>
                </a:solidFill>
                <a:latin typeface="Carlito" pitchFamily="34" charset="0"/>
                <a:ea typeface="Carlito" pitchFamily="34" charset="-122"/>
                <a:cs typeface="Carlito" pitchFamily="34" charset="-120"/>
              </a:rPr>
              <a:t>•  Synthetic data with a known truth is how causal methods are tested (ACIC challenges, IHDP benchmark).</a:t>
            </a:r>
            <a:endParaRPr lang="en-US" sz="1300" dirty="0"/>
          </a:p>
        </p:txBody>
      </p:sp>
      <p:sp>
        <p:nvSpPr>
          <p:cNvPr id="6" name="Text 1"/>
          <p:cNvSpPr/>
          <p:nvPr/>
        </p:nvSpPr>
        <p:spPr>
          <a:xfrm>
            <a:off x="620159" y="5200000"/>
            <a:ext cx="10962266" cy="360000"/>
          </a:xfrm>
          <a:prstGeom prst="rect">
            <a:avLst/>
          </a:prstGeom>
          <a:noFill/>
          <a:ln/>
        </p:spPr>
        <p:txBody>
          <a:bodyPr wrap="square" lIns="0" tIns="0" rIns="0" bIns="0" rtlCol="0" anchor="t"/>
          <a:lstStyle/>
          <a:p>
            <a:pPr algn="l" indent="0" marL="0">
              <a:lnSpc>
                <a:spcPts val="1820"/>
              </a:lnSpc>
              <a:buNone/>
            </a:pPr>
            <a:r>
              <a:rPr lang="en-US" sz="1400" i="0" dirty="0">
                <a:solidFill>
                  <a:srgbClr val="595959"/>
                </a:solidFill>
                <a:latin typeface="Carlito" pitchFamily="34" charset="0"/>
                <a:ea typeface="Carlito" pitchFamily="34" charset="-122"/>
                <a:cs typeface="Carlito" pitchFamily="34" charset="-120"/>
              </a:rPr>
              <a:t>•  Ours: truth −0.211; naive −0.370; AIPW −0.209 with 95% coverage; 9 of 9 refutation checks.</a:t>
            </a:r>
            <a:endParaRPr lang="en-US" sz="1300" dirty="0"/>
          </a:p>
        </p:txBody>
      </p:sp>
      <p:sp>
        <p:nvSpPr>
          <p:cNvPr id="6" name="Text 1"/>
          <p:cNvSpPr/>
          <p:nvPr/>
        </p:nvSpPr>
        <p:spPr>
          <a:xfrm>
            <a:off x="620159" y="5600000"/>
            <a:ext cx="10962266" cy="360000"/>
          </a:xfrm>
          <a:prstGeom prst="rect">
            <a:avLst/>
          </a:prstGeom>
          <a:noFill/>
          <a:ln/>
        </p:spPr>
        <p:txBody>
          <a:bodyPr wrap="square" lIns="0" tIns="0" rIns="0" bIns="0" rtlCol="0" anchor="t"/>
          <a:lstStyle/>
          <a:p>
            <a:pPr algn="l" indent="0" marL="0">
              <a:lnSpc>
                <a:spcPts val="1820"/>
              </a:lnSpc>
              <a:buNone/>
            </a:pPr>
            <a:r>
              <a:rPr lang="en-US" sz="1400" i="0" dirty="0">
                <a:solidFill>
                  <a:srgbClr val="595959"/>
                </a:solidFill>
                <a:latin typeface="Carlito" pitchFamily="34" charset="0"/>
                <a:ea typeface="Carlito" pitchFamily="34" charset="-122"/>
                <a:cs typeface="Carlito" pitchFamily="34" charset="-120"/>
              </a:rPr>
              <a:t>•  It proves the method, not the drug effects: 117 numbers = 9 cited, 15 assumed-directional, 93 team-set.</a:t>
            </a:r>
            <a:endParaRPr lang="en-US" sz="130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Backup – Real Indian Diabetes Datasets</a:t>
            </a:r>
            <a:endParaRPr lang="en-US" sz="3200" dirty="0"/>
          </a:p>
        </p:txBody>
      </p:sp>
      <p:pic>
        <p:nvPicPr>
          <p:cNvPr id="3" name="Picture 2" descr="image.png"/>
          <p:cNvPicPr>
            <a:picLocks noChangeAspect="1"/>
          </p:cNvPicPr>
          <p:nvPr/>
        </p:nvPicPr>
        <p:blipFill>
          <a:blip r:embed="rId2"/>
          <a:stretch>
            <a:fillRect/>
          </a:stretch>
        </p:blipFill>
        <p:spPr>
          <a:xfrm>
            <a:off x="609575" y="1054075"/>
            <a:ext cx="10972767" cy="63500"/>
          </a:xfrm>
          <a:prstGeom prst="rect">
            <a:avLst/>
          </a:prstGeom>
        </p:spPr>
      </p:pic>
      <p:pic>
        <p:nvPicPr>
          <p:cNvPr id="4" name="Picture 3" descr="image.png"/>
          <p:cNvPicPr>
            <a:picLocks noChangeAspect="1"/>
          </p:cNvPicPr>
          <p:nvPr/>
        </p:nvPicPr>
        <p:blipFill>
          <a:blip r:embed="rId3"/>
          <a:stretch>
            <a:fillRect/>
          </a:stretch>
        </p:blipFill>
        <p:spPr>
          <a:xfrm>
            <a:off x="10795000" y="101575"/>
            <a:ext cx="889000" cy="85725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0159" y="1300000"/>
          <a:ext cx="10962266" cy="3640000"/>
        </p:xfrm>
        <a:graphic>
          <a:graphicData uri="http://schemas.openxmlformats.org/drawingml/2006/table">
            <a:tbl>
              <a:tblPr/>
              <a:tblGrid>
                <a:gridCol w="2900000"/>
                <a:gridCol w="4300000"/>
                <a:gridCol w="1700000"/>
                <a:gridCol w="2062266"/>
              </a:tblGrid>
              <a:tr h="520000">
                <a:tc>
                  <a:txBody>
                    <a:bodyPr/>
                    <a:lstStyle/>
                    <a:p>
                      <a:pPr indent="0" marL="0">
                        <a:lnSpc>
                          <a:spcPts val="1960"/>
                        </a:lnSpc>
                        <a:buNone/>
                      </a:pPr>
                      <a:r>
                        <a:rPr lang="en-US" sz="1300" b="1" dirty="0">
                          <a:solidFill>
                            <a:srgbClr val="FFFFFF"/>
                          </a:solidFill>
                          <a:latin typeface="Carlito" pitchFamily="34" charset="0"/>
                          <a:ea typeface="Carlito" pitchFamily="34" charset="-122"/>
                          <a:cs typeface="Carlito" pitchFamily="34" charset="-120"/>
                        </a:rPr>
                        <a:t>Dataset</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960"/>
                        </a:lnSpc>
                        <a:buNone/>
                      </a:pPr>
                      <a:r>
                        <a:rPr lang="en-US" sz="1300" b="1" dirty="0">
                          <a:solidFill>
                            <a:srgbClr val="FFFFFF"/>
                          </a:solidFill>
                          <a:latin typeface="Carlito" pitchFamily="34" charset="0"/>
                          <a:ea typeface="Carlito" pitchFamily="34" charset="-122"/>
                          <a:cs typeface="Carlito" pitchFamily="34" charset="-120"/>
                        </a:rPr>
                        <a:t>What it has</a:t>
                      </a:r>
                      <a:endParaRPr lang="en-US" sz="1300" dirty="0">
                        <a:latin typeface="Carlito" charset="0"/>
                        <a:ea typeface="Carlito" charset="0"/>
                        <a:cs typeface="Carlito" charset="0"/>
                      </a:endParaRPr>
                    </a:p>
                  </a:txBody>
                  <a:tcPr marL="62230" marR="62230" marT="62230" marB="62230"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960"/>
                        </a:lnSpc>
                        <a:buNone/>
                      </a:pPr>
                      <a:r>
                        <a:rPr lang="en-US" sz="1300" b="1" dirty="0">
                          <a:solidFill>
                            <a:srgbClr val="FFFFFF"/>
                          </a:solidFill>
                          <a:latin typeface="Carlito" pitchFamily="34" charset="0"/>
                          <a:ea typeface="Carlito" pitchFamily="34" charset="-122"/>
                          <a:cs typeface="Carlito" pitchFamily="34" charset="-120"/>
                        </a:rPr>
                        <a:t>Drug + later HbA1c?</a:t>
                      </a:r>
                      <a:endParaRPr lang="en-US" sz="1300" dirty="0">
                        <a:latin typeface="Carlito" charset="0"/>
                        <a:ea typeface="Carlito" charset="0"/>
                        <a:cs typeface="Carlito" charset="0"/>
                      </a:endParaRPr>
                    </a:p>
                  </a:txBody>
                  <a:tcPr marL="62230" marR="62230" marT="62230" marB="62230"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c>
                  <a:txBody>
                    <a:bodyPr/>
                    <a:lstStyle/>
                    <a:p>
                      <a:pPr indent="0" marL="0">
                        <a:lnSpc>
                          <a:spcPts val="1960"/>
                        </a:lnSpc>
                        <a:buNone/>
                      </a:pPr>
                      <a:r>
                        <a:rPr lang="en-US" sz="1300" b="1" dirty="0">
                          <a:solidFill>
                            <a:srgbClr val="FFFFFF"/>
                          </a:solidFill>
                          <a:latin typeface="Carlito" pitchFamily="34" charset="0"/>
                          <a:ea typeface="Carlito" pitchFamily="34" charset="-122"/>
                          <a:cs typeface="Carlito" pitchFamily="34" charset="-120"/>
                        </a:rPr>
                        <a:t>Access</a:t>
                      </a:r>
                      <a:endParaRPr lang="en-US" sz="1300" dirty="0">
                        <a:latin typeface="Carlito" charset="0"/>
                        <a:ea typeface="Carlito" charset="0"/>
                        <a:cs typeface="Carlito" charset="0"/>
                      </a:endParaRPr>
                    </a:p>
                  </a:txBody>
                  <a:tcPr marL="62230" marR="62230" marT="62230" marB="62230" anchor="t">
                    <a:lnL w="12700" cap="flat" cmpd="sng" algn="ctr">
                      <a:solidFill>
                        <a:srgbClr val="041D4F"/>
                      </a:solidFill>
                      <a:prstDash val="solid"/>
                      <a:round/>
                      <a:headEnd type="none" w="med" len="med"/>
                      <a:tailEnd type="none" w="med" len="med"/>
                    </a:lnL>
                    <a:lnR w="12700" cap="flat" cmpd="sng" algn="ctr">
                      <a:solidFill>
                        <a:srgbClr val="041D4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41D4F"/>
                      </a:solidFill>
                      <a:prstDash val="solid"/>
                      <a:round/>
                      <a:headEnd type="none" w="med" len="med"/>
                      <a:tailEnd type="none" w="med" len="med"/>
                    </a:lnB>
                    <a:solidFill>
                      <a:srgbClr val="002060"/>
                    </a:solidFill>
                  </a:tcPr>
                </a:tc>
              </a:tr>
              <a:tr h="52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NMB-2017 (Nagarathna 2020)</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7,496 adults; HbA1c, BMI, waist, family history</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No</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Open, CC0 (in our repo)</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2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LASI Wave 1 (IIPS)</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~66,000 adults 45+; HbA1c from dried blood spot</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No</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Free request with ID</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52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NFHS-5 (2019–21)</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Blood glucose; on diabetes medicine or not</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No</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Registration (DHS Program)</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2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CARRS (Chennai, Delhi)</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12,271 adults, followed every 2 years</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No add-on drug</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Request to investigators</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r h="52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ICMR-INDIAB</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National prevalence (~113,000)</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No</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Published tables only</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41D4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20000">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Pune clinic study (2025)</a:t>
                      </a:r>
                      <a:endParaRPr lang="en-US" sz="13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18,950 T2D patients; HbA1c, medicines</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Partly</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c>
                  <a:txBody>
                    <a:bodyPr/>
                    <a:lstStyle/>
                    <a:p>
                      <a:pPr indent="0" marL="0">
                        <a:lnSpc>
                          <a:spcPts val="1960"/>
                        </a:lnSpc>
                        <a:buNone/>
                      </a:pPr>
                      <a:r>
                        <a:rPr lang="en-US" sz="1300" dirty="0">
                          <a:solidFill>
                            <a:srgbClr val="000000"/>
                          </a:solidFill>
                          <a:latin typeface="Carlito" pitchFamily="34" charset="0"/>
                          <a:ea typeface="Carlito" pitchFamily="34" charset="-122"/>
                          <a:cs typeface="Carlito" pitchFamily="34" charset="-120"/>
                        </a:rPr>
                        <a:t>On request to authors</a:t>
                      </a:r>
                      <a:endParaRPr lang="en-US" sz="1300" dirty="0">
                        <a:latin typeface="Carlito" charset="0"/>
                        <a:ea typeface="Carlito" charset="0"/>
                        <a:cs typeface="Carlito"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7"/>
                      </a:solidFill>
                      <a:prstDash val="solid"/>
                      <a:round/>
                      <a:headEnd type="none" w="med" len="med"/>
                      <a:tailEnd type="none" w="med" len="med"/>
                    </a:lnB>
                    <a:solidFill>
                      <a:srgbClr val="F4F6FA"/>
                    </a:solidFill>
                  </a:tcPr>
                </a:tc>
              </a:tr>
            </a:tbl>
          </a:graphicData>
        </a:graphic>
      </p:graphicFrame>
      <p:sp>
        <p:nvSpPr>
          <p:cNvPr id="6" name="Text 1"/>
          <p:cNvSpPr/>
          <p:nvPr/>
        </p:nvSpPr>
        <p:spPr>
          <a:xfrm>
            <a:off x="444982" y="5850000"/>
            <a:ext cx="11302035" cy="256538"/>
          </a:xfrm>
          <a:prstGeom prst="rect">
            <a:avLst/>
          </a:prstGeom>
          <a:noFill/>
          <a:ln/>
        </p:spPr>
        <p:txBody>
          <a:bodyPr wrap="square" lIns="0" tIns="0" rIns="0" bIns="0" rtlCol="0" anchor="t"/>
          <a:lstStyle/>
          <a:p>
            <a:pPr algn="ctr" indent="0" marL="0">
              <a:lnSpc>
                <a:spcPts val="1820"/>
              </a:lnSpc>
              <a:buNone/>
            </a:pPr>
            <a:r>
              <a:rPr lang="en-US" sz="1200" i="1" dirty="0">
                <a:solidFill>
                  <a:srgbClr val="595959"/>
                </a:solidFill>
                <a:latin typeface="Carlito" pitchFamily="34" charset="0"/>
                <a:ea typeface="Carlito" pitchFamily="34" charset="-122"/>
                <a:cs typeface="Carlito" pitchFamily="34" charset="-120"/>
              </a:rPr>
              <a:t>Pima is Native American (US) data, not Indian, and has no drug or outcome: not used. Checked 28 Sept 2026.</a:t>
            </a:r>
            <a:endParaRPr lang="en-US" sz="130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Backup – From Prototype to a Real Hospital</a:t>
            </a:r>
            <a:endParaRPr lang="en-US" sz="3200" dirty="0"/>
          </a:p>
        </p:txBody>
      </p:sp>
      <p:pic>
        <p:nvPicPr>
          <p:cNvPr id="3" name="Picture 2" descr="image.png"/>
          <p:cNvPicPr>
            <a:picLocks noChangeAspect="1"/>
          </p:cNvPicPr>
          <p:nvPr/>
        </p:nvPicPr>
        <p:blipFill>
          <a:blip r:embed="rId2"/>
          <a:stretch>
            <a:fillRect/>
          </a:stretch>
        </p:blipFill>
        <p:spPr>
          <a:xfrm>
            <a:off x="609575" y="1054075"/>
            <a:ext cx="10972767" cy="63500"/>
          </a:xfrm>
          <a:prstGeom prst="rect">
            <a:avLst/>
          </a:prstGeom>
        </p:spPr>
      </p:pic>
      <p:pic>
        <p:nvPicPr>
          <p:cNvPr id="4" name="Picture 3" descr="image.png"/>
          <p:cNvPicPr>
            <a:picLocks noChangeAspect="1"/>
          </p:cNvPicPr>
          <p:nvPr/>
        </p:nvPicPr>
        <p:blipFill>
          <a:blip r:embed="rId3"/>
          <a:stretch>
            <a:fillRect/>
          </a:stretch>
        </p:blipFill>
        <p:spPr>
          <a:xfrm>
            <a:off x="10795000" y="101575"/>
            <a:ext cx="889000" cy="857250"/>
          </a:xfrm>
          <a:prstGeom prst="rect">
            <a:avLst/>
          </a:prstGeom>
        </p:spPr>
      </p:pic>
      <p:sp>
        <p:nvSpPr>
          <p:cNvPr id="6" name="Text 1"/>
          <p:cNvSpPr/>
          <p:nvPr/>
        </p:nvSpPr>
        <p:spPr>
          <a:xfrm>
            <a:off x="620159" y="1350000"/>
            <a:ext cx="10962266" cy="620000"/>
          </a:xfrm>
          <a:prstGeom prst="rect">
            <a:avLst/>
          </a:prstGeom>
          <a:noFill/>
          <a:ln/>
        </p:spPr>
        <p:txBody>
          <a:bodyPr wrap="square" lIns="0" tIns="0" rIns="0" bIns="0" rtlCol="0" anchor="t"/>
          <a:lstStyle/>
          <a:p>
            <a:pPr algn="l" indent="0" marL="0">
              <a:lnSpc>
                <a:spcPts val="1820"/>
              </a:lnSpc>
              <a:buNone/>
            </a:pPr>
            <a:r>
              <a:rPr lang="en-US" sz="1600" i="0" dirty="0">
                <a:solidFill>
                  <a:srgbClr val="595959"/>
                </a:solidFill>
                <a:latin typeface="Carlito" pitchFamily="34" charset="0"/>
                <a:ea typeface="Carlito" pitchFamily="34" charset="-122"/>
                <a:cs typeface="Carlito" pitchFamily="34" charset="-120"/>
              </a:rPr>
              <a:t>1  Data: hospital records of metformin patients who started SGLT2i, DPP-4i or a sulfonylurea, with HbA1c 3–9 months later</a:t>
            </a:r>
            <a:endParaRPr lang="en-US" sz="1300" dirty="0"/>
          </a:p>
        </p:txBody>
      </p:sp>
      <p:sp>
        <p:nvSpPr>
          <p:cNvPr id="6" name="Text 1"/>
          <p:cNvSpPr/>
          <p:nvPr/>
        </p:nvSpPr>
        <p:spPr>
          <a:xfrm>
            <a:off x="620159" y="2070000"/>
            <a:ext cx="10962266" cy="620000"/>
          </a:xfrm>
          <a:prstGeom prst="rect">
            <a:avLst/>
          </a:prstGeom>
          <a:noFill/>
          <a:ln/>
        </p:spPr>
        <p:txBody>
          <a:bodyPr wrap="square" lIns="0" tIns="0" rIns="0" bIns="0" rtlCol="0" anchor="t"/>
          <a:lstStyle/>
          <a:p>
            <a:pPr algn="l" indent="0" marL="0">
              <a:lnSpc>
                <a:spcPts val="1820"/>
              </a:lnSpc>
              <a:buNone/>
            </a:pPr>
            <a:r>
              <a:rPr lang="en-US" sz="1600" i="0" dirty="0">
                <a:solidFill>
                  <a:srgbClr val="595959"/>
                </a:solidFill>
                <a:latin typeface="Carlito" pitchFamily="34" charset="0"/>
                <a:ea typeface="Carlito" pitchFamily="34" charset="-122"/>
                <a:cs typeface="Carlito" pitchFamily="34" charset="-120"/>
              </a:rPr>
              <a:t>2  Approvals: hospital ethics committee, de-identification, India’s DPDP Act 2023</a:t>
            </a:r>
            <a:endParaRPr lang="en-US" sz="1300" dirty="0"/>
          </a:p>
        </p:txBody>
      </p:sp>
      <p:sp>
        <p:nvSpPr>
          <p:cNvPr id="6" name="Text 1"/>
          <p:cNvSpPr/>
          <p:nvPr/>
        </p:nvSpPr>
        <p:spPr>
          <a:xfrm>
            <a:off x="620159" y="2790000"/>
            <a:ext cx="10962266" cy="620000"/>
          </a:xfrm>
          <a:prstGeom prst="rect">
            <a:avLst/>
          </a:prstGeom>
          <a:noFill/>
          <a:ln/>
        </p:spPr>
        <p:txBody>
          <a:bodyPr wrap="square" lIns="0" tIns="0" rIns="0" bIns="0" rtlCol="0" anchor="t"/>
          <a:lstStyle/>
          <a:p>
            <a:pPr algn="l" indent="0" marL="0">
              <a:lnSpc>
                <a:spcPts val="1820"/>
              </a:lnSpc>
              <a:buNone/>
            </a:pPr>
            <a:r>
              <a:rPr lang="en-US" sz="1600" i="0" dirty="0">
                <a:solidFill>
                  <a:srgbClr val="595959"/>
                </a:solidFill>
                <a:latin typeface="Carlito" pitchFamily="34" charset="0"/>
                <a:ea typeface="Carlito" pitchFamily="34" charset="-122"/>
                <a:cs typeface="Carlito" pitchFamily="34" charset="-120"/>
              </a:rPr>
              <a:t>3  Same code: the records have the same columns as our synthetic cohort, so nothing changes</a:t>
            </a:r>
            <a:endParaRPr lang="en-US" sz="1300" dirty="0"/>
          </a:p>
        </p:txBody>
      </p:sp>
      <p:sp>
        <p:nvSpPr>
          <p:cNvPr id="6" name="Text 1"/>
          <p:cNvSpPr/>
          <p:nvPr/>
        </p:nvSpPr>
        <p:spPr>
          <a:xfrm>
            <a:off x="620159" y="3510000"/>
            <a:ext cx="10962266" cy="620000"/>
          </a:xfrm>
          <a:prstGeom prst="rect">
            <a:avLst/>
          </a:prstGeom>
          <a:noFill/>
          <a:ln/>
        </p:spPr>
        <p:txBody>
          <a:bodyPr wrap="square" lIns="0" tIns="0" rIns="0" bIns="0" rtlCol="0" anchor="t"/>
          <a:lstStyle/>
          <a:p>
            <a:pPr algn="l" indent="0" marL="0">
              <a:lnSpc>
                <a:spcPts val="1820"/>
              </a:lnSpc>
              <a:buNone/>
            </a:pPr>
            <a:r>
              <a:rPr lang="en-US" sz="1600" i="0" dirty="0">
                <a:solidFill>
                  <a:srgbClr val="595959"/>
                </a:solidFill>
                <a:latin typeface="Carlito" pitchFamily="34" charset="0"/>
                <a:ea typeface="Carlito" pitchFamily="34" charset="-122"/>
                <a:cs typeface="Carlito" pitchFamily="34" charset="-120"/>
              </a:rPr>
              <a:t>4  Checks without a known truth: overlap rule, refutation tests, E-values, agreement with trial results</a:t>
            </a:r>
            <a:endParaRPr lang="en-US" sz="1300" dirty="0"/>
          </a:p>
        </p:txBody>
      </p:sp>
      <p:sp>
        <p:nvSpPr>
          <p:cNvPr id="6" name="Text 1"/>
          <p:cNvSpPr/>
          <p:nvPr/>
        </p:nvSpPr>
        <p:spPr>
          <a:xfrm>
            <a:off x="620159" y="4230000"/>
            <a:ext cx="10962266" cy="620000"/>
          </a:xfrm>
          <a:prstGeom prst="rect">
            <a:avLst/>
          </a:prstGeom>
          <a:noFill/>
          <a:ln/>
        </p:spPr>
        <p:txBody>
          <a:bodyPr wrap="square" lIns="0" tIns="0" rIns="0" bIns="0" rtlCol="0" anchor="t"/>
          <a:lstStyle/>
          <a:p>
            <a:pPr algn="l" indent="0" marL="0">
              <a:lnSpc>
                <a:spcPts val="1820"/>
              </a:lnSpc>
              <a:buNone/>
            </a:pPr>
            <a:r>
              <a:rPr lang="en-US" sz="1600" i="0" dirty="0">
                <a:solidFill>
                  <a:srgbClr val="595959"/>
                </a:solidFill>
                <a:latin typeface="Carlito" pitchFamily="34" charset="0"/>
                <a:ea typeface="Carlito" pitchFamily="34" charset="-122"/>
                <a:cs typeface="Carlito" pitchFamily="34" charset="-120"/>
              </a:rPr>
              <a:t>5  Silent pilot: doctors see the suggestion but decide as usual; later a CDSCO medical-device review</a:t>
            </a:r>
            <a:endParaRPr lang="en-US" sz="1300" dirty="0"/>
          </a:p>
        </p:txBody>
      </p:sp>
      <p:sp>
        <p:nvSpPr>
          <p:cNvPr id="6" name="Text 1"/>
          <p:cNvSpPr/>
          <p:nvPr/>
        </p:nvSpPr>
        <p:spPr>
          <a:xfrm>
            <a:off x="444982" y="5100000"/>
            <a:ext cx="11302035" cy="256538"/>
          </a:xfrm>
          <a:prstGeom prst="rect">
            <a:avLst/>
          </a:prstGeom>
          <a:noFill/>
          <a:ln/>
        </p:spPr>
        <p:txBody>
          <a:bodyPr wrap="square" lIns="0" tIns="0" rIns="0" bIns="0" rtlCol="0" anchor="t"/>
          <a:lstStyle/>
          <a:p>
            <a:pPr algn="ctr" indent="0" marL="0">
              <a:lnSpc>
                <a:spcPts val="1820"/>
              </a:lnSpc>
              <a:buNone/>
            </a:pPr>
            <a:r>
              <a:rPr lang="en-US" sz="1500" i="1" dirty="0">
                <a:solidFill>
                  <a:srgbClr val="595959"/>
                </a:solidFill>
                <a:latin typeface="Carlito" pitchFamily="34" charset="0"/>
                <a:ea typeface="Carlito" pitchFamily="34" charset="-122"/>
                <a:cs typeface="Carlito" pitchFamily="34" charset="-120"/>
              </a:rPr>
              <a:t>“We proved the method where the truth is known; next, the same code on ethically approved hospital records.”</a:t>
            </a:r>
            <a:endParaRPr lang="en-US" sz="130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44984" y="330188"/>
            <a:ext cx="11301950" cy="492720"/>
          </a:xfrm>
          <a:prstGeom prst="rect">
            <a:avLst/>
          </a:prstGeom>
          <a:noFill/>
          <a:ln/>
        </p:spPr>
        <p:txBody>
          <a:bodyPr wrap="square" lIns="0" tIns="0" rIns="0" bIns="0" rtlCol="0" anchor="t">
            <a:normAutofit/>
          </a:bodyPr>
          <a:lstStyle/>
          <a:p>
            <a:pPr algn="ctr" indent="0" marL="0">
              <a:lnSpc>
                <a:spcPts val="3680"/>
              </a:lnSpc>
              <a:buNone/>
            </a:pPr>
            <a:r>
              <a:rPr lang="en-US" sz="3200" dirty="0">
                <a:solidFill>
                  <a:srgbClr val="002060"/>
                </a:solidFill>
                <a:latin typeface="Times New Roman" pitchFamily="34" charset="0"/>
                <a:ea typeface="Times New Roman" pitchFamily="34" charset="-122"/>
                <a:cs typeface="Times New Roman" pitchFamily="34" charset="-120"/>
              </a:rPr>
              <a:t>Backup – Phone Screens</a:t>
            </a:r>
            <a:endParaRPr lang="en-US" sz="3200" dirty="0"/>
          </a:p>
        </p:txBody>
      </p:sp>
      <p:pic>
        <p:nvPicPr>
          <p:cNvPr id="3" name="Picture 2" descr="image.png"/>
          <p:cNvPicPr>
            <a:picLocks noChangeAspect="1"/>
          </p:cNvPicPr>
          <p:nvPr/>
        </p:nvPicPr>
        <p:blipFill>
          <a:blip r:embed="rId2"/>
          <a:stretch>
            <a:fillRect/>
          </a:stretch>
        </p:blipFill>
        <p:spPr>
          <a:xfrm>
            <a:off x="609575" y="1054075"/>
            <a:ext cx="10972767" cy="63500"/>
          </a:xfrm>
          <a:prstGeom prst="rect">
            <a:avLst/>
          </a:prstGeom>
        </p:spPr>
      </p:pic>
      <p:pic>
        <p:nvPicPr>
          <p:cNvPr id="4" name="Picture 3" descr="image.png"/>
          <p:cNvPicPr>
            <a:picLocks noChangeAspect="1"/>
          </p:cNvPicPr>
          <p:nvPr/>
        </p:nvPicPr>
        <p:blipFill>
          <a:blip r:embed="rId3"/>
          <a:stretch>
            <a:fillRect/>
          </a:stretch>
        </p:blipFill>
        <p:spPr>
          <a:xfrm>
            <a:off x="10795000" y="101575"/>
            <a:ext cx="889000" cy="857250"/>
          </a:xfrm>
          <a:prstGeom prst="rect">
            <a:avLst/>
          </a:prstGeom>
        </p:spPr>
      </p:pic>
      <p:pic>
        <p:nvPicPr>
          <p:cNvPr id="5" name="Picture 4" descr="03_try_typical_patient_phone.png"/>
          <p:cNvPicPr>
            <a:picLocks noChangeAspect="1"/>
          </p:cNvPicPr>
          <p:nvPr/>
        </p:nvPicPr>
        <p:blipFill>
          <a:blip r:embed="rId4"/>
          <a:stretch>
            <a:fillRect/>
          </a:stretch>
        </p:blipFill>
        <p:spPr>
          <a:xfrm>
            <a:off x="671000" y="1250000"/>
            <a:ext cx="2049999" cy="4442014"/>
          </a:xfrm>
          <a:prstGeom prst="rect">
            <a:avLst/>
          </a:prstGeom>
          <a:ln w="9525">
            <a:solidFill>
              <a:srgbClr val="C3C4C7"/>
            </a:solidFill>
          </a:ln>
        </p:spPr>
      </p:pic>
      <p:sp>
        <p:nvSpPr>
          <p:cNvPr id="6" name="Text 1"/>
          <p:cNvSpPr/>
          <p:nvPr/>
        </p:nvSpPr>
        <p:spPr>
          <a:xfrm>
            <a:off x="671000" y="5722014"/>
            <a:ext cx="2050000" cy="256538"/>
          </a:xfrm>
          <a:prstGeom prst="rect">
            <a:avLst/>
          </a:prstGeom>
          <a:noFill/>
          <a:ln/>
        </p:spPr>
        <p:txBody>
          <a:bodyPr wrap="square" lIns="0" tIns="0" rIns="0" bIns="0" rtlCol="0" anchor="t"/>
          <a:lstStyle/>
          <a:p>
            <a:pPr algn="ctr" indent="0" marL="0">
              <a:lnSpc>
                <a:spcPts val="1820"/>
              </a:lnSpc>
              <a:buNone/>
            </a:pPr>
            <a:r>
              <a:rPr lang="en-US" sz="1200" i="0" dirty="0">
                <a:solidFill>
                  <a:srgbClr val="595959"/>
                </a:solidFill>
                <a:latin typeface="Carlito" pitchFamily="34" charset="0"/>
                <a:ea typeface="Carlito" pitchFamily="34" charset="-122"/>
                <a:cs typeface="Carlito" pitchFamily="34" charset="-120"/>
              </a:rPr>
              <a:t>Try it</a:t>
            </a:r>
            <a:endParaRPr lang="en-US" sz="1300" dirty="0"/>
          </a:p>
        </p:txBody>
      </p:sp>
      <p:pic>
        <p:nvPicPr>
          <p:cNvPr id="7" name="Picture 6" descr="08_evidence_explanation_phone.png"/>
          <p:cNvPicPr>
            <a:picLocks noChangeAspect="1"/>
          </p:cNvPicPr>
          <p:nvPr/>
        </p:nvPicPr>
        <p:blipFill>
          <a:blip r:embed="rId5"/>
          <a:stretch>
            <a:fillRect/>
          </a:stretch>
        </p:blipFill>
        <p:spPr>
          <a:xfrm>
            <a:off x="2871000" y="1250000"/>
            <a:ext cx="2049999" cy="4442014"/>
          </a:xfrm>
          <a:prstGeom prst="rect">
            <a:avLst/>
          </a:prstGeom>
          <a:ln w="9525">
            <a:solidFill>
              <a:srgbClr val="C3C4C7"/>
            </a:solidFill>
          </a:ln>
        </p:spPr>
      </p:pic>
      <p:sp>
        <p:nvSpPr>
          <p:cNvPr id="6" name="Text 1"/>
          <p:cNvSpPr/>
          <p:nvPr/>
        </p:nvSpPr>
        <p:spPr>
          <a:xfrm>
            <a:off x="2871000" y="5722014"/>
            <a:ext cx="2050000" cy="256538"/>
          </a:xfrm>
          <a:prstGeom prst="rect">
            <a:avLst/>
          </a:prstGeom>
          <a:noFill/>
          <a:ln/>
        </p:spPr>
        <p:txBody>
          <a:bodyPr wrap="square" lIns="0" tIns="0" rIns="0" bIns="0" rtlCol="0" anchor="t"/>
          <a:lstStyle/>
          <a:p>
            <a:pPr algn="ctr" indent="0" marL="0">
              <a:lnSpc>
                <a:spcPts val="1820"/>
              </a:lnSpc>
              <a:buNone/>
            </a:pPr>
            <a:r>
              <a:rPr lang="en-US" sz="1200" i="0" dirty="0">
                <a:solidFill>
                  <a:srgbClr val="595959"/>
                </a:solidFill>
                <a:latin typeface="Carlito" pitchFamily="34" charset="0"/>
                <a:ea typeface="Carlito" pitchFamily="34" charset="-122"/>
                <a:cs typeface="Carlito" pitchFamily="34" charset="-120"/>
              </a:rPr>
              <a:t>Evidence</a:t>
            </a:r>
            <a:endParaRPr lang="en-US" sz="1300" dirty="0"/>
          </a:p>
        </p:txBody>
      </p:sp>
      <p:pic>
        <p:nvPicPr>
          <p:cNvPr id="8" name="Picture 7" descr="11_results_phone.png"/>
          <p:cNvPicPr>
            <a:picLocks noChangeAspect="1"/>
          </p:cNvPicPr>
          <p:nvPr/>
        </p:nvPicPr>
        <p:blipFill>
          <a:blip r:embed="rId6"/>
          <a:stretch>
            <a:fillRect/>
          </a:stretch>
        </p:blipFill>
        <p:spPr>
          <a:xfrm>
            <a:off x="5071000" y="1250000"/>
            <a:ext cx="2049999" cy="4442014"/>
          </a:xfrm>
          <a:prstGeom prst="rect">
            <a:avLst/>
          </a:prstGeom>
          <a:ln w="9525">
            <a:solidFill>
              <a:srgbClr val="C3C4C7"/>
            </a:solidFill>
          </a:ln>
        </p:spPr>
      </p:pic>
      <p:sp>
        <p:nvSpPr>
          <p:cNvPr id="6" name="Text 1"/>
          <p:cNvSpPr/>
          <p:nvPr/>
        </p:nvSpPr>
        <p:spPr>
          <a:xfrm>
            <a:off x="5071000" y="5722014"/>
            <a:ext cx="2050000" cy="256538"/>
          </a:xfrm>
          <a:prstGeom prst="rect">
            <a:avLst/>
          </a:prstGeom>
          <a:noFill/>
          <a:ln/>
        </p:spPr>
        <p:txBody>
          <a:bodyPr wrap="square" lIns="0" tIns="0" rIns="0" bIns="0" rtlCol="0" anchor="t"/>
          <a:lstStyle/>
          <a:p>
            <a:pPr algn="ctr" indent="0" marL="0">
              <a:lnSpc>
                <a:spcPts val="1820"/>
              </a:lnSpc>
              <a:buNone/>
            </a:pPr>
            <a:r>
              <a:rPr lang="en-US" sz="1200" i="0" dirty="0">
                <a:solidFill>
                  <a:srgbClr val="595959"/>
                </a:solidFill>
                <a:latin typeface="Carlito" pitchFamily="34" charset="0"/>
                <a:ea typeface="Carlito" pitchFamily="34" charset="-122"/>
                <a:cs typeface="Carlito" pitchFamily="34" charset="-120"/>
              </a:rPr>
              <a:t>Results</a:t>
            </a:r>
            <a:endParaRPr lang="en-US" sz="1300" dirty="0"/>
          </a:p>
        </p:txBody>
      </p:sp>
      <p:pic>
        <p:nvPicPr>
          <p:cNvPr id="9" name="Picture 8" descr="04_patient_panel_phone.png"/>
          <p:cNvPicPr>
            <a:picLocks noChangeAspect="1"/>
          </p:cNvPicPr>
          <p:nvPr/>
        </p:nvPicPr>
        <p:blipFill>
          <a:blip r:embed="rId7"/>
          <a:stretch>
            <a:fillRect/>
          </a:stretch>
        </p:blipFill>
        <p:spPr>
          <a:xfrm>
            <a:off x="7271000" y="1250000"/>
            <a:ext cx="2049999" cy="4442014"/>
          </a:xfrm>
          <a:prstGeom prst="rect">
            <a:avLst/>
          </a:prstGeom>
          <a:ln w="9525">
            <a:solidFill>
              <a:srgbClr val="C3C4C7"/>
            </a:solidFill>
          </a:ln>
        </p:spPr>
      </p:pic>
      <p:sp>
        <p:nvSpPr>
          <p:cNvPr id="6" name="Text 1"/>
          <p:cNvSpPr/>
          <p:nvPr/>
        </p:nvSpPr>
        <p:spPr>
          <a:xfrm>
            <a:off x="7271000" y="5722014"/>
            <a:ext cx="2050000" cy="256538"/>
          </a:xfrm>
          <a:prstGeom prst="rect">
            <a:avLst/>
          </a:prstGeom>
          <a:noFill/>
          <a:ln/>
        </p:spPr>
        <p:txBody>
          <a:bodyPr wrap="square" lIns="0" tIns="0" rIns="0" bIns="0" rtlCol="0" anchor="t"/>
          <a:lstStyle/>
          <a:p>
            <a:pPr algn="ctr" indent="0" marL="0">
              <a:lnSpc>
                <a:spcPts val="1820"/>
              </a:lnSpc>
              <a:buNone/>
            </a:pPr>
            <a:r>
              <a:rPr lang="en-US" sz="1200" i="0" dirty="0">
                <a:solidFill>
                  <a:srgbClr val="595959"/>
                </a:solidFill>
                <a:latin typeface="Carlito" pitchFamily="34" charset="0"/>
                <a:ea typeface="Carlito" pitchFamily="34" charset="-122"/>
                <a:cs typeface="Carlito" pitchFamily="34" charset="-120"/>
              </a:rPr>
              <a:t>Chat: patient panel</a:t>
            </a:r>
            <a:endParaRPr lang="en-US" sz="1300" dirty="0"/>
          </a:p>
        </p:txBody>
      </p:sp>
      <p:pic>
        <p:nvPicPr>
          <p:cNvPr id="10" name="Picture 9" descr="05_chat_reply_phone.png"/>
          <p:cNvPicPr>
            <a:picLocks noChangeAspect="1"/>
          </p:cNvPicPr>
          <p:nvPr/>
        </p:nvPicPr>
        <p:blipFill>
          <a:blip r:embed="rId8"/>
          <a:stretch>
            <a:fillRect/>
          </a:stretch>
        </p:blipFill>
        <p:spPr>
          <a:xfrm>
            <a:off x="9471000" y="1250000"/>
            <a:ext cx="2049999" cy="4442014"/>
          </a:xfrm>
          <a:prstGeom prst="rect">
            <a:avLst/>
          </a:prstGeom>
          <a:ln w="9525">
            <a:solidFill>
              <a:srgbClr val="C3C4C7"/>
            </a:solidFill>
          </a:ln>
        </p:spPr>
      </p:pic>
      <p:sp>
        <p:nvSpPr>
          <p:cNvPr id="6" name="Text 1"/>
          <p:cNvSpPr/>
          <p:nvPr/>
        </p:nvSpPr>
        <p:spPr>
          <a:xfrm>
            <a:off x="9471000" y="5722014"/>
            <a:ext cx="2050000" cy="256538"/>
          </a:xfrm>
          <a:prstGeom prst="rect">
            <a:avLst/>
          </a:prstGeom>
          <a:noFill/>
          <a:ln/>
        </p:spPr>
        <p:txBody>
          <a:bodyPr wrap="square" lIns="0" tIns="0" rIns="0" bIns="0" rtlCol="0" anchor="t"/>
          <a:lstStyle/>
          <a:p>
            <a:pPr algn="ctr" indent="0" marL="0">
              <a:lnSpc>
                <a:spcPts val="1820"/>
              </a:lnSpc>
              <a:buNone/>
            </a:pPr>
            <a:r>
              <a:rPr lang="en-US" sz="1200" i="0" dirty="0">
                <a:solidFill>
                  <a:srgbClr val="595959"/>
                </a:solidFill>
                <a:latin typeface="Carlito" pitchFamily="34" charset="0"/>
                <a:ea typeface="Carlito" pitchFamily="34" charset="-122"/>
                <a:cs typeface="Carlito" pitchFamily="34" charset="-120"/>
              </a:rPr>
              <a:t>Chat: reply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Diabetes Clinical Decision Support System</dc:title>
  <dc:subject>PptxGenJS Presentation</dc:subject>
  <dc:creator>PptxGenJS</dc:creator>
  <cp:lastModifiedBy>PptxGenJS</cp:lastModifiedBy>
  <cp:revision>1</cp:revision>
  <dcterms:created xsi:type="dcterms:W3CDTF">2026-09-27T17:39:13Z</dcterms:created>
  <dcterms:modified xsi:type="dcterms:W3CDTF">2026-09-27T17:39:13Z</dcterms:modified>
</cp:coreProperties>
</file>